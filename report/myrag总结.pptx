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73" r:id="rId5"/>
    <p:sldId id="258" r:id="rId6"/>
    <p:sldId id="260" r:id="rId7"/>
    <p:sldId id="274" r:id="rId8"/>
    <p:sldId id="276" r:id="rId9"/>
    <p:sldId id="277" r:id="rId10"/>
    <p:sldId id="262" r:id="rId11"/>
    <p:sldId id="263" r:id="rId12"/>
    <p:sldId id="270" r:id="rId13"/>
    <p:sldId id="259" r:id="rId14"/>
    <p:sldId id="271" r:id="rId15"/>
    <p:sldId id="264" r:id="rId16"/>
    <p:sldId id="272" r:id="rId17"/>
    <p:sldId id="261" r:id="rId18"/>
    <p:sldId id="278" r:id="rId19"/>
    <p:sldId id="279" r:id="rId20"/>
    <p:sldId id="268" r:id="rId21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13" d="100"/>
          <a:sy n="113" d="100"/>
        </p:scale>
        <p:origin x="47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4" Type="http://schemas.openxmlformats.org/officeDocument/2006/relationships/tableStyles" Target="tableStyles.xml"/><Relationship Id="rId23" Type="http://schemas.openxmlformats.org/officeDocument/2006/relationships/viewProps" Target="viewProps.xml"/><Relationship Id="rId22" Type="http://schemas.openxmlformats.org/officeDocument/2006/relationships/presProps" Target="presProps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buNone/>
              <a:defRPr sz="60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单击以编辑母版副标题样式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rPr/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rPr/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buNone/>
              <a:defRPr sz="60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buNone/>
            </a:pPr>
            <a:r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rPr/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idx="2" hasCustomPrompt="1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rPr/>
            </a:fld>
            <a:endParaRPr/>
          </a:p>
        </p:txBody>
      </p:sp>
      <p:sp>
        <p:nvSpPr>
          <p:cNvPr id="6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idx="2" hasCustomPrompt="1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idx="3" hasCustomPrompt="1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4" hasCustomPrompt="1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rPr/>
            </a:fld>
            <a:endParaRPr/>
          </a:p>
        </p:txBody>
      </p:sp>
      <p:sp>
        <p:nvSpPr>
          <p:cNvPr id="8" name="页脚占位符 7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9" name="灯片编号占位符 8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rPr/>
            </a:fld>
            <a:endParaRPr/>
          </a:p>
        </p:txBody>
      </p:sp>
      <p:sp>
        <p:nvSpPr>
          <p:cNvPr id="4" name="页脚占位符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5" name="灯片编号占位符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rPr/>
            </a:fld>
            <a:endParaRPr/>
          </a:p>
        </p:txBody>
      </p:sp>
      <p:sp>
        <p:nvSpPr>
          <p:cNvPr id="3" name="页脚占位符 2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4" name="灯片编号占位符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>
              <a:buNone/>
            </a:pPr>
            <a:r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rPr/>
            </a:fld>
            <a:endParaRPr/>
          </a:p>
        </p:txBody>
      </p:sp>
      <p:sp>
        <p:nvSpPr>
          <p:cNvPr id="6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/>
        </p:txBody>
      </p:sp>
      <p:sp>
        <p:nvSpPr>
          <p:cNvPr id="4" name="文本占位符 3"/>
          <p:cNvSpPr>
            <a:spLocks noGrp="1"/>
          </p:cNvSpPr>
          <p:nvPr>
            <p:ph type="body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>
              <a:buNone/>
            </a:pPr>
            <a:r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rPr/>
            </a:fld>
            <a:endParaRPr/>
          </a:p>
        </p:txBody>
      </p:sp>
      <p:sp>
        <p:nvSpPr>
          <p:cNvPr id="6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idx="1" hasCustomPrompt="1"/>
          </p:nvPr>
        </p:nvSpPr>
        <p:spPr/>
        <p:txBody>
          <a:bodyPr vert="eaVert"/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rPr/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idx="1" hasCustomPrompt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rPr/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rPr/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53A8F1-9EDF-49EF-A14D-E495AD864F8A}" type="datetimeFigureOut">
              <a:rPr/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A13857-8FE2-426A-A37B-64DF65062EF2}" type="slidenum">
              <a:rPr/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3.xml"/><Relationship Id="rId7" Type="http://schemas.openxmlformats.org/officeDocument/2006/relationships/slideLayout" Target="../slideLayouts/slideLayout2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>
            <a:spLocks noGrp="1"/>
          </p:cNvSpPr>
          <p:nvPr/>
        </p:nvSpPr>
        <p:spPr>
          <a:xfrm>
            <a:off x="0" y="1322656"/>
            <a:ext cx="12192000" cy="4212688"/>
          </a:xfrm>
          <a:prstGeom prst="rect">
            <a:avLst/>
          </a:prstGeom>
          <a:solidFill>
            <a:srgbClr val="253A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6" name="文本框 5"/>
          <p:cNvSpPr>
            <a:spLocks noGrp="1"/>
          </p:cNvSpPr>
          <p:nvPr/>
        </p:nvSpPr>
        <p:spPr>
          <a:xfrm>
            <a:off x="3744435" y="1739250"/>
            <a:ext cx="59045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altLang="zh-CN" sz="4400" dirty="0" err="1">
                <a:solidFill>
                  <a:schemeClr val="bg1"/>
                </a:solidFill>
                <a:latin typeface="字魂17号-萌趣果冻体"/>
                <a:ea typeface="字魂17号-萌趣果冻体"/>
                <a:cs typeface="字魂17号-萌趣果冻体"/>
              </a:rPr>
              <a:t>Myrag</a:t>
            </a:r>
            <a:r>
              <a:rPr lang="zh-CN" altLang="en-US" sz="4400" dirty="0">
                <a:solidFill>
                  <a:schemeClr val="bg1"/>
                </a:solidFill>
                <a:latin typeface="字魂17号-萌趣果冻体"/>
                <a:ea typeface="字魂17号-萌趣果冻体"/>
                <a:cs typeface="字魂17号-萌趣果冻体"/>
              </a:rPr>
              <a:t>总结</a:t>
            </a:r>
            <a:endParaRPr lang="zh-CN" altLang="en-US" sz="4400" dirty="0">
              <a:solidFill>
                <a:schemeClr val="bg1"/>
              </a:solidFill>
              <a:latin typeface="字魂17号-萌趣果冻体"/>
              <a:ea typeface="字魂17号-萌趣果冻体"/>
              <a:cs typeface="字魂17号-萌趣果冻体"/>
            </a:endParaRPr>
          </a:p>
        </p:txBody>
      </p:sp>
      <p:sp>
        <p:nvSpPr>
          <p:cNvPr id="7" name="文本框 6"/>
          <p:cNvSpPr>
            <a:spLocks noGrp="1"/>
          </p:cNvSpPr>
          <p:nvPr/>
        </p:nvSpPr>
        <p:spPr>
          <a:xfrm>
            <a:off x="2845308" y="2607167"/>
            <a:ext cx="6683077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zh-CN" altLang="en-US" sz="6000" dirty="0">
                <a:solidFill>
                  <a:schemeClr val="bg1"/>
                </a:solidFill>
              </a:rPr>
              <a:t>检索增强生成成员贡献总结</a:t>
            </a:r>
            <a:endParaRPr sz="6000" dirty="0">
              <a:solidFill>
                <a:schemeClr val="bg1"/>
              </a:solidFill>
            </a:endParaRPr>
          </a:p>
        </p:txBody>
      </p:sp>
      <p:sp>
        <p:nvSpPr>
          <p:cNvPr id="10" name="椭圆 9"/>
          <p:cNvSpPr>
            <a:spLocks noGrp="1"/>
          </p:cNvSpPr>
          <p:nvPr/>
        </p:nvSpPr>
        <p:spPr>
          <a:xfrm>
            <a:off x="249709" y="3223401"/>
            <a:ext cx="449489" cy="44948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13" name="等腰三角形 12"/>
          <p:cNvSpPr>
            <a:spLocks noGrp="1"/>
          </p:cNvSpPr>
          <p:nvPr/>
        </p:nvSpPr>
        <p:spPr>
          <a:xfrm rot="16200000">
            <a:off x="345362" y="3365602"/>
            <a:ext cx="191501" cy="165087"/>
          </a:xfrm>
          <a:prstGeom prst="triangle">
            <a:avLst/>
          </a:prstGeom>
          <a:solidFill>
            <a:srgbClr val="2B1D5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16" name="椭圆 15"/>
          <p:cNvSpPr>
            <a:spLocks noGrp="1"/>
          </p:cNvSpPr>
          <p:nvPr/>
        </p:nvSpPr>
        <p:spPr>
          <a:xfrm flipH="1">
            <a:off x="10993393" y="3185111"/>
            <a:ext cx="449489" cy="44948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17" name="等腰三角形 16"/>
          <p:cNvSpPr>
            <a:spLocks noGrp="1"/>
          </p:cNvSpPr>
          <p:nvPr/>
        </p:nvSpPr>
        <p:spPr>
          <a:xfrm rot="16200000" flipH="1">
            <a:off x="11039843" y="3342387"/>
            <a:ext cx="191501" cy="165087"/>
          </a:xfrm>
          <a:prstGeom prst="triangle">
            <a:avLst/>
          </a:prstGeom>
          <a:solidFill>
            <a:srgbClr val="2B1D5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19" name="椭圆 18"/>
          <p:cNvSpPr>
            <a:spLocks noGrp="1"/>
          </p:cNvSpPr>
          <p:nvPr/>
        </p:nvSpPr>
        <p:spPr>
          <a:xfrm>
            <a:off x="4018164" y="1584250"/>
            <a:ext cx="1066959" cy="1015303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pic>
        <p:nvPicPr>
          <p:cNvPr id="20" name="图片 1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75964" y="1418612"/>
            <a:ext cx="1364080" cy="1346778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2845308" y="4772967"/>
            <a:ext cx="70020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chemeClr val="bg1"/>
                </a:solidFill>
              </a:rPr>
              <a:t>小组成员：李嘉轩 刘义群 王秀崧 汤语涵 谢羿衡 唐熙雷 邢泽雷</a:t>
            </a:r>
            <a:endParaRPr lang="zh-CN" altLang="en-US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>
            <a:spLocks noGrp="1"/>
          </p:cNvSpPr>
          <p:nvPr/>
        </p:nvSpPr>
        <p:spPr>
          <a:xfrm>
            <a:off x="2614979" y="2321005"/>
            <a:ext cx="2604077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3800" b="0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 panose="020B0604020202020204"/>
                <a:ea typeface="华文中宋" panose="02010600040101010101" charset="-122"/>
                <a:cs typeface="+mn-cs"/>
              </a:rPr>
              <a:t>01</a:t>
            </a:r>
            <a:endParaRPr kumimoji="0" sz="13800" b="0" i="0" u="none" strike="noStrike" kern="1200" cap="none" spc="0" normalizeH="0" baseline="0" noProof="0" dirty="0">
              <a:ln>
                <a:noFill/>
              </a:ln>
              <a:solidFill>
                <a:srgbClr val="F5F4F9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5571876" y="2630302"/>
            <a:ext cx="3576620" cy="110799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6600" b="1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 panose="020B0604020202020204"/>
                <a:ea typeface="华文中宋" panose="02010600040101010101" charset="-122"/>
                <a:cs typeface="+mn-cs"/>
              </a:rPr>
              <a:t>组内评分</a:t>
            </a:r>
            <a:endParaRPr kumimoji="0" sz="6600" b="1" i="0" u="none" strike="noStrike" kern="1200" cap="none" spc="0" normalizeH="0" baseline="0" noProof="0" dirty="0">
              <a:ln>
                <a:noFill/>
              </a:ln>
              <a:solidFill>
                <a:srgbClr val="F5F4F9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>
            <a:spLocks noGrp="1"/>
          </p:cNvSpPr>
          <p:nvPr/>
        </p:nvSpPr>
        <p:spPr>
          <a:xfrm>
            <a:off x="2614979" y="2321005"/>
            <a:ext cx="2604077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13800" dirty="0">
                <a:solidFill>
                  <a:srgbClr val="F5F4F9"/>
                </a:solidFill>
              </a:rPr>
              <a:t>0</a:t>
            </a:r>
            <a:r>
              <a:rPr lang="en-US" sz="13800" dirty="0">
                <a:solidFill>
                  <a:srgbClr val="F5F4F9"/>
                </a:solidFill>
              </a:rPr>
              <a:t>2</a:t>
            </a:r>
            <a:endParaRPr sz="13800" dirty="0">
              <a:solidFill>
                <a:srgbClr val="F5F4F9"/>
              </a:solidFill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5995868" y="2630302"/>
            <a:ext cx="2728632" cy="110799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buNone/>
            </a:pPr>
            <a:r>
              <a:rPr lang="zh-CN" altLang="en-US" sz="6600" b="1" dirty="0">
                <a:solidFill>
                  <a:srgbClr val="F5F4F9"/>
                </a:solidFill>
              </a:rPr>
              <a:t>王秀崧</a:t>
            </a:r>
            <a:endParaRPr sz="6600" b="1" dirty="0">
              <a:solidFill>
                <a:srgbClr val="F5F4F9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550" b="1" dirty="0">
                <a:solidFill>
                  <a:srgbClr val="2D4A33"/>
                </a:solidFill>
              </a:rPr>
              <a:t>王秀崧</a:t>
            </a:r>
            <a:endParaRPr sz="2550" b="1" dirty="0">
              <a:solidFill>
                <a:srgbClr val="2D4A33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2000250" y="1476375"/>
            <a:ext cx="4762500" cy="16192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2228850" y="1647825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lang="zh-CN" altLang="en-US" sz="1650" b="1" dirty="0">
                <a:solidFill>
                  <a:srgbClr val="2D4A33"/>
                </a:solidFill>
              </a:rPr>
              <a:t>调试</a:t>
            </a:r>
            <a:endParaRPr sz="1650" b="1" dirty="0">
              <a:solidFill>
                <a:srgbClr val="2D4A33"/>
              </a:solidFill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2228850" y="2085975"/>
            <a:ext cx="4305300" cy="857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 dirty="0">
                <a:solidFill>
                  <a:srgbClr val="1F2D22"/>
                </a:solidFill>
              </a:rPr>
              <a:t>整理并配置环境，生成</a:t>
            </a:r>
            <a:r>
              <a:rPr lang="en-US" altLang="zh-CN" sz="1350" b="0" dirty="0">
                <a:solidFill>
                  <a:srgbClr val="1F2D22"/>
                </a:solidFill>
              </a:rPr>
              <a:t>requirements</a:t>
            </a:r>
            <a:r>
              <a:rPr lang="zh-CN" altLang="en-US" sz="1350" b="0" dirty="0">
                <a:solidFill>
                  <a:srgbClr val="1F2D22"/>
                </a:solidFill>
              </a:rPr>
              <a:t>配置文件</a:t>
            </a:r>
            <a:endParaRPr lang="en-US" altLang="zh-CN" sz="1350" b="0" dirty="0">
              <a:solidFill>
                <a:srgbClr val="1F2D22"/>
              </a:solidFill>
            </a:endParaRPr>
          </a:p>
          <a:p>
            <a:pPr>
              <a:defRPr sz="1350" b="0">
                <a:solidFill>
                  <a:srgbClr val="1F2D22"/>
                </a:solidFill>
              </a:defRPr>
            </a:pPr>
            <a:r>
              <a:rPr lang="zh-CN" altLang="en-US" sz="1350" dirty="0">
                <a:solidFill>
                  <a:srgbClr val="1F2D22"/>
                </a:solidFill>
              </a:rPr>
              <a:t>部署本地嵌入模型</a:t>
            </a:r>
            <a:r>
              <a:rPr lang="zh-CN" altLang="zh-CN" sz="1350" dirty="0"/>
              <a:t>BAAI/bge-small-zh-v1.5</a:t>
            </a:r>
            <a:endParaRPr lang="en-US" altLang="zh-CN" sz="1350" dirty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dirty="0">
                <a:solidFill>
                  <a:srgbClr val="1F2D22"/>
                </a:solidFill>
              </a:rPr>
              <a:t>支持</a:t>
            </a:r>
            <a:r>
              <a:rPr lang="en-US" altLang="zh-CN" sz="1350" dirty="0" err="1">
                <a:solidFill>
                  <a:srgbClr val="1F2D22"/>
                </a:solidFill>
              </a:rPr>
              <a:t>deepseek</a:t>
            </a:r>
            <a:r>
              <a:rPr lang="zh-CN" altLang="en-US" sz="1350" dirty="0">
                <a:solidFill>
                  <a:srgbClr val="1F2D22"/>
                </a:solidFill>
              </a:rPr>
              <a:t>和</a:t>
            </a:r>
            <a:r>
              <a:rPr lang="en-US" altLang="zh-CN" sz="1350" dirty="0">
                <a:solidFill>
                  <a:srgbClr val="1F2D22"/>
                </a:solidFill>
              </a:rPr>
              <a:t>Qwen</a:t>
            </a:r>
            <a:r>
              <a:rPr lang="zh-CN" altLang="en-US" sz="1350" dirty="0">
                <a:solidFill>
                  <a:srgbClr val="1F2D22"/>
                </a:solidFill>
              </a:rPr>
              <a:t>的</a:t>
            </a:r>
            <a:r>
              <a:rPr lang="en-US" altLang="zh-CN" sz="1350" dirty="0">
                <a:solidFill>
                  <a:srgbClr val="1F2D22"/>
                </a:solidFill>
              </a:rPr>
              <a:t>API</a:t>
            </a:r>
            <a:endParaRPr lang="en-US" altLang="zh-CN" sz="1350" dirty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 dirty="0">
                <a:solidFill>
                  <a:srgbClr val="1F2D22"/>
                </a:solidFill>
              </a:rPr>
              <a:t>导入课程问答数据</a:t>
            </a:r>
            <a:endParaRPr sz="1350" b="0" dirty="0">
              <a:solidFill>
                <a:srgbClr val="1F2D22"/>
              </a:solidFill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2000250" y="3714750"/>
            <a:ext cx="8191500" cy="14287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2228850" y="3886200"/>
            <a:ext cx="7734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结果</a:t>
            </a:r>
            <a:endParaRPr sz="1650" b="1">
              <a:solidFill>
                <a:srgbClr val="2D4A33"/>
              </a:solidFill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2228850" y="4324350"/>
            <a:ext cx="773430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 dirty="0">
                <a:solidFill>
                  <a:srgbClr val="1F2D22"/>
                </a:solidFill>
              </a:rPr>
              <a:t>消除部署过程中的环境依赖问题项目，环境开箱即用</a:t>
            </a:r>
            <a:endParaRPr lang="en-US" altLang="zh-CN" sz="1350" b="0" dirty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dirty="0">
                <a:solidFill>
                  <a:srgbClr val="1F2D22"/>
                </a:solidFill>
              </a:rPr>
              <a:t>嵌入模型和大语言模型开箱即用</a:t>
            </a:r>
            <a:endParaRPr lang="en-US" altLang="zh-CN" sz="1350" dirty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endParaRPr sz="1350" b="0" dirty="0">
              <a:solidFill>
                <a:srgbClr val="1F2D22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550" b="1" dirty="0">
                <a:solidFill>
                  <a:srgbClr val="2D4A33"/>
                </a:solidFill>
              </a:rPr>
              <a:t>项目界面演示</a:t>
            </a:r>
            <a:endParaRPr sz="2550" b="1" dirty="0">
              <a:solidFill>
                <a:srgbClr val="2D4A33"/>
              </a:solidFill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9632" y="857250"/>
            <a:ext cx="10532736" cy="580541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550" b="1" dirty="0">
                <a:solidFill>
                  <a:srgbClr val="2D4A33"/>
                </a:solidFill>
              </a:rPr>
              <a:t>嵌入模型演示</a:t>
            </a:r>
            <a:endParaRPr sz="2550" b="1" dirty="0">
              <a:solidFill>
                <a:srgbClr val="2D4A33"/>
              </a:solidFill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0984" y="857250"/>
            <a:ext cx="10410032" cy="573778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550" b="1" dirty="0">
                <a:solidFill>
                  <a:srgbClr val="2D4A33"/>
                </a:solidFill>
              </a:rPr>
              <a:t>大模型生成演示</a:t>
            </a:r>
            <a:endParaRPr sz="2550" b="1" dirty="0">
              <a:solidFill>
                <a:srgbClr val="2D4A33"/>
              </a:solidFill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0582" y="857250"/>
            <a:ext cx="9550836" cy="526319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本框 10"/>
          <p:cNvSpPr>
            <a:spLocks noGrp="1"/>
          </p:cNvSpPr>
          <p:nvPr/>
        </p:nvSpPr>
        <p:spPr>
          <a:xfrm>
            <a:off x="2614979" y="2321005"/>
            <a:ext cx="2604077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13800" dirty="0">
                <a:solidFill>
                  <a:srgbClr val="F5F4F9"/>
                </a:solidFill>
              </a:rPr>
              <a:t>0</a:t>
            </a:r>
            <a:r>
              <a:rPr lang="en-US" sz="13800" dirty="0">
                <a:solidFill>
                  <a:srgbClr val="F5F4F9"/>
                </a:solidFill>
              </a:rPr>
              <a:t>3</a:t>
            </a:r>
            <a:endParaRPr sz="13800" dirty="0">
              <a:solidFill>
                <a:srgbClr val="F5F4F9"/>
              </a:solidFill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6331761" y="2685166"/>
            <a:ext cx="2262158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buNone/>
            </a:pPr>
            <a:r>
              <a:rPr lang="zh-CN" altLang="en-US" sz="5400" b="1" dirty="0">
                <a:solidFill>
                  <a:schemeClr val="bg1"/>
                </a:solidFill>
              </a:rPr>
              <a:t>刘义群</a:t>
            </a:r>
            <a:endParaRPr sz="54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550" b="1" dirty="0">
                <a:solidFill>
                  <a:srgbClr val="2D4A33"/>
                </a:solidFill>
              </a:rPr>
              <a:t>刘义群</a:t>
            </a:r>
            <a:endParaRPr sz="2550" b="1" dirty="0">
              <a:solidFill>
                <a:srgbClr val="2D4A33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857250" y="1619250"/>
            <a:ext cx="4762500" cy="18097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157605" y="1666875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页面</a:t>
            </a:r>
            <a:endParaRPr sz="1650" b="1">
              <a:solidFill>
                <a:srgbClr val="2D4A33"/>
              </a:solidFill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157605" y="2228850"/>
            <a:ext cx="4305300" cy="857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系统首页「数据概览」</a:t>
            </a:r>
            <a:r>
              <a:rPr lang="en-US" altLang="zh-CN" sz="1350" b="0">
                <a:solidFill>
                  <a:srgbClr val="1F2D22"/>
                </a:solidFill>
              </a:rPr>
              <a:t>Dashboard</a:t>
            </a:r>
            <a:endParaRPr lang="en-US" altLang="zh-CN" sz="1350" b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顶部：</a:t>
            </a:r>
            <a:r>
              <a:rPr lang="en-US" altLang="zh-CN" sz="1350" b="0">
                <a:solidFill>
                  <a:srgbClr val="1F2D22"/>
                </a:solidFill>
              </a:rPr>
              <a:t>5 </a:t>
            </a:r>
            <a:r>
              <a:rPr lang="zh-CN" altLang="en-US" sz="1350" b="0">
                <a:solidFill>
                  <a:srgbClr val="1F2D22"/>
                </a:solidFill>
              </a:rPr>
              <a:t>张统计卡片（已导入文档</a:t>
            </a:r>
            <a:r>
              <a:rPr lang="en-US" altLang="zh-CN" sz="1350" b="0">
                <a:solidFill>
                  <a:srgbClr val="1F2D22"/>
                </a:solidFill>
              </a:rPr>
              <a:t> / </a:t>
            </a:r>
            <a:r>
              <a:rPr lang="zh-CN" altLang="en-US" sz="1350" b="0">
                <a:solidFill>
                  <a:srgbClr val="1F2D22"/>
                </a:solidFill>
              </a:rPr>
              <a:t>已分块</a:t>
            </a:r>
            <a:r>
              <a:rPr lang="en-US" altLang="zh-CN" sz="1350" b="0">
                <a:solidFill>
                  <a:srgbClr val="1F2D22"/>
                </a:solidFill>
              </a:rPr>
              <a:t> / </a:t>
            </a:r>
            <a:r>
              <a:rPr lang="zh-CN" altLang="en-US" sz="1350" b="0">
                <a:solidFill>
                  <a:srgbClr val="1F2D22"/>
                </a:solidFill>
              </a:rPr>
              <a:t>已嵌入</a:t>
            </a:r>
            <a:r>
              <a:rPr lang="en-US" altLang="zh-CN" sz="1350" b="0">
                <a:solidFill>
                  <a:srgbClr val="1F2D22"/>
                </a:solidFill>
              </a:rPr>
              <a:t> / </a:t>
            </a:r>
            <a:r>
              <a:rPr lang="zh-CN" altLang="en-US" sz="1350" b="0">
                <a:solidFill>
                  <a:srgbClr val="1F2D22"/>
                </a:solidFill>
              </a:rPr>
              <a:t>向量库集合</a:t>
            </a:r>
            <a:r>
              <a:rPr lang="en-US" altLang="zh-CN" sz="1350" b="0">
                <a:solidFill>
                  <a:srgbClr val="1F2D22"/>
                </a:solidFill>
              </a:rPr>
              <a:t> / </a:t>
            </a:r>
            <a:r>
              <a:rPr lang="zh-CN" altLang="en-US" sz="1350" b="0">
                <a:solidFill>
                  <a:srgbClr val="1F2D22"/>
                </a:solidFill>
              </a:rPr>
              <a:t>检索记录）</a:t>
            </a:r>
            <a:endParaRPr lang="zh-CN" altLang="en-US" sz="1350" b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下方：文档列表区，含搜索筛选、单条删除、批量删除功能</a:t>
            </a:r>
            <a:endParaRPr lang="zh-CN" altLang="en-US" sz="1350" b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点击卡片切换视图，选中高亮，无路由跳转</a:t>
            </a:r>
            <a:endParaRPr sz="1350" b="0">
              <a:solidFill>
                <a:srgbClr val="1F2D22"/>
              </a:solidFill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6572250" y="1619250"/>
            <a:ext cx="4762500" cy="16192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6800850" y="1728470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流程</a:t>
            </a:r>
            <a:endParaRPr sz="1650" b="1">
              <a:solidFill>
                <a:srgbClr val="2D4A33"/>
              </a:solidFill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6758940" y="2052320"/>
            <a:ext cx="4671060" cy="107696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页面加载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en-US" altLang="en-US" sz="1350" b="0">
                <a:solidFill>
                  <a:srgbClr val="1F2D22"/>
                </a:solidFill>
              </a:rPr>
              <a:t>→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zh-CN" altLang="en-US" sz="1350" b="0">
                <a:solidFill>
                  <a:srgbClr val="1F2D22"/>
                </a:solidFill>
              </a:rPr>
              <a:t>并发请求</a:t>
            </a:r>
            <a:r>
              <a:rPr lang="en-US" altLang="zh-CN" sz="1350" b="0">
                <a:solidFill>
                  <a:srgbClr val="1F2D22"/>
                </a:solidFill>
              </a:rPr>
              <a:t> 5 </a:t>
            </a:r>
            <a:r>
              <a:rPr lang="zh-CN" altLang="en-US" sz="1350" b="0">
                <a:solidFill>
                  <a:srgbClr val="1F2D22"/>
                </a:solidFill>
              </a:rPr>
              <a:t>个</a:t>
            </a:r>
            <a:r>
              <a:rPr lang="en-US" altLang="zh-CN" sz="1350" b="0">
                <a:solidFill>
                  <a:srgbClr val="1F2D22"/>
                </a:solidFill>
              </a:rPr>
              <a:t>GET  API</a:t>
            </a:r>
            <a:endParaRPr lang="zh-CN" altLang="en-US" sz="1350" b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点击统计卡片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en-US" altLang="en-US" sz="1350" b="0">
                <a:solidFill>
                  <a:srgbClr val="1F2D22"/>
                </a:solidFill>
              </a:rPr>
              <a:t>→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zh-CN" altLang="en-US" sz="1350" b="0">
                <a:solidFill>
                  <a:srgbClr val="1F2D22"/>
                </a:solidFill>
              </a:rPr>
              <a:t>切换下方文档列表视图</a:t>
            </a:r>
            <a:endParaRPr lang="zh-CN" altLang="en-US" sz="1350" b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输入关键词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en-US" altLang="en-US" sz="1350" b="0">
                <a:solidFill>
                  <a:srgbClr val="1F2D22"/>
                </a:solidFill>
              </a:rPr>
              <a:t>→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zh-CN" altLang="en-US" sz="1350" b="0">
                <a:solidFill>
                  <a:srgbClr val="1F2D22"/>
                </a:solidFill>
              </a:rPr>
              <a:t>前端实时过滤列表</a:t>
            </a:r>
            <a:endParaRPr lang="zh-CN" altLang="en-US" sz="1350" b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删除的确认弹窗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en-US" altLang="en-US" sz="1350" b="0">
                <a:solidFill>
                  <a:srgbClr val="1F2D22"/>
                </a:solidFill>
              </a:rPr>
              <a:t>→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zh-CN" altLang="en-US" sz="1350" b="0">
                <a:solidFill>
                  <a:srgbClr val="1F2D22"/>
                </a:solidFill>
              </a:rPr>
              <a:t>调用</a:t>
            </a:r>
            <a:r>
              <a:rPr lang="en-US" altLang="zh-CN" sz="1350" b="0">
                <a:solidFill>
                  <a:srgbClr val="1F2D22"/>
                </a:solidFill>
              </a:rPr>
              <a:t> DELETE API </a:t>
            </a:r>
            <a:r>
              <a:rPr lang="en-US" altLang="en-US" sz="1350" b="0">
                <a:solidFill>
                  <a:srgbClr val="1F2D22"/>
                </a:solidFill>
              </a:rPr>
              <a:t>→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zh-CN" altLang="en-US" sz="1350" b="0">
                <a:solidFill>
                  <a:srgbClr val="1F2D22"/>
                </a:solidFill>
              </a:rPr>
              <a:t>刷新数据</a:t>
            </a:r>
            <a:endParaRPr lang="zh-CN" altLang="en-US" sz="1350" b="0">
              <a:solidFill>
                <a:srgbClr val="1F2D22"/>
              </a:solidFill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2000250" y="3714750"/>
            <a:ext cx="8191500" cy="199517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2228850" y="3886200"/>
            <a:ext cx="7734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结果</a:t>
            </a:r>
            <a:endParaRPr sz="1650" b="1">
              <a:solidFill>
                <a:srgbClr val="2D4A33"/>
              </a:solidFill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2228850" y="4324350"/>
            <a:ext cx="7734300" cy="91948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一站式查看</a:t>
            </a:r>
            <a:r>
              <a:rPr lang="en-US" altLang="zh-CN" sz="1350" b="0">
                <a:solidFill>
                  <a:srgbClr val="1F2D22"/>
                </a:solidFill>
              </a:rPr>
              <a:t> RAG </a:t>
            </a:r>
            <a:r>
              <a:rPr lang="zh-CN" altLang="en-US" sz="1350" b="0">
                <a:solidFill>
                  <a:srgbClr val="1F2D22"/>
                </a:solidFill>
              </a:rPr>
              <a:t>流水线各阶段数据状态</a:t>
            </a:r>
            <a:endParaRPr lang="zh-CN" altLang="en-US" sz="1350" b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支持知识库文档的搜索、单条</a:t>
            </a:r>
            <a:r>
              <a:rPr lang="en-US" altLang="zh-CN" sz="1350" b="0">
                <a:solidFill>
                  <a:srgbClr val="1F2D22"/>
                </a:solidFill>
              </a:rPr>
              <a:t>/</a:t>
            </a:r>
            <a:r>
              <a:rPr lang="zh-CN" altLang="en-US" sz="1350" b="0">
                <a:solidFill>
                  <a:srgbClr val="1F2D22"/>
                </a:solidFill>
              </a:rPr>
              <a:t>批量删除管理</a:t>
            </a:r>
            <a:endParaRPr lang="zh-CN" altLang="en-US" sz="1350" b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纯</a:t>
            </a:r>
            <a:r>
              <a:rPr lang="en-US" altLang="zh-CN" sz="1350" b="0">
                <a:solidFill>
                  <a:srgbClr val="1F2D22"/>
                </a:solidFill>
              </a:rPr>
              <a:t> Tailwind CSS </a:t>
            </a:r>
            <a:r>
              <a:rPr lang="zh-CN" altLang="en-US" sz="1350" b="0">
                <a:solidFill>
                  <a:srgbClr val="1F2D22"/>
                </a:solidFill>
              </a:rPr>
              <a:t>实现，零额外依赖，加载快速</a:t>
            </a:r>
            <a:endParaRPr lang="zh-CN" altLang="en-US" sz="1350" b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endParaRPr sz="1350" b="0">
              <a:solidFill>
                <a:srgbClr val="1F2D22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本框 10"/>
          <p:cNvSpPr>
            <a:spLocks noGrp="1"/>
          </p:cNvSpPr>
          <p:nvPr/>
        </p:nvSpPr>
        <p:spPr>
          <a:xfrm>
            <a:off x="2614979" y="2321005"/>
            <a:ext cx="2604077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3800" b="0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 panose="020B0604020202020204"/>
                <a:ea typeface="华文中宋" panose="02010600040101010101" charset="-122"/>
                <a:cs typeface="+mn-cs"/>
              </a:rPr>
              <a:t>0</a:t>
            </a:r>
            <a:r>
              <a:rPr lang="en-US" sz="13800" dirty="0">
                <a:solidFill>
                  <a:srgbClr val="F5F4F9"/>
                </a:solidFill>
                <a:latin typeface="Arial" panose="020B0604020202020204"/>
                <a:ea typeface="华文中宋" panose="02010600040101010101" charset="-122"/>
              </a:rPr>
              <a:t>4</a:t>
            </a:r>
            <a:endParaRPr kumimoji="0" sz="13800" b="0" i="0" u="none" strike="noStrike" kern="1200" cap="none" spc="0" normalizeH="0" baseline="0" noProof="0" dirty="0">
              <a:ln>
                <a:noFill/>
              </a:ln>
              <a:solidFill>
                <a:srgbClr val="F5F4F9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6331761" y="2685166"/>
            <a:ext cx="2262159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5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/>
                <a:ea typeface="华文中宋" panose="02010600040101010101" charset="-122"/>
                <a:cs typeface="+mn-cs"/>
              </a:rPr>
              <a:t>李嘉轩</a:t>
            </a:r>
            <a:endParaRPr kumimoji="0" sz="5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550" b="1" dirty="0">
                <a:solidFill>
                  <a:srgbClr val="2D4A33"/>
                </a:solidFill>
              </a:rPr>
              <a:t>李嘉轩</a:t>
            </a:r>
            <a:endParaRPr sz="2550" b="1" dirty="0">
              <a:solidFill>
                <a:srgbClr val="2D4A33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498600" y="1481665"/>
            <a:ext cx="9465733" cy="2057401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634067" y="1678782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lang="zh-CN" altLang="en-US" sz="3200" b="1" dirty="0">
                <a:solidFill>
                  <a:srgbClr val="2D4A33"/>
                </a:solidFill>
              </a:rPr>
              <a:t>文件解析</a:t>
            </a:r>
            <a:endParaRPr sz="3200" b="1" dirty="0">
              <a:solidFill>
                <a:srgbClr val="2D4A33"/>
              </a:solidFill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634067" y="2091531"/>
            <a:ext cx="9059333" cy="135863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新增了 </a:t>
            </a:r>
            <a:r>
              <a:rPr lang="en-US" altLang="zh-CN" sz="2000" dirty="0" err="1">
                <a:solidFill>
                  <a:srgbClr val="1F2D22"/>
                </a:solidFill>
                <a:latin typeface="ui-monospace"/>
              </a:rPr>
              <a:t>structured_blocks</a:t>
            </a:r>
            <a:r>
              <a:rPr lang="en-US" altLang="zh-CN" sz="2000" dirty="0">
                <a:solidFill>
                  <a:srgbClr val="1F2D22"/>
                </a:solidFill>
                <a:latin typeface="ui-monospace"/>
              </a:rPr>
              <a:t> 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解析模式，把论文 </a:t>
            </a:r>
            <a:r>
              <a:rPr lang="en-US" altLang="zh-CN" sz="2000" dirty="0">
                <a:solidFill>
                  <a:srgbClr val="1F2D22"/>
                </a:solidFill>
                <a:latin typeface="ui-monospace"/>
              </a:rPr>
              <a:t>PDF 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解析成统一 </a:t>
            </a:r>
            <a:r>
              <a:rPr lang="en-US" altLang="zh-CN" sz="2000" dirty="0">
                <a:solidFill>
                  <a:srgbClr val="1F2D22"/>
                </a:solidFill>
                <a:latin typeface="ui-monospace"/>
              </a:rPr>
              <a:t>block 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结构</a:t>
            </a:r>
            <a:endParaRPr lang="en-US" altLang="zh-CN" sz="2000" dirty="0">
              <a:solidFill>
                <a:srgbClr val="1F2D22"/>
              </a:solidFill>
              <a:latin typeface="ui-monospace"/>
            </a:endParaRPr>
          </a:p>
          <a:p>
            <a:pPr algn="l"/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基于 </a:t>
            </a:r>
            <a:r>
              <a:rPr lang="en-US" altLang="zh-CN" sz="2000" dirty="0" err="1">
                <a:solidFill>
                  <a:srgbClr val="1F2D22"/>
                </a:solidFill>
                <a:latin typeface="ui-monospace"/>
              </a:rPr>
              <a:t>PyMuPDF</a:t>
            </a:r>
            <a:r>
              <a:rPr lang="en-US" altLang="zh-CN" sz="2000" dirty="0">
                <a:solidFill>
                  <a:srgbClr val="1F2D22"/>
                </a:solidFill>
                <a:latin typeface="ui-monospace"/>
              </a:rPr>
              <a:t> 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提取版面块、字号、粗体、</a:t>
            </a:r>
            <a:r>
              <a:rPr lang="en-US" altLang="zh-CN" sz="2000" dirty="0" err="1">
                <a:solidFill>
                  <a:srgbClr val="1F2D22"/>
                </a:solidFill>
                <a:latin typeface="ui-monospace"/>
              </a:rPr>
              <a:t>bbox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、列信息</a:t>
            </a:r>
            <a:endParaRPr lang="zh-CN" altLang="en-US" sz="2000" dirty="0">
              <a:solidFill>
                <a:srgbClr val="1F2D22"/>
              </a:solidFill>
              <a:latin typeface="ui-monospace"/>
            </a:endParaRPr>
          </a:p>
          <a:p>
            <a:pPr>
              <a:defRPr sz="1350" b="0">
                <a:solidFill>
                  <a:srgbClr val="1F2D22"/>
                </a:solidFill>
              </a:defRPr>
            </a:pP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过滤重复页眉页脚噪声，精确分类为正确的</a:t>
            </a:r>
            <a:r>
              <a:rPr lang="en-US" altLang="zh-CN" sz="2000" dirty="0">
                <a:solidFill>
                  <a:srgbClr val="1F2D22"/>
                </a:solidFill>
                <a:latin typeface="ui-monospace"/>
              </a:rPr>
              <a:t>block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类别</a:t>
            </a:r>
            <a:endParaRPr lang="zh-CN" altLang="en-US" sz="2000" dirty="0">
              <a:solidFill>
                <a:srgbClr val="1F2D22"/>
              </a:solidFill>
              <a:latin typeface="ui-monospace"/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endParaRPr sz="1350" b="0" dirty="0">
              <a:solidFill>
                <a:srgbClr val="1F2D22"/>
              </a:solidFill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1498600" y="4171950"/>
            <a:ext cx="9465733" cy="16192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1634067" y="4362450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lang="zh-CN" altLang="en-US" sz="3200" b="1" dirty="0">
                <a:solidFill>
                  <a:srgbClr val="2D4A33"/>
                </a:solidFill>
              </a:rPr>
              <a:t>知识分块</a:t>
            </a:r>
            <a:endParaRPr sz="3200" b="1" dirty="0">
              <a:solidFill>
                <a:srgbClr val="2D4A33"/>
              </a:solidFill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1634067" y="4677833"/>
            <a:ext cx="9330266" cy="977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>
              <a:defRPr sz="1350" b="0">
                <a:solidFill>
                  <a:srgbClr val="1F2D22"/>
                </a:solidFill>
              </a:defRPr>
            </a:pP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按解析块分块：基本一个结构块生成一个 </a:t>
            </a:r>
            <a:r>
              <a:rPr lang="en-US" altLang="zh-CN" sz="2000" dirty="0">
                <a:solidFill>
                  <a:srgbClr val="1F2D22"/>
                </a:solidFill>
                <a:latin typeface="ui-monospace"/>
              </a:rPr>
              <a:t>chunk</a:t>
            </a:r>
            <a:endParaRPr lang="en-US" altLang="zh-CN" sz="2000" dirty="0">
              <a:solidFill>
                <a:srgbClr val="1F2D22"/>
              </a:solidFill>
              <a:latin typeface="ui-monospace"/>
            </a:endParaRPr>
          </a:p>
          <a:p>
            <a:pPr algn="l"/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按章节分块：先按 </a:t>
            </a:r>
            <a:r>
              <a:rPr lang="en-US" altLang="zh-CN" sz="2000" dirty="0" err="1">
                <a:solidFill>
                  <a:srgbClr val="1F2D22"/>
                </a:solidFill>
                <a:latin typeface="ui-monospace"/>
              </a:rPr>
              <a:t>section_path</a:t>
            </a:r>
            <a:r>
              <a:rPr lang="en-US" altLang="zh-CN" sz="2000" dirty="0">
                <a:solidFill>
                  <a:srgbClr val="1F2D22"/>
                </a:solidFill>
                <a:latin typeface="ui-monospace"/>
              </a:rPr>
              <a:t> 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聚合同章节 </a:t>
            </a:r>
            <a:r>
              <a:rPr lang="en-US" altLang="zh-CN" sz="2000" dirty="0">
                <a:solidFill>
                  <a:srgbClr val="1F2D22"/>
                </a:solidFill>
                <a:latin typeface="ui-monospace"/>
              </a:rPr>
              <a:t>block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，再按 </a:t>
            </a:r>
            <a:r>
              <a:rPr lang="en-US" altLang="zh-CN" sz="2000" dirty="0" err="1">
                <a:solidFill>
                  <a:srgbClr val="1F2D22"/>
                </a:solidFill>
                <a:latin typeface="ui-monospace"/>
              </a:rPr>
              <a:t>chunk_size</a:t>
            </a:r>
            <a:r>
              <a:rPr lang="en-US" altLang="zh-CN" sz="2000" dirty="0">
                <a:solidFill>
                  <a:srgbClr val="1F2D22"/>
                </a:solidFill>
                <a:latin typeface="ui-monospace"/>
              </a:rPr>
              <a:t> 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做递归切分</a:t>
            </a:r>
            <a:endParaRPr lang="zh-CN" altLang="en-US" sz="2000" dirty="0">
              <a:solidFill>
                <a:srgbClr val="1F2D22"/>
              </a:solidFill>
              <a:latin typeface="ui-monospace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本框 10"/>
          <p:cNvSpPr>
            <a:spLocks noGrp="1"/>
          </p:cNvSpPr>
          <p:nvPr/>
        </p:nvSpPr>
        <p:spPr>
          <a:xfrm>
            <a:off x="2614979" y="2321005"/>
            <a:ext cx="2604077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3800" b="0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 panose="020B0604020202020204"/>
                <a:ea typeface="华文中宋" panose="02010600040101010101" charset="-122"/>
                <a:cs typeface="+mn-cs"/>
              </a:rPr>
              <a:t>0</a:t>
            </a:r>
            <a:r>
              <a:rPr kumimoji="0" lang="en-US" sz="13800" b="0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 panose="020B0604020202020204"/>
                <a:ea typeface="华文中宋" panose="02010600040101010101" charset="-122"/>
                <a:cs typeface="+mn-cs"/>
              </a:rPr>
              <a:t>5</a:t>
            </a:r>
            <a:endParaRPr kumimoji="0" sz="13800" b="0" i="0" u="none" strike="noStrike" kern="1200" cap="none" spc="0" normalizeH="0" baseline="0" noProof="0" dirty="0">
              <a:ln>
                <a:noFill/>
              </a:ln>
              <a:solidFill>
                <a:srgbClr val="F5F4F9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6293290" y="2685166"/>
            <a:ext cx="2339103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5400" b="1" dirty="0">
                <a:solidFill>
                  <a:prstClr val="white"/>
                </a:solidFill>
                <a:latin typeface="Arial" panose="020B0604020202020204"/>
                <a:ea typeface="华文中宋" panose="02010600040101010101" charset="-122"/>
              </a:rPr>
              <a:t>唐熙雷</a:t>
            </a:r>
            <a:endParaRPr kumimoji="0" sz="5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550" b="1" dirty="0">
                <a:solidFill>
                  <a:srgbClr val="2D4A33"/>
                </a:solidFill>
              </a:rPr>
              <a:t>唐熙雷</a:t>
            </a:r>
            <a:endParaRPr sz="2550" b="1" dirty="0">
              <a:solidFill>
                <a:srgbClr val="2D4A33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857250" y="1619250"/>
            <a:ext cx="4762500" cy="2842895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1085850" y="1790700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Faiss</a:t>
            </a:r>
            <a:r>
              <a:rPr lang="zh-CN" altLang="en-US" sz="1650" b="1">
                <a:solidFill>
                  <a:srgbClr val="2D4A33"/>
                </a:solidFill>
              </a:rPr>
              <a:t>本地底座与多索引</a:t>
            </a:r>
            <a:endParaRPr lang="zh-CN" altLang="en-US" sz="1650" b="1">
              <a:solidFill>
                <a:srgbClr val="2D4A33"/>
              </a:solidFill>
            </a:endParaRPr>
          </a:p>
        </p:txBody>
      </p:sp>
      <p:sp>
        <p:nvSpPr>
          <p:cNvPr id="6" name="矩形 5"/>
          <p:cNvSpPr>
            <a:spLocks noGrp="1"/>
          </p:cNvSpPr>
          <p:nvPr>
            <p:custDataLst>
              <p:tags r:id="rId3"/>
            </p:custDataLst>
          </p:nvPr>
        </p:nvSpPr>
        <p:spPr>
          <a:xfrm>
            <a:off x="1085850" y="2228850"/>
            <a:ext cx="4305300" cy="198882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双检索底座适配：后端 </a:t>
            </a:r>
            <a:r>
              <a:rPr lang="en-US" altLang="zh-CN" sz="1350" b="0">
                <a:solidFill>
                  <a:srgbClr val="1F2D22"/>
                </a:solidFill>
              </a:rPr>
              <a:t>SearchService </a:t>
            </a:r>
            <a:r>
              <a:rPr lang="zh-CN" altLang="en-US" sz="1350" b="0">
                <a:solidFill>
                  <a:srgbClr val="1F2D22"/>
                </a:solidFill>
              </a:rPr>
              <a:t>逻辑抽象，支持 </a:t>
            </a:r>
            <a:r>
              <a:rPr lang="en-US" altLang="zh-CN" sz="1350" b="0">
                <a:solidFill>
                  <a:srgbClr val="1F2D22"/>
                </a:solidFill>
              </a:rPr>
              <a:t>Chroma </a:t>
            </a:r>
            <a:r>
              <a:rPr lang="zh-CN" altLang="en-US" sz="1350" b="0">
                <a:solidFill>
                  <a:srgbClr val="1F2D22"/>
                </a:solidFill>
              </a:rPr>
              <a:t>与 </a:t>
            </a:r>
            <a:r>
              <a:rPr lang="en-US" altLang="zh-CN" sz="1350" b="0">
                <a:solidFill>
                  <a:srgbClr val="1F2D22"/>
                </a:solidFill>
              </a:rPr>
              <a:t>FAISS </a:t>
            </a:r>
            <a:r>
              <a:rPr lang="zh-CN" altLang="en-US" sz="1350" b="0">
                <a:solidFill>
                  <a:srgbClr val="1F2D22"/>
                </a:solidFill>
              </a:rPr>
              <a:t>数据库运行时自由切换。</a:t>
            </a:r>
            <a:endParaRPr lang="zh-CN" altLang="en-US" sz="1350" b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endParaRPr lang="zh-CN" altLang="en-US" sz="1350" b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三种经典索引构建：新增 </a:t>
            </a:r>
            <a:r>
              <a:rPr lang="en-US" altLang="zh-CN" sz="1350" b="0">
                <a:solidFill>
                  <a:srgbClr val="1F2D22"/>
                </a:solidFill>
              </a:rPr>
              <a:t>FLAT（</a:t>
            </a:r>
            <a:r>
              <a:rPr lang="zh-CN" altLang="en-US" sz="1350" b="0">
                <a:solidFill>
                  <a:srgbClr val="1F2D22"/>
                </a:solidFill>
              </a:rPr>
              <a:t>精确）、</a:t>
            </a:r>
            <a:r>
              <a:rPr lang="en-US" altLang="zh-CN" sz="1350" b="0">
                <a:solidFill>
                  <a:srgbClr val="1F2D22"/>
                </a:solidFill>
              </a:rPr>
              <a:t>IVF_FLAT（</a:t>
            </a:r>
            <a:r>
              <a:rPr lang="zh-CN" altLang="en-US" sz="1350" b="0">
                <a:solidFill>
                  <a:srgbClr val="1F2D22"/>
                </a:solidFill>
              </a:rPr>
              <a:t>倒排）、</a:t>
            </a:r>
            <a:r>
              <a:rPr lang="en-US" altLang="zh-CN" sz="1350" b="0">
                <a:solidFill>
                  <a:srgbClr val="1F2D22"/>
                </a:solidFill>
              </a:rPr>
              <a:t>HNSW（</a:t>
            </a:r>
            <a:r>
              <a:rPr lang="zh-CN" altLang="en-US" sz="1350" b="0">
                <a:solidFill>
                  <a:srgbClr val="1F2D22"/>
                </a:solidFill>
              </a:rPr>
              <a:t>图）三种不同索引模式。</a:t>
            </a:r>
            <a:endParaRPr lang="zh-CN" altLang="en-US" sz="1350" b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endParaRPr lang="zh-CN" altLang="en-US" sz="1350" b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en-US" altLang="zh-CN" sz="1350" b="0">
                <a:solidFill>
                  <a:srgbClr val="1F2D22"/>
                </a:solidFill>
              </a:rPr>
              <a:t>IVF</a:t>
            </a:r>
            <a:r>
              <a:rPr lang="zh-CN" altLang="en-US" sz="1350" b="0">
                <a:solidFill>
                  <a:srgbClr val="1F2D22"/>
                </a:solidFill>
              </a:rPr>
              <a:t>训练流程补全：增加 </a:t>
            </a:r>
            <a:r>
              <a:rPr lang="en-US" altLang="zh-CN" sz="1350" b="0">
                <a:solidFill>
                  <a:srgbClr val="1F2D22"/>
                </a:solidFill>
              </a:rPr>
              <a:t>index.train(xb) </a:t>
            </a:r>
            <a:r>
              <a:rPr lang="zh-CN" altLang="en-US" sz="1350" b="0">
                <a:solidFill>
                  <a:srgbClr val="1F2D22"/>
                </a:solidFill>
              </a:rPr>
              <a:t>聚类中心训练阶段，解决近似检索空间划分与精度校准。</a:t>
            </a:r>
            <a:endParaRPr lang="zh-CN" altLang="en-US" sz="1350" b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endParaRPr lang="zh-CN" altLang="en-US" sz="1350" b="0">
              <a:solidFill>
                <a:srgbClr val="1F2D22"/>
              </a:solidFill>
            </a:endParaRPr>
          </a:p>
        </p:txBody>
      </p:sp>
      <p:sp>
        <p:nvSpPr>
          <p:cNvPr id="7" name="矩形 6"/>
          <p:cNvSpPr>
            <a:spLocks noGrp="1"/>
          </p:cNvSpPr>
          <p:nvPr>
            <p:custDataLst>
              <p:tags r:id="rId4"/>
            </p:custDataLst>
          </p:nvPr>
        </p:nvSpPr>
        <p:spPr>
          <a:xfrm>
            <a:off x="6572250" y="1619250"/>
            <a:ext cx="4762500" cy="2842895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>
            <p:custDataLst>
              <p:tags r:id="rId5"/>
            </p:custDataLst>
          </p:nvPr>
        </p:nvSpPr>
        <p:spPr>
          <a:xfrm>
            <a:off x="6800850" y="1790700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lang="zh-CN" altLang="en-US" sz="1650" b="1">
                <a:solidFill>
                  <a:srgbClr val="2D4A33"/>
                </a:solidFill>
              </a:rPr>
              <a:t>检索度量标准化对齐</a:t>
            </a:r>
            <a:endParaRPr lang="zh-CN" altLang="en-US" sz="1650" b="1">
              <a:solidFill>
                <a:srgbClr val="2D4A33"/>
              </a:solidFill>
            </a:endParaRPr>
          </a:p>
        </p:txBody>
      </p:sp>
      <p:sp>
        <p:nvSpPr>
          <p:cNvPr id="9" name="矩形 8"/>
          <p:cNvSpPr>
            <a:spLocks noGrp="1"/>
          </p:cNvSpPr>
          <p:nvPr>
            <p:custDataLst>
              <p:tags r:id="rId6"/>
            </p:custDataLst>
          </p:nvPr>
        </p:nvSpPr>
        <p:spPr>
          <a:xfrm>
            <a:off x="6800850" y="2228850"/>
            <a:ext cx="4305300" cy="198882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原有</a:t>
            </a:r>
            <a:r>
              <a:rPr lang="zh-CN" altLang="en-US" sz="1350" b="0">
                <a:solidFill>
                  <a:srgbClr val="1F2D22"/>
                </a:solidFill>
              </a:rPr>
              <a:t>问题：</a:t>
            </a:r>
            <a:r>
              <a:rPr lang="en-US" altLang="zh-CN" sz="1350" b="0">
                <a:solidFill>
                  <a:srgbClr val="1F2D22"/>
                </a:solidFill>
              </a:rPr>
              <a:t>Chroma </a:t>
            </a:r>
            <a:r>
              <a:rPr lang="zh-CN" altLang="en-US" sz="1350" b="0">
                <a:solidFill>
                  <a:srgbClr val="1F2D22"/>
                </a:solidFill>
              </a:rPr>
              <a:t>计算余弦距离，</a:t>
            </a:r>
            <a:r>
              <a:rPr lang="en-US" altLang="zh-CN" sz="1350" b="0">
                <a:solidFill>
                  <a:srgbClr val="1F2D22"/>
                </a:solidFill>
              </a:rPr>
              <a:t>FAISS </a:t>
            </a:r>
            <a:r>
              <a:rPr lang="zh-CN" altLang="en-US" sz="1350" b="0">
                <a:solidFill>
                  <a:srgbClr val="1F2D22"/>
                </a:solidFill>
              </a:rPr>
              <a:t>默认计算 </a:t>
            </a:r>
            <a:r>
              <a:rPr lang="en-US" altLang="zh-CN" sz="1350" b="0">
                <a:solidFill>
                  <a:srgbClr val="1F2D22"/>
                </a:solidFill>
              </a:rPr>
              <a:t>L2 </a:t>
            </a:r>
            <a:r>
              <a:rPr lang="zh-CN" altLang="en-US" sz="1350" b="0">
                <a:solidFill>
                  <a:srgbClr val="1F2D22"/>
                </a:solidFill>
              </a:rPr>
              <a:t>距离，导致前端检索阈值（</a:t>
            </a:r>
            <a:r>
              <a:rPr lang="en-US" altLang="zh-CN" sz="1350" b="0">
                <a:solidFill>
                  <a:srgbClr val="1F2D22"/>
                </a:solidFill>
              </a:rPr>
              <a:t>threshold）</a:t>
            </a:r>
            <a:r>
              <a:rPr lang="zh-CN" altLang="en-US" sz="1350" b="0">
                <a:solidFill>
                  <a:srgbClr val="1F2D22"/>
                </a:solidFill>
              </a:rPr>
              <a:t>过滤失效。</a:t>
            </a:r>
            <a:endParaRPr lang="zh-CN" altLang="en-US" sz="1350" b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endParaRPr lang="zh-CN" altLang="en-US" sz="1350" b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距离转换公式：基于 </a:t>
            </a:r>
            <a:r>
              <a:rPr lang="en-US" altLang="zh-CN" sz="1350" b="0">
                <a:solidFill>
                  <a:srgbClr val="1F2D22"/>
                </a:solidFill>
              </a:rPr>
              <a:t>BGE </a:t>
            </a:r>
            <a:r>
              <a:rPr lang="zh-CN" altLang="en-US" sz="1350" b="0">
                <a:solidFill>
                  <a:srgbClr val="1F2D22"/>
                </a:solidFill>
              </a:rPr>
              <a:t>向量 </a:t>
            </a:r>
            <a:r>
              <a:rPr lang="en-US" altLang="zh-CN" sz="1350" b="0">
                <a:solidFill>
                  <a:srgbClr val="1F2D22"/>
                </a:solidFill>
              </a:rPr>
              <a:t>L2 </a:t>
            </a:r>
            <a:r>
              <a:rPr lang="zh-CN" altLang="en-US" sz="1350" b="0">
                <a:solidFill>
                  <a:srgbClr val="1F2D22"/>
                </a:solidFill>
              </a:rPr>
              <a:t>归一化特征，利用公式 </a:t>
            </a:r>
            <a:r>
              <a:rPr lang="en-US" altLang="zh-CN" sz="1350" b="0">
                <a:solidFill>
                  <a:srgbClr val="1F2D22"/>
                </a:solidFill>
              </a:rPr>
              <a:t>Score = 1.0 - d_L2 / 2.0 </a:t>
            </a:r>
            <a:r>
              <a:rPr lang="zh-CN" altLang="en-US" sz="1350" b="0">
                <a:solidFill>
                  <a:srgbClr val="1F2D22"/>
                </a:solidFill>
              </a:rPr>
              <a:t>重新映射。</a:t>
            </a:r>
            <a:endParaRPr lang="zh-CN" altLang="en-US" sz="1350" b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endParaRPr lang="zh-CN" altLang="en-US" sz="1350" b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统一余弦得分：各底层统一输出 </a:t>
            </a:r>
            <a:r>
              <a:rPr lang="en-US" altLang="zh-CN" sz="1350" b="0">
                <a:solidFill>
                  <a:srgbClr val="1F2D22"/>
                </a:solidFill>
              </a:rPr>
              <a:t>0∼1</a:t>
            </a:r>
            <a:r>
              <a:rPr lang="zh-CN" altLang="en-US" sz="1350" b="0">
                <a:solidFill>
                  <a:srgbClr val="1F2D22"/>
                </a:solidFill>
              </a:rPr>
              <a:t>的相似度，前端 </a:t>
            </a:r>
            <a:r>
              <a:rPr lang="en-US" altLang="zh-CN" sz="1350" b="0">
                <a:solidFill>
                  <a:srgbClr val="1F2D22"/>
                </a:solidFill>
              </a:rPr>
              <a:t>Similarity Threshold </a:t>
            </a:r>
            <a:r>
              <a:rPr lang="zh-CN" altLang="en-US" sz="1350" b="0">
                <a:solidFill>
                  <a:srgbClr val="1F2D22"/>
                </a:solidFill>
              </a:rPr>
              <a:t>滑动条在双底座下均精准生效。</a:t>
            </a:r>
            <a:endParaRPr lang="zh-CN" altLang="en-US" sz="1350" b="0">
              <a:solidFill>
                <a:srgbClr val="1F2D22"/>
              </a:solidFill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857250" y="4794885"/>
            <a:ext cx="10477500" cy="1644015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1178560" y="4968240"/>
            <a:ext cx="9926955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lang="zh-CN" altLang="en-US" sz="1650" b="1">
                <a:solidFill>
                  <a:srgbClr val="2D4A33"/>
                </a:solidFill>
              </a:rPr>
              <a:t>本地集合管理与元数据兼容</a:t>
            </a:r>
            <a:endParaRPr lang="zh-CN" altLang="en-US" sz="1650" b="1">
              <a:solidFill>
                <a:srgbClr val="2D4A33"/>
              </a:solidFill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1178560" y="5380990"/>
            <a:ext cx="9926955" cy="92583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无状态集合拟态：本地动态扫描 .</a:t>
            </a:r>
            <a:r>
              <a:rPr lang="en-US" altLang="zh-CN" sz="1350" b="0">
                <a:solidFill>
                  <a:srgbClr val="1F2D22"/>
                </a:solidFill>
              </a:rPr>
              <a:t>index </a:t>
            </a:r>
            <a:r>
              <a:rPr lang="zh-CN" altLang="en-US" sz="1350" b="0">
                <a:solidFill>
                  <a:srgbClr val="1F2D22"/>
                </a:solidFill>
              </a:rPr>
              <a:t>文件并解析 _</a:t>
            </a:r>
            <a:r>
              <a:rPr lang="en-US" altLang="zh-CN" sz="1350" b="0">
                <a:solidFill>
                  <a:srgbClr val="1F2D22"/>
                </a:solidFill>
              </a:rPr>
              <a:t>metadata.json，</a:t>
            </a:r>
            <a:r>
              <a:rPr lang="zh-CN" altLang="en-US" sz="1350" b="0">
                <a:solidFill>
                  <a:srgbClr val="1F2D22"/>
                </a:solidFill>
              </a:rPr>
              <a:t>为 </a:t>
            </a:r>
            <a:r>
              <a:rPr lang="en-US" altLang="zh-CN" sz="1350" b="0">
                <a:solidFill>
                  <a:srgbClr val="1F2D22"/>
                </a:solidFill>
              </a:rPr>
              <a:t>FAISS </a:t>
            </a:r>
            <a:r>
              <a:rPr lang="zh-CN" altLang="en-US" sz="1350" b="0">
                <a:solidFill>
                  <a:srgbClr val="1F2D22"/>
                </a:solidFill>
              </a:rPr>
              <a:t>模拟出集合列表加载与文档块计数（</a:t>
            </a:r>
            <a:r>
              <a:rPr lang="en-US" altLang="zh-CN" sz="1350" b="0">
                <a:solidFill>
                  <a:srgbClr val="1F2D22"/>
                </a:solidFill>
              </a:rPr>
              <a:t>count）。</a:t>
            </a:r>
            <a:endParaRPr lang="en-US" altLang="zh-CN" sz="1350" b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结构化检索输出：标准化返回 </a:t>
            </a:r>
            <a:r>
              <a:rPr lang="en-US" altLang="zh-CN" sz="1350" b="0">
                <a:solidFill>
                  <a:srgbClr val="1F2D22"/>
                </a:solidFill>
              </a:rPr>
              <a:t>text、score </a:t>
            </a:r>
            <a:r>
              <a:rPr lang="zh-CN" altLang="en-US" sz="1350" b="0">
                <a:solidFill>
                  <a:srgbClr val="1F2D22"/>
                </a:solidFill>
              </a:rPr>
              <a:t>与包含 </a:t>
            </a:r>
            <a:r>
              <a:rPr lang="en-US" altLang="zh-CN" sz="1350" b="0">
                <a:solidFill>
                  <a:srgbClr val="1F2D22"/>
                </a:solidFill>
              </a:rPr>
              <a:t>page、document_name、chunk_id </a:t>
            </a:r>
            <a:r>
              <a:rPr lang="zh-CN" altLang="en-US" sz="1350" b="0">
                <a:solidFill>
                  <a:srgbClr val="1F2D22"/>
                </a:solidFill>
              </a:rPr>
              <a:t>的元数据。</a:t>
            </a:r>
            <a:endParaRPr lang="zh-CN" altLang="en-US" sz="1350" b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检索到生成闭环：检索结果直接兼容大模型生成层，提供精准的参考源溯源（</a:t>
            </a:r>
            <a:r>
              <a:rPr lang="en-US" altLang="zh-CN" sz="1350" b="0">
                <a:solidFill>
                  <a:srgbClr val="1F2D22"/>
                </a:solidFill>
              </a:rPr>
              <a:t>Citation）</a:t>
            </a:r>
            <a:r>
              <a:rPr lang="zh-CN" altLang="en-US" sz="1350" b="0">
                <a:solidFill>
                  <a:srgbClr val="1F2D22"/>
                </a:solidFill>
              </a:rPr>
              <a:t>数据通路。</a:t>
            </a:r>
            <a:endParaRPr lang="zh-CN" altLang="en-US" sz="1350" b="0">
              <a:solidFill>
                <a:srgbClr val="1F2D22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本框 10"/>
          <p:cNvSpPr>
            <a:spLocks noGrp="1"/>
          </p:cNvSpPr>
          <p:nvPr/>
        </p:nvSpPr>
        <p:spPr>
          <a:xfrm>
            <a:off x="2614979" y="2321005"/>
            <a:ext cx="2604077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3800" b="0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 panose="020B0604020202020204"/>
                <a:ea typeface="华文中宋" panose="02010600040101010101" charset="-122"/>
                <a:cs typeface="+mn-cs"/>
              </a:rPr>
              <a:t>0</a:t>
            </a:r>
            <a:r>
              <a:rPr kumimoji="0" lang="en-US" sz="13800" b="0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 panose="020B0604020202020204"/>
                <a:ea typeface="华文中宋" panose="02010600040101010101" charset="-122"/>
                <a:cs typeface="+mn-cs"/>
              </a:rPr>
              <a:t>6</a:t>
            </a:r>
            <a:endParaRPr kumimoji="0" sz="13800" b="0" i="0" u="none" strike="noStrike" kern="1200" cap="none" spc="0" normalizeH="0" baseline="0" noProof="0" dirty="0">
              <a:ln>
                <a:noFill/>
              </a:ln>
              <a:solidFill>
                <a:srgbClr val="F5F4F9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6331762" y="2685166"/>
            <a:ext cx="2262158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zh-CN" altLang="en-US" sz="5400" b="0" i="0" dirty="0">
                <a:solidFill>
                  <a:schemeClr val="bg1"/>
                </a:solidFill>
                <a:effectLst/>
                <a:latin typeface="Color Emoji"/>
              </a:rPr>
              <a:t>邢泽雷</a:t>
            </a:r>
            <a:endParaRPr kumimoji="0" lang="zh-CN" altLang="en-US" sz="54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800" b="0" i="0" dirty="0">
                <a:effectLst/>
                <a:latin typeface="Color Emoji"/>
              </a:rPr>
              <a:t>邢泽雷</a:t>
            </a:r>
            <a:endParaRPr sz="2550" b="1" dirty="0"/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857250" y="1571625"/>
            <a:ext cx="4762500" cy="220980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1085850" y="1643063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3200" b="1" dirty="0" err="1">
                <a:solidFill>
                  <a:srgbClr val="2D4A33"/>
                </a:solidFill>
              </a:rPr>
              <a:t>检索前</a:t>
            </a:r>
            <a:endParaRPr sz="3200" b="1" dirty="0">
              <a:solidFill>
                <a:srgbClr val="2D4A33"/>
              </a:solidFill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085850" y="2228850"/>
            <a:ext cx="4305300" cy="1466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r>
              <a:rPr lang="zh-CN" altLang="zh-CN" dirty="0"/>
              <a:t>系统不再只使用用户原始 query 进行一次检索，而是在检索前调用大模型生成多个不同角度的查询变体。随后系统对每个 query 分别生成 embedding 并查询 Chroma，最后将所有结果去重、排序、截取最终 Top K。</a:t>
            </a:r>
            <a:endParaRPr lang="zh-CN" altLang="zh-CN" dirty="0"/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6572250" y="1619250"/>
            <a:ext cx="4762500" cy="413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6800850" y="1790700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>
              <a:defRPr sz="1650" b="1">
                <a:solidFill>
                  <a:srgbClr val="2D4A33"/>
                </a:solidFill>
              </a:defRPr>
            </a:pPr>
            <a:r>
              <a:rPr sz="3200" b="1" dirty="0" err="1">
                <a:solidFill>
                  <a:srgbClr val="2D4A33"/>
                </a:solidFill>
              </a:rPr>
              <a:t>检索后</a:t>
            </a:r>
            <a:endParaRPr sz="3200" b="1" dirty="0">
              <a:solidFill>
                <a:srgbClr val="2D4A33"/>
              </a:solidFill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6800850" y="2114550"/>
            <a:ext cx="4305300" cy="3638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r>
              <a:rPr lang="zh-CN" altLang="zh-CN" dirty="0"/>
              <a:t>生成服务现在不会在初稿生成后立即返回，而是先进入审查阶段。系统会把以下三类信息交给大模型：</a:t>
            </a:r>
            <a:endParaRPr lang="zh-CN" altLang="zh-CN" dirty="0"/>
          </a:p>
          <a:p>
            <a:br>
              <a:rPr lang="zh-CN" altLang="zh-CN" dirty="0"/>
            </a:br>
            <a:endParaRPr lang="zh-CN" altLang="zh-CN" dirty="0"/>
          </a:p>
          <a:p>
            <a:r>
              <a:rPr lang="zh-CN" altLang="zh-CN" dirty="0"/>
              <a:t>1. 用户原始问题。</a:t>
            </a:r>
            <a:endParaRPr lang="zh-CN" altLang="zh-CN" dirty="0"/>
          </a:p>
          <a:p>
            <a:r>
              <a:rPr lang="zh-CN" altLang="zh-CN" dirty="0"/>
              <a:t>2. 检索结果拼接出的上下文。</a:t>
            </a:r>
            <a:endParaRPr lang="zh-CN" altLang="zh-CN" dirty="0"/>
          </a:p>
          <a:p>
            <a:r>
              <a:rPr lang="zh-CN" altLang="zh-CN" dirty="0"/>
              <a:t>3. 刚生成的回答草案。</a:t>
            </a:r>
            <a:endParaRPr lang="zh-CN" altLang="zh-CN" dirty="0"/>
          </a:p>
          <a:p>
            <a:br>
              <a:rPr lang="zh-CN" altLang="zh-CN" dirty="0"/>
            </a:br>
            <a:endParaRPr lang="zh-CN" altLang="zh-CN" dirty="0"/>
          </a:p>
          <a:p>
            <a:r>
              <a:rPr lang="zh-CN" altLang="zh-CN" dirty="0"/>
              <a:t>审查模型需要判断回答草案是否严格基于上下文，是否存在幻觉，是否遗漏了问题关键点。</a:t>
            </a:r>
            <a:endParaRPr lang="zh-CN" altLang="zh-CN" dirty="0"/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1485900" y="3852863"/>
            <a:ext cx="5029200" cy="2605087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1752600" y="3876675"/>
            <a:ext cx="7734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>
              <a:defRPr sz="1650" b="1">
                <a:solidFill>
                  <a:srgbClr val="2D4A33"/>
                </a:solidFill>
              </a:defRPr>
            </a:pPr>
            <a:r>
              <a:rPr sz="3200" b="1" dirty="0" err="1">
                <a:solidFill>
                  <a:srgbClr val="2D4A33"/>
                </a:solidFill>
              </a:rPr>
              <a:t>结果</a:t>
            </a:r>
            <a:endParaRPr sz="3200" b="1" dirty="0">
              <a:solidFill>
                <a:srgbClr val="2D4A33"/>
              </a:solidFill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1905000" y="4629150"/>
            <a:ext cx="4514850" cy="16668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r>
              <a:rPr lang="zh-CN" altLang="zh-CN" dirty="0"/>
              <a:t>多查询拆分可以缓解用户问题表达不完整的问题。相比单查询检索，它更容易覆盖同义表达、近义表达和不同问题角度，从而提升相关 chunk 被召回的概率。</a:t>
            </a:r>
            <a:endParaRPr lang="en-US" altLang="zh-CN" dirty="0"/>
          </a:p>
          <a:p>
            <a:r>
              <a:rPr lang="zh-CN" altLang="zh-CN" dirty="0"/>
              <a:t>自我纠错机制可以在最终返回前进行一次事实审查，降低模型脱离上下文自由发挥的概率，提高回答与文档内容的一致性。</a:t>
            </a:r>
            <a:endParaRPr lang="zh-CN" altLang="zh-CN" dirty="0"/>
          </a:p>
          <a:p>
            <a:endParaRPr lang="zh-CN" altLang="zh-CN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本框 10"/>
          <p:cNvSpPr>
            <a:spLocks noGrp="1"/>
          </p:cNvSpPr>
          <p:nvPr/>
        </p:nvSpPr>
        <p:spPr>
          <a:xfrm>
            <a:off x="2614979" y="2321005"/>
            <a:ext cx="2604077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3800" b="0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 panose="020B0604020202020204"/>
                <a:ea typeface="华文中宋" panose="02010600040101010101" charset="-122"/>
                <a:cs typeface="+mn-cs"/>
              </a:rPr>
              <a:t>0</a:t>
            </a:r>
            <a:r>
              <a:rPr lang="en-US" sz="13800" dirty="0">
                <a:solidFill>
                  <a:srgbClr val="F5F4F9"/>
                </a:solidFill>
                <a:latin typeface="Arial" panose="020B0604020202020204"/>
                <a:ea typeface="华文中宋" panose="02010600040101010101" charset="-122"/>
              </a:rPr>
              <a:t>7</a:t>
            </a:r>
            <a:endParaRPr kumimoji="0" sz="13800" b="0" i="0" u="none" strike="noStrike" kern="1200" cap="none" spc="0" normalizeH="0" baseline="0" noProof="0" dirty="0">
              <a:ln>
                <a:noFill/>
              </a:ln>
              <a:solidFill>
                <a:srgbClr val="F5F4F9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6331762" y="2685166"/>
            <a:ext cx="2262158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zh-CN" altLang="en-US" sz="5400" b="0" i="0" dirty="0">
                <a:solidFill>
                  <a:schemeClr val="bg1"/>
                </a:solidFill>
                <a:effectLst/>
                <a:latin typeface="Color Emoji"/>
              </a:rPr>
              <a:t>谢羿衡</a:t>
            </a:r>
            <a:endParaRPr kumimoji="0" lang="zh-CN" altLang="en-US" sz="54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800" b="0" i="0" dirty="0">
                <a:effectLst/>
                <a:latin typeface="Color Emoji"/>
              </a:rPr>
              <a:t>谢羿衡</a:t>
            </a:r>
            <a:endParaRPr sz="2550" b="1" dirty="0"/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484716" y="1250155"/>
            <a:ext cx="5763683" cy="2542911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1736195" y="1450181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lang="zh-CN" altLang="en-US" sz="3200" b="1" dirty="0">
                <a:solidFill>
                  <a:srgbClr val="2D4A33"/>
                </a:solidFill>
              </a:rPr>
              <a:t>中文文本切分改进</a:t>
            </a:r>
            <a:endParaRPr sz="3200" b="1" dirty="0">
              <a:solidFill>
                <a:srgbClr val="2D4A33"/>
              </a:solidFill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699557" y="1867430"/>
            <a:ext cx="5334000" cy="1728787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r>
              <a:rPr lang="zh-CN" altLang="en-US" dirty="0"/>
              <a:t>分隔符扩展为中英文混合</a:t>
            </a:r>
            <a:r>
              <a:rPr lang="en-US" altLang="zh-CN" dirty="0"/>
              <a:t>:</a:t>
            </a:r>
            <a:r>
              <a:rPr lang="zh-CN" altLang="en-US" dirty="0"/>
              <a:t>。！？； </a:t>
            </a:r>
            <a:r>
              <a:rPr lang="en-US" altLang="zh-CN" dirty="0"/>
              <a:t>+ .!?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句子分块用正则 </a:t>
            </a:r>
            <a:r>
              <a:rPr lang="en-US" altLang="zh-CN" dirty="0"/>
              <a:t>(?&lt;=[</a:t>
            </a:r>
            <a:r>
              <a:rPr lang="zh-CN" altLang="en-US" dirty="0"/>
              <a:t>。！？；</a:t>
            </a:r>
            <a:r>
              <a:rPr lang="en-US" altLang="zh-CN" dirty="0"/>
              <a:t>.!?])\s* </a:t>
            </a:r>
            <a:r>
              <a:rPr lang="zh-CN" altLang="en-US" dirty="0"/>
              <a:t>识别边界</a:t>
            </a:r>
            <a:endParaRPr lang="en-US" altLang="zh-CN" dirty="0"/>
          </a:p>
          <a:p>
            <a:endParaRPr lang="zh-CN" altLang="en-US" dirty="0"/>
          </a:p>
          <a:p>
            <a:r>
              <a:rPr lang="zh-CN" altLang="en-US" dirty="0"/>
              <a:t>超长句</a:t>
            </a:r>
            <a:r>
              <a:rPr lang="en-US" altLang="zh-CN" dirty="0"/>
              <a:t>(&gt;1000</a:t>
            </a:r>
            <a:r>
              <a:rPr lang="zh-CN" altLang="en-US" dirty="0"/>
              <a:t>字</a:t>
            </a:r>
            <a:r>
              <a:rPr lang="en-US" altLang="zh-CN" dirty="0"/>
              <a:t>)</a:t>
            </a:r>
            <a:r>
              <a:rPr lang="zh-CN" altLang="en-US" dirty="0"/>
              <a:t>自动二次切分</a:t>
            </a:r>
            <a:r>
              <a:rPr lang="en-US" altLang="zh-CN" dirty="0"/>
              <a:t>,</a:t>
            </a:r>
            <a:r>
              <a:rPr lang="zh-CN" altLang="en-US" dirty="0"/>
              <a:t>兼容中英混排</a:t>
            </a:r>
            <a:endParaRPr lang="zh-CN" altLang="zh-CN" dirty="0"/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6515100" y="1250154"/>
            <a:ext cx="4762500" cy="5207795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6800850" y="1685925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>
              <a:defRPr sz="1650" b="1">
                <a:solidFill>
                  <a:srgbClr val="2D4A33"/>
                </a:solidFill>
              </a:defRPr>
            </a:pPr>
            <a:r>
              <a:rPr lang="en-US" sz="3200" b="1" dirty="0">
                <a:solidFill>
                  <a:srgbClr val="2D4A33"/>
                </a:solidFill>
              </a:rPr>
              <a:t>Windows FAISS </a:t>
            </a:r>
            <a:endParaRPr lang="en-US" sz="3200" b="1" dirty="0">
              <a:solidFill>
                <a:srgbClr val="2D4A33"/>
              </a:solidFill>
            </a:endParaRPr>
          </a:p>
          <a:p>
            <a:pPr>
              <a:defRPr sz="1650" b="1">
                <a:solidFill>
                  <a:srgbClr val="2D4A33"/>
                </a:solidFill>
              </a:defRPr>
            </a:pPr>
            <a:r>
              <a:rPr lang="zh-CN" altLang="en-US" sz="3200" b="1" dirty="0">
                <a:solidFill>
                  <a:srgbClr val="2D4A33"/>
                </a:solidFill>
              </a:rPr>
              <a:t>中文路径修复</a:t>
            </a:r>
            <a:endParaRPr sz="3200" b="1" dirty="0">
              <a:solidFill>
                <a:srgbClr val="2D4A33"/>
              </a:solidFill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6729941" y="2226733"/>
            <a:ext cx="4539192" cy="2234141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r>
              <a:rPr lang="zh-CN" altLang="en-US" dirty="0"/>
              <a:t>痛点</a:t>
            </a:r>
            <a:r>
              <a:rPr lang="en-US" altLang="zh-CN" dirty="0"/>
              <a:t>:</a:t>
            </a:r>
            <a:r>
              <a:rPr lang="en-US" altLang="zh-CN" dirty="0" err="1"/>
              <a:t>read_index</a:t>
            </a:r>
            <a:r>
              <a:rPr lang="en-US" altLang="zh-CN" dirty="0"/>
              <a:t>/</a:t>
            </a:r>
            <a:r>
              <a:rPr lang="en-US" altLang="zh-CN" dirty="0" err="1"/>
              <a:t>write_index</a:t>
            </a:r>
            <a:r>
              <a:rPr lang="en-US" altLang="zh-CN" dirty="0"/>
              <a:t> </a:t>
            </a:r>
            <a:r>
              <a:rPr lang="zh-CN" altLang="en-US" dirty="0"/>
              <a:t>遇中文路径打开失败</a:t>
            </a:r>
            <a:endParaRPr lang="en-US" altLang="zh-CN" dirty="0"/>
          </a:p>
          <a:p>
            <a:endParaRPr lang="zh-CN" altLang="en-US" dirty="0"/>
          </a:p>
          <a:p>
            <a:r>
              <a:rPr lang="zh-CN" altLang="en-US" dirty="0"/>
              <a:t>改用 </a:t>
            </a:r>
            <a:r>
              <a:rPr lang="en-US" altLang="zh-CN" dirty="0"/>
              <a:t>serialize/</a:t>
            </a:r>
            <a:r>
              <a:rPr lang="en-US" altLang="zh-CN" dirty="0" err="1"/>
              <a:t>deserialize_index</a:t>
            </a:r>
            <a:r>
              <a:rPr lang="en-US" altLang="zh-CN" dirty="0"/>
              <a:t> + Python </a:t>
            </a:r>
            <a:r>
              <a:rPr lang="zh-CN" altLang="en-US" dirty="0"/>
              <a:t>原生文件流</a:t>
            </a:r>
            <a:endParaRPr lang="en-US" altLang="zh-CN" dirty="0"/>
          </a:p>
          <a:p>
            <a:endParaRPr lang="zh-CN" altLang="en-US" dirty="0"/>
          </a:p>
          <a:p>
            <a:r>
              <a:rPr lang="zh-CN" altLang="en-US" dirty="0"/>
              <a:t>中文知识库名</a:t>
            </a:r>
            <a:r>
              <a:rPr lang="en-US" altLang="zh-CN" dirty="0"/>
              <a:t>/</a:t>
            </a:r>
            <a:r>
              <a:rPr lang="zh-CN" altLang="en-US" dirty="0"/>
              <a:t>文档名均可正常索引读写</a:t>
            </a:r>
            <a:endParaRPr lang="zh-CN" altLang="zh-CN" dirty="0"/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484716" y="3852863"/>
            <a:ext cx="5763683" cy="2605087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1752600" y="3876675"/>
            <a:ext cx="36385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>
              <a:defRPr sz="1650" b="1">
                <a:solidFill>
                  <a:srgbClr val="2D4A33"/>
                </a:solidFill>
              </a:defRPr>
            </a:pPr>
            <a:r>
              <a:rPr lang="zh-CN" altLang="en-US" sz="3200" b="1" dirty="0">
                <a:solidFill>
                  <a:srgbClr val="2D4A33"/>
                </a:solidFill>
              </a:rPr>
              <a:t>中文字数统计优化</a:t>
            </a:r>
            <a:endParaRPr sz="3200" b="1" dirty="0">
              <a:solidFill>
                <a:srgbClr val="2D4A33"/>
              </a:solidFill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699557" y="4292070"/>
            <a:ext cx="6378576" cy="16668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r>
              <a:rPr lang="zh-CN" altLang="en-US" dirty="0"/>
              <a:t>原 </a:t>
            </a:r>
            <a:r>
              <a:rPr lang="en-US" altLang="zh-CN" dirty="0" err="1"/>
              <a:t>text.split</a:t>
            </a:r>
            <a:r>
              <a:rPr lang="en-US" altLang="zh-CN" dirty="0"/>
              <a:t>() </a:t>
            </a:r>
            <a:r>
              <a:rPr lang="zh-CN" altLang="en-US" dirty="0"/>
              <a:t>把整句中文算作 </a:t>
            </a:r>
            <a:r>
              <a:rPr lang="en-US" altLang="zh-CN" dirty="0"/>
              <a:t>1 </a:t>
            </a:r>
            <a:r>
              <a:rPr lang="zh-CN" altLang="en-US" dirty="0"/>
              <a:t>个词</a:t>
            </a:r>
            <a:endParaRPr lang="en-US" altLang="zh-CN" dirty="0"/>
          </a:p>
          <a:p>
            <a:endParaRPr lang="zh-CN" altLang="en-US" dirty="0"/>
          </a:p>
          <a:p>
            <a:r>
              <a:rPr lang="zh-CN" altLang="en-US" dirty="0"/>
              <a:t>新增 </a:t>
            </a:r>
            <a:r>
              <a:rPr lang="en-US" altLang="zh-CN" dirty="0"/>
              <a:t>_</a:t>
            </a:r>
            <a:r>
              <a:rPr lang="en-US" altLang="zh-CN" dirty="0" err="1"/>
              <a:t>estimate_word_count</a:t>
            </a:r>
            <a:r>
              <a:rPr lang="en-US" altLang="zh-CN" dirty="0"/>
              <a:t>:</a:t>
            </a:r>
            <a:r>
              <a:rPr lang="zh-CN" altLang="en-US" dirty="0"/>
              <a:t>正则 </a:t>
            </a:r>
            <a:r>
              <a:rPr lang="en-US" altLang="zh-CN" dirty="0"/>
              <a:t>[</a:t>
            </a:r>
            <a:r>
              <a:rPr lang="zh-CN" altLang="en-US" dirty="0"/>
              <a:t>一</a:t>
            </a:r>
            <a:r>
              <a:rPr lang="en-US" altLang="zh-CN" dirty="0"/>
              <a:t>-鿿]|[A-Za-z0-9_]+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每个汉字</a:t>
            </a:r>
            <a:r>
              <a:rPr lang="en-US" altLang="zh-CN" dirty="0"/>
              <a:t>=1</a:t>
            </a:r>
            <a:r>
              <a:rPr lang="zh-CN" altLang="en-US" dirty="0"/>
              <a:t>单元</a:t>
            </a:r>
            <a:r>
              <a:rPr lang="en-US" altLang="zh-CN" dirty="0"/>
              <a:t>,</a:t>
            </a:r>
            <a:r>
              <a:rPr lang="zh-CN" altLang="en-US" dirty="0"/>
              <a:t>准确控制上下文 </a:t>
            </a:r>
            <a:r>
              <a:rPr lang="en-US" altLang="zh-CN" dirty="0"/>
              <a:t>token </a:t>
            </a:r>
            <a:r>
              <a:rPr lang="zh-CN" altLang="en-US" dirty="0"/>
              <a:t>预算</a:t>
            </a:r>
            <a:endParaRPr lang="zh-CN" altLang="zh-CN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>
            <a:spLocks noGrp="1"/>
          </p:cNvSpPr>
          <p:nvPr/>
        </p:nvSpPr>
        <p:spPr>
          <a:xfrm>
            <a:off x="0" y="1322656"/>
            <a:ext cx="12192000" cy="4212688"/>
          </a:xfrm>
          <a:prstGeom prst="rect">
            <a:avLst/>
          </a:prstGeom>
          <a:solidFill>
            <a:srgbClr val="253A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6" name="文本框 5"/>
          <p:cNvSpPr>
            <a:spLocks noGrp="1"/>
          </p:cNvSpPr>
          <p:nvPr/>
        </p:nvSpPr>
        <p:spPr>
          <a:xfrm>
            <a:off x="3744435" y="1739250"/>
            <a:ext cx="59045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4400" dirty="0" err="1">
                <a:solidFill>
                  <a:schemeClr val="bg1"/>
                </a:solidFill>
                <a:latin typeface="字魂17号-萌趣果冻体"/>
                <a:ea typeface="字魂17号-萌趣果冻体"/>
                <a:cs typeface="字魂17号-萌趣果冻体"/>
              </a:rPr>
              <a:t>Myrag</a:t>
            </a:r>
            <a:r>
              <a:rPr sz="4400" dirty="0" err="1">
                <a:solidFill>
                  <a:schemeClr val="bg1"/>
                </a:solidFill>
                <a:latin typeface="字魂17号-萌趣果冻体"/>
                <a:ea typeface="字魂17号-萌趣果冻体"/>
                <a:cs typeface="字魂17号-萌趣果冻体"/>
              </a:rPr>
              <a:t>总结</a:t>
            </a:r>
            <a:endParaRPr sz="4400" dirty="0">
              <a:solidFill>
                <a:schemeClr val="bg1"/>
              </a:solidFill>
              <a:latin typeface="字魂17号-萌趣果冻体"/>
              <a:ea typeface="字魂17号-萌趣果冻体"/>
              <a:cs typeface="字魂17号-萌趣果冻体"/>
            </a:endParaRPr>
          </a:p>
        </p:txBody>
      </p:sp>
      <p:sp>
        <p:nvSpPr>
          <p:cNvPr id="7" name="文本框 6"/>
          <p:cNvSpPr>
            <a:spLocks noGrp="1"/>
          </p:cNvSpPr>
          <p:nvPr/>
        </p:nvSpPr>
        <p:spPr>
          <a:xfrm>
            <a:off x="5376550" y="2961197"/>
            <a:ext cx="323815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sz="6000" dirty="0" err="1">
                <a:solidFill>
                  <a:schemeClr val="bg1"/>
                </a:solidFill>
              </a:rPr>
              <a:t>谢谢</a:t>
            </a:r>
            <a:endParaRPr sz="6000" dirty="0">
              <a:solidFill>
                <a:schemeClr val="bg1"/>
              </a:solidFill>
            </a:endParaRPr>
          </a:p>
        </p:txBody>
      </p:sp>
      <p:sp>
        <p:nvSpPr>
          <p:cNvPr id="10" name="椭圆 9"/>
          <p:cNvSpPr>
            <a:spLocks noGrp="1"/>
          </p:cNvSpPr>
          <p:nvPr/>
        </p:nvSpPr>
        <p:spPr>
          <a:xfrm>
            <a:off x="249709" y="3223401"/>
            <a:ext cx="449489" cy="44948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13" name="等腰三角形 12"/>
          <p:cNvSpPr>
            <a:spLocks noGrp="1"/>
          </p:cNvSpPr>
          <p:nvPr/>
        </p:nvSpPr>
        <p:spPr>
          <a:xfrm rot="16200000">
            <a:off x="345362" y="3365602"/>
            <a:ext cx="191501" cy="165087"/>
          </a:xfrm>
          <a:prstGeom prst="triangle">
            <a:avLst/>
          </a:prstGeom>
          <a:solidFill>
            <a:srgbClr val="2B1D5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16" name="椭圆 15"/>
          <p:cNvSpPr>
            <a:spLocks noGrp="1"/>
          </p:cNvSpPr>
          <p:nvPr/>
        </p:nvSpPr>
        <p:spPr>
          <a:xfrm flipH="1">
            <a:off x="10993393" y="3185111"/>
            <a:ext cx="449489" cy="44948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17" name="等腰三角形 16"/>
          <p:cNvSpPr>
            <a:spLocks noGrp="1"/>
          </p:cNvSpPr>
          <p:nvPr/>
        </p:nvSpPr>
        <p:spPr>
          <a:xfrm rot="16200000" flipH="1">
            <a:off x="10897740" y="3327312"/>
            <a:ext cx="191501" cy="165087"/>
          </a:xfrm>
          <a:prstGeom prst="triangle">
            <a:avLst/>
          </a:prstGeom>
          <a:solidFill>
            <a:srgbClr val="2B1D5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19" name="椭圆 18"/>
          <p:cNvSpPr>
            <a:spLocks noGrp="1"/>
          </p:cNvSpPr>
          <p:nvPr/>
        </p:nvSpPr>
        <p:spPr>
          <a:xfrm>
            <a:off x="4018164" y="1584250"/>
            <a:ext cx="1066959" cy="1015303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pic>
        <p:nvPicPr>
          <p:cNvPr id="20" name="图片 1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75964" y="1418612"/>
            <a:ext cx="1364080" cy="1346778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84.25,&quot;left&quot;:67.5,&quot;top&quot;:78.35,&quot;width&quot;:825}"/>
</p:tagLst>
</file>

<file path=ppt/tags/tag2.xml><?xml version="1.0" encoding="utf-8"?>
<p:tagLst xmlns:p="http://schemas.openxmlformats.org/presentationml/2006/main">
  <p:tag name="KSO_WM_DIAGRAM_VIRTUALLY_FRAME" val="{&quot;height&quot;:284.25,&quot;left&quot;:67.5,&quot;top&quot;:78.35,&quot;width&quot;:825}"/>
</p:tagLst>
</file>

<file path=ppt/tags/tag3.xml><?xml version="1.0" encoding="utf-8"?>
<p:tagLst xmlns:p="http://schemas.openxmlformats.org/presentationml/2006/main">
  <p:tag name="KSO_WM_DIAGRAM_VIRTUALLY_FRAME" val="{&quot;height&quot;:284.25,&quot;left&quot;:67.5,&quot;top&quot;:78.35,&quot;width&quot;:825}"/>
</p:tagLst>
</file>

<file path=ppt/tags/tag4.xml><?xml version="1.0" encoding="utf-8"?>
<p:tagLst xmlns:p="http://schemas.openxmlformats.org/presentationml/2006/main">
  <p:tag name="KSO_WM_DIAGRAM_VIRTUALLY_FRAME" val="{&quot;height&quot;:284.25,&quot;left&quot;:67.5,&quot;top&quot;:78.35,&quot;width&quot;:825}"/>
</p:tagLst>
</file>

<file path=ppt/tags/tag5.xml><?xml version="1.0" encoding="utf-8"?>
<p:tagLst xmlns:p="http://schemas.openxmlformats.org/presentationml/2006/main">
  <p:tag name="KSO_WM_DIAGRAM_VIRTUALLY_FRAME" val="{&quot;height&quot;:284.25,&quot;left&quot;:67.5,&quot;top&quot;:78.35,&quot;width&quot;:825}"/>
</p:tagLst>
</file>

<file path=ppt/tags/tag6.xml><?xml version="1.0" encoding="utf-8"?>
<p:tagLst xmlns:p="http://schemas.openxmlformats.org/presentationml/2006/main">
  <p:tag name="KSO_WM_DIAGRAM_VIRTUALLY_FRAME" val="{&quot;height&quot;:284.25,&quot;left&quot;:67.5,&quot;top&quot;:78.35,&quot;width&quot;:825}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fvcliop3">
      <a:majorFont>
        <a:latin typeface="Arial"/>
        <a:ea typeface="STZhongsong"/>
        <a:cs typeface=""/>
      </a:majorFont>
      <a:minorFont>
        <a:latin typeface="Arial"/>
        <a:ea typeface="STZhongsong"/>
        <a:cs typeface=""/>
      </a:minorFont>
    </a:fontScheme>
    <a:fmtScheme name="Office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fvcliop3">
      <a:majorFont>
        <a:latin typeface="Arial"/>
        <a:ea typeface="STZhongsong"/>
        <a:cs typeface=""/>
      </a:majorFont>
      <a:minorFont>
        <a:latin typeface="Arial"/>
        <a:ea typeface="STZhongsong"/>
        <a:cs typeface=""/>
      </a:minorFont>
    </a:fontScheme>
    <a:fmtScheme name="Office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1962</Words>
  <Application>WPS 演示</Application>
  <PresentationFormat>宽屏</PresentationFormat>
  <Paragraphs>170</Paragraphs>
  <Slides>18</Slides>
  <Notes>18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31" baseType="lpstr">
      <vt:lpstr>Arial</vt:lpstr>
      <vt:lpstr>宋体</vt:lpstr>
      <vt:lpstr>Wingdings</vt:lpstr>
      <vt:lpstr>字魂17号-萌趣果冻体</vt:lpstr>
      <vt:lpstr>Segoe Print</vt:lpstr>
      <vt:lpstr>Arial</vt:lpstr>
      <vt:lpstr>华文中宋</vt:lpstr>
      <vt:lpstr>ui-monospace</vt:lpstr>
      <vt:lpstr>Color Emoji</vt:lpstr>
      <vt:lpstr>微软雅黑</vt:lpstr>
      <vt:lpstr>Arial Unicode MS</vt:lpstr>
      <vt:lpstr>MS PGothic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繁雨流星</cp:lastModifiedBy>
  <cp:revision>16</cp:revision>
  <dcterms:created xsi:type="dcterms:W3CDTF">2026-06-08T16:49:00Z</dcterms:created>
  <dcterms:modified xsi:type="dcterms:W3CDTF">2026-06-17T10:27:57Z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2052-12.1.0.26895</vt:lpwstr>
  </property>
  <property fmtid="{D5CDD505-2E9C-101B-9397-08002B2CF9AE}" pid="3" name="ICV">
    <vt:lpwstr>167807B6208942898F4E046D694E8DD5_12</vt:lpwstr>
  </property>
</Properties>
</file>