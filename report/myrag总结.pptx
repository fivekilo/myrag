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73" r:id="rId3"/>
    <p:sldId id="258" r:id="rId4"/>
    <p:sldId id="260" r:id="rId5"/>
    <p:sldId id="262" r:id="rId6"/>
    <p:sldId id="263" r:id="rId7"/>
    <p:sldId id="270" r:id="rId8"/>
    <p:sldId id="259" r:id="rId9"/>
    <p:sldId id="271" r:id="rId10"/>
    <p:sldId id="264" r:id="rId11"/>
    <p:sldId id="272" r:id="rId12"/>
    <p:sldId id="261" r:id="rId13"/>
    <p:sldId id="268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76" d="100"/>
          <a:sy n="76" d="100"/>
        </p:scale>
        <p:origin x="132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0083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10210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384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79670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72F6E9-A7DB-4EE5-BABD-C7E4FC0526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7CD555-0E7D-46E3-A92B-ED861A2C05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574459-61E1-4D49-AC46-970CF986C1F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FC7371-B810-4A27-98BE-F850FC6012E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9F63B2-4215-4D56-9E34-DDA0D38A72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FD4038-7C43-439E-9BD7-248A93D25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80561D-23F9-45ED-9106-108A882EE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BB6EB5-840B-4BFD-9D08-BB6EC56200B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8D1123A-754E-496D-8CE0-FD9B6A7099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F39AEC-6527-4E30-86C4-9AA752E0CB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C9BF6A-5393-4D5D-8AEE-1B81D083E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3E6E325-8421-4FE8-AF29-E302A1DBB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816A9D-26EF-40AC-B308-2D7A2757778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BB73DC-B2C0-4909-8318-3659735A88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CF43A9-C7FC-4B98-BBF3-AE947E3BD8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D80635-DB14-48F9-9272-CE69DF4B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7C7ABE-BA6F-45B7-9B69-996A42252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85D180F-2FC4-4937-8120-1E810EEF044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ED37408-0507-4932-92BE-35D30B50AA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F0B637-EFF2-46E7-A07C-60F2990559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3623D48-9D66-4919-847B-1A5AEB5134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1CFE67-D30D-4B22-889C-55C816B46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48C4D59-EF31-4FBE-BC9A-9A5EBA0C0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EA7E20-2BEF-4705-B668-41BA3AFD3BA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7528E1-74F4-47FF-AFB0-0FFA9CDEB98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DEC6AD9-641D-4C8D-A3A9-8035C6C53F32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884D206-1519-40EE-83EF-96FCCF73CA6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39ADFE1-CDE2-4D74-8221-13526DF8EE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7341B9C-7226-489F-A04C-0A343671B0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EB7912-49CA-483F-9076-E0D2F23E2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2595294-2A25-490E-AB14-A95C1633F5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12734D-7EAD-4F31-B03F-D200B6C39A6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73709D-D57A-41FB-A534-0FABF34C0A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B5A0B8B-32A0-4BD3-9321-DF4BD5F3F60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13455FE-1521-43F5-9A46-B1AEDBCC0AC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D8DFAB-D0F3-4614-AD41-3038E3A128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63CC7-5A86-4D8F-BF0F-CF3DB480D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6D0E11-DA2E-4B3F-BD08-E5C7E284A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636FB98-781E-49FA-B0A7-F8EEFF1D18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69D888-3303-4386-8D33-ECD52F3AA74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6D7732A-D768-4DA1-8E7D-D5193634346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C07DCDD-B55B-4694-95B1-D1C5B1EE04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C333A5-B233-4BE5-A80D-E5BABEA42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690864D-645E-4F31-A4AF-C0E25FE29E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107EF1-54F5-42F7-A644-5A50AA46D3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B5786B-734D-4F2D-8500-8303049D9D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4F483E-5FEC-4176-8928-650AFEA3790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8850916-12F4-40B6-9054-339E1445A3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830027-6BA9-4579-8EDD-089953EF2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61ACF89-9A2E-450D-8BFB-C9CB9E1C22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79072A-6014-4B4E-A18D-0372B1C5182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FDF371-B7AE-4241-BF00-12CAD6919B6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D76FD6-5D96-4706-B932-8EE5F104E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2F09CD8-5BBF-4E8A-9BF8-28D43A1CF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555FEEC-FD82-4242-8E24-AE155E715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7CC20B-95BA-468A-99C5-C46FB84761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DF5F36-97DD-451C-B825-5DDC6F6AB6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007A96-BE60-43F1-8235-C37C0D91E5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E41609F-3331-439D-B0F8-1F25E8EB9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E24023-1CA4-4BDC-8DC5-1C11F41C77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CE8571-A74E-415B-8900-450A14D4097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18B585-8404-477C-9FB7-0443696D314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870DD4-577D-45D7-925C-1776615E4D1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40D35B1-31AE-46E4-AD38-CE2127573BCF}"/>
              </a:ext>
            </a:extLst>
          </p:cNvPr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1009F98-A134-45A8-957A-C46581E6DDEA}"/>
              </a:ext>
            </a:extLst>
          </p:cNvPr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zh-CN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5B0D77-90F1-4E5A-ACB5-8D0FFD5681A8}"/>
              </a:ext>
            </a:extLst>
          </p:cNvPr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检索增强生成成员贡献总结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FC386E4F-7907-4FDD-B3B9-E3127F053484}"/>
              </a:ext>
            </a:extLst>
          </p:cNvPr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>
            <a:extLst>
              <a:ext uri="{FF2B5EF4-FFF2-40B4-BE49-F238E27FC236}">
                <a16:creationId xmlns:a16="http://schemas.microsoft.com/office/drawing/2014/main" id="{ADBB85B5-2B68-44EC-837A-7CF86BE98265}"/>
              </a:ext>
            </a:extLst>
          </p:cNvPr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817E4FC-2B81-474B-A08F-73CA0FE7F988}"/>
              </a:ext>
            </a:extLst>
          </p:cNvPr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EB26C5CC-5887-4191-BC00-B4BBD85A9AFC}"/>
              </a:ext>
            </a:extLst>
          </p:cNvPr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258F5FFE-7C49-46D3-A163-2EDEEDA471FE}"/>
              </a:ext>
            </a:extLst>
          </p:cNvPr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88C68E8-475C-4113-BA48-2830529E4DF3}"/>
              </a:ext>
            </a:extLst>
          </p:cNvPr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</a:p>
        </p:txBody>
      </p:sp>
    </p:spTree>
    <p:extLst>
      <p:ext uri="{BB962C8B-B14F-4D97-AF65-F5344CB8AC3E}">
        <p14:creationId xmlns:p14="http://schemas.microsoft.com/office/powerpoint/2010/main" val="1515971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F6846B8-6A34-4BAA-9BC6-D1B3C2CA9216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436048-77E1-49E0-B359-2A0FF4966252}"/>
              </a:ext>
            </a:extLst>
          </p:cNvPr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4142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F6846B8-6A34-4BAA-9BC6-D1B3C2CA9216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436048-77E1-49E0-B359-2A0FF4966252}"/>
              </a:ext>
            </a:extLst>
          </p:cNvPr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37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000250" y="1476375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2228850" y="164782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228850" y="2085975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整理并配置环境，生成</a:t>
            </a:r>
            <a:r>
              <a:rPr lang="en-US" altLang="zh-CN" sz="1350" b="0" dirty="0">
                <a:solidFill>
                  <a:srgbClr val="1F2D22"/>
                </a:solidFill>
              </a:rPr>
              <a:t>requirements</a:t>
            </a:r>
            <a:r>
              <a:rPr lang="zh-CN" altLang="en-US" sz="1350" b="0" dirty="0">
                <a:solidFill>
                  <a:srgbClr val="1F2D22"/>
                </a:solidFill>
              </a:rPr>
              <a:t>配置文件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部署本地嵌入模型</a:t>
            </a:r>
            <a:r>
              <a:rPr lang="zh-CN" altLang="zh-CN" sz="1350" dirty="0"/>
              <a:t>BAAI/bge-small-zh-v1.5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支持</a:t>
            </a:r>
            <a:r>
              <a:rPr lang="en-US" altLang="zh-CN" sz="1350" dirty="0" err="1">
                <a:solidFill>
                  <a:srgbClr val="1F2D22"/>
                </a:solidFill>
              </a:rPr>
              <a:t>deepseek</a:t>
            </a:r>
            <a:r>
              <a:rPr lang="zh-CN" altLang="en-US" sz="1350" dirty="0">
                <a:solidFill>
                  <a:srgbClr val="1F2D22"/>
                </a:solidFill>
              </a:rPr>
              <a:t>和</a:t>
            </a:r>
            <a:r>
              <a:rPr lang="en-US" altLang="zh-CN" sz="1350" dirty="0">
                <a:solidFill>
                  <a:srgbClr val="1F2D22"/>
                </a:solidFill>
              </a:rPr>
              <a:t>Qwen</a:t>
            </a:r>
            <a:r>
              <a:rPr lang="zh-CN" altLang="en-US" sz="1350" dirty="0">
                <a:solidFill>
                  <a:srgbClr val="1F2D22"/>
                </a:solidFill>
              </a:rPr>
              <a:t>的</a:t>
            </a:r>
            <a:r>
              <a:rPr lang="en-US" altLang="zh-CN" sz="1350" dirty="0">
                <a:solidFill>
                  <a:srgbClr val="1F2D22"/>
                </a:solidFill>
              </a:rPr>
              <a:t>API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导入课程问答数据</a:t>
            </a: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项目环境开箱即用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模型开箱即用</a:t>
            </a: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1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  <a:endParaRPr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73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系统首页「数据概览」</a:t>
            </a:r>
            <a:r>
              <a:rPr lang="en-US" altLang="zh-CN" sz="1350" b="0">
                <a:solidFill>
                  <a:srgbClr val="1F2D22"/>
                </a:solidFill>
              </a:rPr>
              <a:t>Dashboard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顶部：</a:t>
            </a:r>
            <a:r>
              <a:rPr lang="en-US" altLang="zh-CN" sz="1350" b="0">
                <a:solidFill>
                  <a:srgbClr val="1F2D22"/>
                </a:solidFill>
              </a:rPr>
              <a:t>5 </a:t>
            </a:r>
            <a:r>
              <a:rPr lang="zh-CN" altLang="en-US" sz="1350" b="0">
                <a:solidFill>
                  <a:srgbClr val="1F2D22"/>
                </a:solidFill>
              </a:rPr>
              <a:t>张统计卡片（已导入文档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已分块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已嵌入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向量库集合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检索记录）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下方：文档列表区，含搜索筛选、单条删除、批量删除功能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点击卡片切换视图，选中高亮，无路由跳转</a:t>
            </a:r>
            <a:endParaRPr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并发请求</a:t>
            </a:r>
            <a:r>
              <a:rPr lang="en-US" altLang="zh-CN" sz="1350" b="0">
                <a:solidFill>
                  <a:srgbClr val="1F2D22"/>
                </a:solidFill>
              </a:rPr>
              <a:t> 5 </a:t>
            </a:r>
            <a:r>
              <a:rPr lang="zh-CN" altLang="en-US" sz="1350" b="0">
                <a:solidFill>
                  <a:srgbClr val="1F2D22"/>
                </a:solidFill>
              </a:rPr>
              <a:t>个</a:t>
            </a:r>
            <a:r>
              <a:rPr lang="en-US" altLang="zh-CN" sz="1350" b="0">
                <a:solidFill>
                  <a:srgbClr val="1F2D22"/>
                </a:solidFill>
              </a:rPr>
              <a:t>GET  API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点击统计卡片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切换下方文档列表视图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输入关键词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前端实时过滤列表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删除的确认弹窗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调用</a:t>
            </a:r>
            <a:r>
              <a:rPr lang="en-US" altLang="zh-CN" sz="1350" b="0">
                <a:solidFill>
                  <a:srgbClr val="1F2D22"/>
                </a:solidFill>
              </a:rPr>
              <a:t> DELETE API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刷新数据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一站式查看</a:t>
            </a:r>
            <a:r>
              <a:rPr lang="en-US" altLang="zh-CN" sz="1350" b="0">
                <a:solidFill>
                  <a:srgbClr val="1F2D22"/>
                </a:solidFill>
              </a:rPr>
              <a:t> RAG </a:t>
            </a:r>
            <a:r>
              <a:rPr lang="zh-CN" altLang="en-US" sz="1350" b="0">
                <a:solidFill>
                  <a:srgbClr val="1F2D22"/>
                </a:solidFill>
              </a:rPr>
              <a:t>流水线各阶段数据状态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支持知识库文档的搜索、单条</a:t>
            </a:r>
            <a:r>
              <a:rPr lang="en-US" altLang="zh-CN" sz="1350" b="0">
                <a:solidFill>
                  <a:srgbClr val="1F2D22"/>
                </a:solidFill>
              </a:rPr>
              <a:t>/</a:t>
            </a:r>
            <a:r>
              <a:rPr lang="zh-CN" altLang="en-US" sz="1350" b="0">
                <a:solidFill>
                  <a:srgbClr val="1F2D22"/>
                </a:solidFill>
              </a:rPr>
              <a:t>批量删除管理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纯</a:t>
            </a:r>
            <a:r>
              <a:rPr lang="en-US" altLang="zh-CN" sz="1350" b="0">
                <a:solidFill>
                  <a:srgbClr val="1F2D22"/>
                </a:solidFill>
              </a:rPr>
              <a:t> Tailwind CSS </a:t>
            </a:r>
            <a:r>
              <a:rPr lang="zh-CN" altLang="en-US" sz="1350" b="0">
                <a:solidFill>
                  <a:srgbClr val="1F2D22"/>
                </a:solidFill>
              </a:rPr>
              <a:t>实现，零额外依赖，加载快速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/>
                <a:ea typeface="STZhongsong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2598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AE95B23-90A2-47EB-9DB0-EF921EB2D2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42F653-EC31-48A4-A29A-2DDE93A0D539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BD7F060-279B-476B-ADD0-60F9D22D690F}"/>
              </a:ext>
            </a:extLst>
          </p:cNvPr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B9DCD3-3DCB-492D-A18F-7F83A194A750}"/>
              </a:ext>
            </a:extLst>
          </p:cNvPr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文件解析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E76C44-57B2-4BCD-969D-2F43D77383C3}"/>
              </a:ext>
            </a:extLst>
          </p:cNvPr>
          <p:cNvSpPr>
            <a:spLocks noGrp="1"/>
          </p:cNvSpPr>
          <p:nvPr/>
        </p:nvSpPr>
        <p:spPr>
          <a:xfrm>
            <a:off x="1634067" y="2091531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新增了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structured_blocks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解析模式，把论文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PDF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解析成统一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结构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基于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PyMuPDF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提取版面块、字号、粗体、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bbox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、列信息</a:t>
            </a: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过滤重复页眉页脚噪声，精确分类为正确的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类别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4797A82-E8A1-4FD5-A480-1468A75DCB41}"/>
              </a:ext>
            </a:extLst>
          </p:cNvPr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AF760D5-7BD6-4703-9C53-D0A2A5E3F7A2}"/>
              </a:ext>
            </a:extLst>
          </p:cNvPr>
          <p:cNvSpPr>
            <a:spLocks noGrp="1"/>
          </p:cNvSpPr>
          <p:nvPr/>
        </p:nvSpPr>
        <p:spPr>
          <a:xfrm>
            <a:off x="1634067" y="436245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知识分块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ECD07B-701D-4861-812E-B364FA3E3C92}"/>
              </a:ext>
            </a:extLst>
          </p:cNvPr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按解析块分块：基本一个结构块生成一个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chunk</a:t>
            </a: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按章节分块：先按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section_path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聚合同章节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，再按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chunk_size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做递归切分</a:t>
            </a:r>
          </a:p>
        </p:txBody>
      </p:sp>
    </p:spTree>
    <p:extLst>
      <p:ext uri="{BB962C8B-B14F-4D97-AF65-F5344CB8AC3E}">
        <p14:creationId xmlns:p14="http://schemas.microsoft.com/office/powerpoint/2010/main" val="1941770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/>
                <a:ea typeface="STZhongsong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9448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49C5998F-8D86-4862-8469-086DC51039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14062F-B6B3-42D0-923B-A7424561BC77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221659-10CA-473D-B608-E2633E14E235}"/>
              </a:ext>
            </a:extLst>
          </p:cNvPr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26CC3-10C1-4780-ADEA-D2C23EB4593B}"/>
              </a:ext>
            </a:extLst>
          </p:cNvPr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Faiss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0F903FA-7735-436D-AA14-6FDE08DB3204}"/>
              </a:ext>
            </a:extLst>
          </p:cNvPr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替换 / 增强向量检索底座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63DCCE-58D8-46C2-8CD3-78F707B6307B}"/>
              </a:ext>
            </a:extLst>
          </p:cNvPr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E864F01-824A-4742-BCDE-992C14CE649A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多检索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2E654C1-4FDB-491C-8E0F-675E749870C4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支持多种召回方式并行比较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D0BD11-F236-4FBA-8154-83D3D2A1D76A}"/>
              </a:ext>
            </a:extLst>
          </p:cNvPr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12BFA7-42DC-4404-8442-3A427F38924F}"/>
              </a:ext>
            </a:extLst>
          </p:cNvPr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583150-E769-40CD-B44A-9B1246362845}"/>
              </a:ext>
            </a:extLst>
          </p:cNvPr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索引与召回更灵活，检索能力明显增强。</a:t>
            </a:r>
          </a:p>
        </p:txBody>
      </p:sp>
    </p:spTree>
    <p:extLst>
      <p:ext uri="{BB962C8B-B14F-4D97-AF65-F5344CB8AC3E}">
        <p14:creationId xmlns:p14="http://schemas.microsoft.com/office/powerpoint/2010/main" val="3301625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580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CB19A068-375C-44CD-B486-A2E0564D99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EDCF9F-E0B5-4603-A825-182C7732172E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CCF3AAA-E565-49A5-9E5D-12AB5BEA2BCC}"/>
              </a:ext>
            </a:extLst>
          </p:cNvPr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C68CB8-D28B-4FBA-BFEE-BA369B649486}"/>
              </a:ext>
            </a:extLst>
          </p:cNvPr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F4B1FB-DFE4-43C7-98D1-891507107452}"/>
              </a:ext>
            </a:extLst>
          </p:cNvPr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查询优化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检索提示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问题改写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2F5307D-47AA-4496-B027-2EBC00B0661D}"/>
              </a:ext>
            </a:extLst>
          </p:cNvPr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ED42BD-464C-42DE-BDFA-1C3FED5B7ACA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检索后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96FB42-E968-4370-8713-7F8120653B23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自我反思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答案校正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5C669DF-CAC4-4D06-92B2-8A85E452067E}"/>
              </a:ext>
            </a:extLst>
          </p:cNvPr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A327DB0-DBD6-42E5-85A2-3C88543BC4E9}"/>
              </a:ext>
            </a:extLst>
          </p:cNvPr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结果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7E24D30-F662-4C81-B43C-F0978EE590E4}"/>
              </a:ext>
            </a:extLst>
          </p:cNvPr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提高结果准确性</a:t>
            </a:r>
            <a:r>
              <a:rPr sz="2000" dirty="0">
                <a:solidFill>
                  <a:srgbClr val="1F2D22"/>
                </a:solidFill>
                <a:latin typeface="ui-monospace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620879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8D1C4FE0-3CAF-4428-91B5-F4637A0F2702}"/>
              </a:ext>
            </a:extLst>
          </p:cNvPr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62FA069-8E92-4FF7-8119-1BBFAAE75D08}"/>
              </a:ext>
            </a:extLst>
          </p:cNvPr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583A319-A2E7-4817-AEA9-F2FED40256A2}"/>
              </a:ext>
            </a:extLst>
          </p:cNvPr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F76FFC3-0B4B-4F04-B150-F2537BA4A393}"/>
              </a:ext>
            </a:extLst>
          </p:cNvPr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>
            <a:extLst>
              <a:ext uri="{FF2B5EF4-FFF2-40B4-BE49-F238E27FC236}">
                <a16:creationId xmlns:a16="http://schemas.microsoft.com/office/drawing/2014/main" id="{A258E667-FBBE-4E4A-A6ED-C1501840503E}"/>
              </a:ext>
            </a:extLst>
          </p:cNvPr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924DBAFA-088D-405C-BC4D-58F76E8EC34B}"/>
              </a:ext>
            </a:extLst>
          </p:cNvPr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026B5618-3673-422F-B68F-69144154F724}"/>
              </a:ext>
            </a:extLst>
          </p:cNvPr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5FDAC167-36A5-4CF7-BA84-E9C7B4803AF1}"/>
              </a:ext>
            </a:extLst>
          </p:cNvPr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609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351</Words>
  <Application>Microsoft Office PowerPoint</Application>
  <DocSecurity>0</DocSecurity>
  <PresentationFormat>宽屏</PresentationFormat>
  <Paragraphs>66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Color Emoji</vt:lpstr>
      <vt:lpstr>ui-monospace</vt:lpstr>
      <vt:lpstr>字魂17号-萌趣果冻体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嘉轩 李</cp:lastModifiedBy>
  <cp:revision>6</cp:revision>
  <dcterms:created xsi:type="dcterms:W3CDTF">2026-06-08T16:49:27Z</dcterms:created>
  <dcterms:modified xsi:type="dcterms:W3CDTF">2026-06-15T06:10:29Z</dcterms:modified>
</cp:coreProperties>
</file>