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73" r:id="rId3"/>
    <p:sldId id="258" r:id="rId4"/>
    <p:sldId id="260" r:id="rId5"/>
    <p:sldId id="274" r:id="rId6"/>
    <p:sldId id="276" r:id="rId7"/>
    <p:sldId id="277" r:id="rId8"/>
    <p:sldId id="262" r:id="rId9"/>
    <p:sldId id="263" r:id="rId10"/>
    <p:sldId id="270" r:id="rId11"/>
    <p:sldId id="259" r:id="rId12"/>
    <p:sldId id="271" r:id="rId13"/>
    <p:sldId id="264" r:id="rId14"/>
    <p:sldId id="272" r:id="rId15"/>
    <p:sldId id="261" r:id="rId16"/>
    <p:sldId id="278" r:id="rId17"/>
    <p:sldId id="279" r:id="rId18"/>
    <p:sldId id="268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STZhongsong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0083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17EDB-D4CB-2243-53CF-A0C5A275C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CF1735-152C-F705-8774-2BC6DA6082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799527-331A-AAD1-3D3A-FD789856D6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80789-788A-04A3-FD44-79AB00AE0FD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26526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A63F2-5107-130F-4955-6775C4046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3D1C4-4AF1-C94B-B6AD-9C9E7D4ECC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48AA87-4150-9FF1-65B5-394E33EB14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033AE-A701-A09C-94C6-9DFA8B933B9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14658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928E6-7D44-3906-7CED-972C17F6F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2AFAA0-1F63-6A85-60EE-8AF1B237C4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8D5434-5297-C859-0033-D40401EF8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5CC0B-DB9D-910B-F658-5674DA72E94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369644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STZhongsong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10210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STZhongsong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7384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STZhongsong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79670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STZhongsong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21274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86248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72F6E9-A7DB-4EE5-BABD-C7E4FC052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C7CD555-0E7D-46E3-A92B-ED861A2C05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574459-61E1-4D49-AC46-970CF986C1F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653A8F1-9EDF-49EF-A14D-E495AD864F8A}" type="datetimeFigureOut">
              <a:t>2026/6/16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FC7371-B810-4A27-98BE-F850FC6012E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9F63B2-4215-4D56-9E34-DDA0D38A72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3A13857-8FE2-426A-A37B-64DF65062EF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FD4038-7C43-439E-9BD7-248A93D25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80561D-23F9-45ED-9106-108A882EE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BB6EB5-840B-4BFD-9D08-BB6EC56200B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653A8F1-9EDF-49EF-A14D-E495AD864F8A}" type="datetimeFigureOut">
              <a:t>2026/6/16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D1123A-754E-496D-8CE0-FD9B6A70995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F39AEC-6527-4E30-86C4-9AA752E0CB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3A13857-8FE2-426A-A37B-64DF65062EF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C9BF6A-5393-4D5D-8AEE-1B81D083E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E6E325-8421-4FE8-AF29-E302A1DBB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816A9D-26EF-40AC-B308-2D7A2757778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653A8F1-9EDF-49EF-A14D-E495AD864F8A}" type="datetimeFigureOut">
              <a:t>2026/6/16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BB73DC-B2C0-4909-8318-3659735A885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CF43A9-C7FC-4B98-BBF3-AE947E3BD8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3A13857-8FE2-426A-A37B-64DF65062EF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D80635-DB14-48F9-9272-CE69DF4BC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7C7ABE-BA6F-45B7-9B69-996A42252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5D180F-2FC4-4937-8120-1E810EEF044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D37408-0507-4932-92BE-35D30B50AA1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653A8F1-9EDF-49EF-A14D-E495AD864F8A}" type="datetimeFigureOut">
              <a:t>2026/6/16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F0B637-EFF2-46E7-A07C-60F2990559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623D48-9D66-4919-847B-1A5AEB5134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3A13857-8FE2-426A-A37B-64DF65062EF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1CFE67-D30D-4B22-889C-55C816B46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8C4D59-EF31-4FBE-BC9A-9A5EBA0C0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EA7E20-2BEF-4705-B668-41BA3AFD3BA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17528E1-74F4-47FF-AFB0-0FFA9CDEB98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DEC6AD9-641D-4C8D-A3A9-8035C6C53F32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884D206-1519-40EE-83EF-96FCCF73CA6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653A8F1-9EDF-49EF-A14D-E495AD864F8A}" type="datetimeFigureOut">
              <a:t>2026/6/16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39ADFE1-CDE2-4D74-8221-13526DF8EE3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7341B9C-7226-489F-A04C-0A343671B0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3A13857-8FE2-426A-A37B-64DF65062EF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EB7912-49CA-483F-9076-E0D2F23E2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595294-2A25-490E-AB14-A95C1633F57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653A8F1-9EDF-49EF-A14D-E495AD864F8A}" type="datetimeFigureOut">
              <a:t>2026/6/16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12734D-7EAD-4F31-B03F-D200B6C39A6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F73709D-D57A-41FB-A534-0FABF34C0A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3A13857-8FE2-426A-A37B-64DF65062EF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B5A0B8B-32A0-4BD3-9321-DF4BD5F3F60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653A8F1-9EDF-49EF-A14D-E495AD864F8A}" type="datetimeFigureOut">
              <a:t>2026/6/16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13455FE-1521-43F5-9A46-B1AEDBCC0AC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D8DFAB-D0F3-4614-AD41-3038E3A128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3A13857-8FE2-426A-A37B-64DF65062EF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63CC7-5A86-4D8F-BF0F-CF3DB480D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6D0E11-DA2E-4B3F-BD08-E5C7E284A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36FB98-781E-49FA-B0A7-F8EEFF1D180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69D888-3303-4386-8D33-ECD52F3AA74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653A8F1-9EDF-49EF-A14D-E495AD864F8A}" type="datetimeFigureOut">
              <a:t>2026/6/16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D7732A-D768-4DA1-8E7D-D5193634346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07DCDD-B55B-4694-95B1-D1C5B1EE04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3A13857-8FE2-426A-A37B-64DF65062EF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C333A5-B233-4BE5-A80D-E5BABEA42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690864D-645E-4F31-A4AF-C0E25FE29E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107EF1-54F5-42F7-A644-5A50AA46D31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B5786B-734D-4F2D-8500-8303049D9D5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653A8F1-9EDF-49EF-A14D-E495AD864F8A}" type="datetimeFigureOut">
              <a:t>2026/6/16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4F483E-5FEC-4176-8928-650AFEA3790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850916-12F4-40B6-9054-339E1445A3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3A13857-8FE2-426A-A37B-64DF65062EF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830027-6BA9-4579-8EDD-089953EF2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1ACF89-9A2E-450D-8BFB-C9CB9E1C22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79072A-6014-4B4E-A18D-0372B1C5182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653A8F1-9EDF-49EF-A14D-E495AD864F8A}" type="datetimeFigureOut">
              <a:t>2026/6/16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FDF371-B7AE-4241-BF00-12CAD6919B6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D76FD6-5D96-4706-B932-8EE5F104EC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3A13857-8FE2-426A-A37B-64DF65062EF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2F09CD8-5BBF-4E8A-9BF8-28D43A1CF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555FEEC-FD82-4242-8E24-AE155E715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7CC20B-95BA-468A-99C5-C46FB84761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653A8F1-9EDF-49EF-A14D-E495AD864F8A}" type="datetimeFigureOut">
              <a:t>2026/6/16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DF5F36-97DD-451C-B825-5DDC6F6AB61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007A96-BE60-43F1-8235-C37C0D91E5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3A13857-8FE2-426A-A37B-64DF65062EF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E41609F-3331-439D-B0F8-1F25E8EB9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E24023-1CA4-4BDC-8DC5-1C11F41C7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CE8571-A74E-415B-8900-450A14D4097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3A8F1-9EDF-49EF-A14D-E495AD864F8A}" type="datetimeFigureOut">
              <a:t>2026/6/16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18B585-8404-477C-9FB7-0443696D314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870DD4-577D-45D7-925C-1776615E4D1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13857-8FE2-426A-A37B-64DF65062EF2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40D35B1-31AE-46E4-AD38-CE2127573BCF}"/>
              </a:ext>
            </a:extLst>
          </p:cNvPr>
          <p:cNvSpPr>
            <a:spLocks noGrp="1"/>
          </p:cNvSpPr>
          <p:nvPr/>
        </p:nvSpPr>
        <p:spPr>
          <a:xfrm>
            <a:off x="0" y="1322656"/>
            <a:ext cx="12192000" cy="4212688"/>
          </a:xfrm>
          <a:prstGeom prst="rect">
            <a:avLst/>
          </a:prstGeom>
          <a:solidFill>
            <a:srgbClr val="253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1009F98-A134-45A8-957A-C46581E6DDEA}"/>
              </a:ext>
            </a:extLst>
          </p:cNvPr>
          <p:cNvSpPr>
            <a:spLocks noGrp="1"/>
          </p:cNvSpPr>
          <p:nvPr/>
        </p:nvSpPr>
        <p:spPr>
          <a:xfrm>
            <a:off x="3744435" y="1739250"/>
            <a:ext cx="590453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zh-CN" sz="4400" dirty="0" err="1">
                <a:solidFill>
                  <a:schemeClr val="bg1"/>
                </a:solidFill>
                <a:latin typeface="字魂17号-萌趣果冻体"/>
                <a:ea typeface="字魂17号-萌趣果冻体"/>
                <a:cs typeface="字魂17号-萌趣果冻体"/>
              </a:rPr>
              <a:t>Myrag</a:t>
            </a:r>
            <a:r>
              <a:rPr lang="zh-CN" altLang="en-US" sz="4400" dirty="0">
                <a:solidFill>
                  <a:schemeClr val="bg1"/>
                </a:solidFill>
                <a:latin typeface="字魂17号-萌趣果冻体"/>
                <a:ea typeface="字魂17号-萌趣果冻体"/>
                <a:cs typeface="字魂17号-萌趣果冻体"/>
              </a:rPr>
              <a:t>总结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85B0D77-90F1-4E5A-ACB5-8D0FFD5681A8}"/>
              </a:ext>
            </a:extLst>
          </p:cNvPr>
          <p:cNvSpPr>
            <a:spLocks noGrp="1"/>
          </p:cNvSpPr>
          <p:nvPr/>
        </p:nvSpPr>
        <p:spPr>
          <a:xfrm>
            <a:off x="2845308" y="2607167"/>
            <a:ext cx="668307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zh-CN" altLang="en-US" sz="6000" dirty="0">
                <a:solidFill>
                  <a:schemeClr val="bg1"/>
                </a:solidFill>
              </a:rPr>
              <a:t>检索增强生成成员贡献总结</a:t>
            </a:r>
            <a:endParaRPr sz="6000" dirty="0">
              <a:solidFill>
                <a:schemeClr val="bg1"/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FC386E4F-7907-4FDD-B3B9-E3127F053484}"/>
              </a:ext>
            </a:extLst>
          </p:cNvPr>
          <p:cNvSpPr>
            <a:spLocks noGrp="1"/>
          </p:cNvSpPr>
          <p:nvPr/>
        </p:nvSpPr>
        <p:spPr>
          <a:xfrm>
            <a:off x="249709" y="3223401"/>
            <a:ext cx="449489" cy="44948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等腰三角形 12">
            <a:extLst>
              <a:ext uri="{FF2B5EF4-FFF2-40B4-BE49-F238E27FC236}">
                <a16:creationId xmlns:a16="http://schemas.microsoft.com/office/drawing/2014/main" id="{ADBB85B5-2B68-44EC-837A-7CF86BE98265}"/>
              </a:ext>
            </a:extLst>
          </p:cNvPr>
          <p:cNvSpPr>
            <a:spLocks noGrp="1"/>
          </p:cNvSpPr>
          <p:nvPr/>
        </p:nvSpPr>
        <p:spPr>
          <a:xfrm rot="16200000">
            <a:off x="345362" y="3365602"/>
            <a:ext cx="191501" cy="165087"/>
          </a:xfrm>
          <a:prstGeom prst="triangle">
            <a:avLst/>
          </a:prstGeom>
          <a:solidFill>
            <a:srgbClr val="2B1D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817E4FC-2B81-474B-A08F-73CA0FE7F988}"/>
              </a:ext>
            </a:extLst>
          </p:cNvPr>
          <p:cNvSpPr>
            <a:spLocks noGrp="1"/>
          </p:cNvSpPr>
          <p:nvPr/>
        </p:nvSpPr>
        <p:spPr>
          <a:xfrm flipH="1">
            <a:off x="10993393" y="3185111"/>
            <a:ext cx="449489" cy="44948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等腰三角形 16">
            <a:extLst>
              <a:ext uri="{FF2B5EF4-FFF2-40B4-BE49-F238E27FC236}">
                <a16:creationId xmlns:a16="http://schemas.microsoft.com/office/drawing/2014/main" id="{EB26C5CC-5887-4191-BC00-B4BBD85A9AFC}"/>
              </a:ext>
            </a:extLst>
          </p:cNvPr>
          <p:cNvSpPr>
            <a:spLocks noGrp="1"/>
          </p:cNvSpPr>
          <p:nvPr/>
        </p:nvSpPr>
        <p:spPr>
          <a:xfrm rot="16200000" flipH="1">
            <a:off x="11039843" y="3342387"/>
            <a:ext cx="191501" cy="165087"/>
          </a:xfrm>
          <a:prstGeom prst="triangle">
            <a:avLst/>
          </a:prstGeom>
          <a:solidFill>
            <a:srgbClr val="2B1D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258F5FFE-7C49-46D3-A163-2EDEEDA471FE}"/>
              </a:ext>
            </a:extLst>
          </p:cNvPr>
          <p:cNvSpPr>
            <a:spLocks noGrp="1"/>
          </p:cNvSpPr>
          <p:nvPr/>
        </p:nvSpPr>
        <p:spPr>
          <a:xfrm>
            <a:off x="4018164" y="1584250"/>
            <a:ext cx="1066959" cy="1015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5964" y="1418612"/>
            <a:ext cx="1364080" cy="134677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88C68E8-475C-4113-BA48-2830529E4DF3}"/>
              </a:ext>
            </a:extLst>
          </p:cNvPr>
          <p:cNvSpPr txBox="1"/>
          <p:nvPr/>
        </p:nvSpPr>
        <p:spPr>
          <a:xfrm>
            <a:off x="2845308" y="4772967"/>
            <a:ext cx="7002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小组成员：李嘉轩 刘义群 王秀崧 汤语涵 谢羿衡 唐熙雷 邢泽雷</a:t>
            </a:r>
          </a:p>
        </p:txBody>
      </p:sp>
    </p:spTree>
    <p:extLst>
      <p:ext uri="{BB962C8B-B14F-4D97-AF65-F5344CB8AC3E}">
        <p14:creationId xmlns:p14="http://schemas.microsoft.com/office/powerpoint/2010/main" val="1515971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F6846B8-6A34-4BAA-9BC6-D1B3C2CA9216}"/>
              </a:ext>
            </a:extLst>
          </p:cNvPr>
          <p:cNvSpPr>
            <a:spLocks noGrp="1"/>
          </p:cNvSpPr>
          <p:nvPr/>
        </p:nvSpPr>
        <p:spPr>
          <a:xfrm>
            <a:off x="2614979" y="2321005"/>
            <a:ext cx="2604077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800" b="0" i="0" u="none" strike="noStrike" kern="1200" cap="none" spc="0" normalizeH="0" baseline="0" noProof="0" dirty="0">
                <a:ln>
                  <a:noFill/>
                </a:ln>
                <a:solidFill>
                  <a:srgbClr val="F5F4F9"/>
                </a:solidFill>
                <a:effectLst/>
                <a:uLnTx/>
                <a:uFillTx/>
                <a:latin typeface="Arial"/>
                <a:ea typeface="STZhongsong"/>
                <a:cs typeface="+mn-cs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E436048-77E1-49E0-B359-2A0FF4966252}"/>
              </a:ext>
            </a:extLst>
          </p:cNvPr>
          <p:cNvSpPr>
            <a:spLocks noGrp="1"/>
          </p:cNvSpPr>
          <p:nvPr/>
        </p:nvSpPr>
        <p:spPr>
          <a:xfrm>
            <a:off x="5571876" y="2630302"/>
            <a:ext cx="357662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5F4F9"/>
                </a:solidFill>
                <a:effectLst/>
                <a:uLnTx/>
                <a:uFillTx/>
                <a:latin typeface="Arial"/>
                <a:ea typeface="STZhongsong"/>
                <a:cs typeface="+mn-cs"/>
              </a:rPr>
              <a:t>组内评分</a:t>
            </a:r>
            <a:endParaRPr kumimoji="0" sz="6600" b="1" i="0" u="none" strike="noStrike" kern="1200" cap="none" spc="0" normalizeH="0" baseline="0" noProof="0" dirty="0">
              <a:ln>
                <a:noFill/>
              </a:ln>
              <a:solidFill>
                <a:srgbClr val="F5F4F9"/>
              </a:solidFill>
              <a:effectLst/>
              <a:uLnTx/>
              <a:uFillTx/>
              <a:latin typeface="Arial"/>
              <a:ea typeface="STZhongsong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4142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F6846B8-6A34-4BAA-9BC6-D1B3C2CA9216}"/>
              </a:ext>
            </a:extLst>
          </p:cNvPr>
          <p:cNvSpPr>
            <a:spLocks noGrp="1"/>
          </p:cNvSpPr>
          <p:nvPr/>
        </p:nvSpPr>
        <p:spPr>
          <a:xfrm>
            <a:off x="2614979" y="2321005"/>
            <a:ext cx="2604077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3800" dirty="0">
                <a:solidFill>
                  <a:srgbClr val="F5F4F9"/>
                </a:solidFill>
              </a:rPr>
              <a:t>0</a:t>
            </a:r>
            <a:r>
              <a:rPr lang="en-US" sz="13800" dirty="0">
                <a:solidFill>
                  <a:srgbClr val="F5F4F9"/>
                </a:solidFill>
              </a:rPr>
              <a:t>2</a:t>
            </a:r>
            <a:endParaRPr sz="13800" dirty="0">
              <a:solidFill>
                <a:srgbClr val="F5F4F9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E436048-77E1-49E0-B359-2A0FF4966252}"/>
              </a:ext>
            </a:extLst>
          </p:cNvPr>
          <p:cNvSpPr>
            <a:spLocks noGrp="1"/>
          </p:cNvSpPr>
          <p:nvPr/>
        </p:nvSpPr>
        <p:spPr>
          <a:xfrm>
            <a:off x="5995868" y="2630302"/>
            <a:ext cx="272863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F5F4F9"/>
                </a:solidFill>
              </a:rPr>
              <a:t>王秀崧</a:t>
            </a:r>
            <a:endParaRPr sz="6600" b="1" dirty="0">
              <a:solidFill>
                <a:srgbClr val="F5F4F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137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4A33"/>
          </a:solidFill>
          <a:ln w="0">
            <a:solidFill>
              <a:srgbClr val="2D4A33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62000" y="400050"/>
            <a:ext cx="10668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2550" b="1">
                <a:solidFill>
                  <a:srgbClr val="2D4A33"/>
                </a:solidFill>
              </a:defRPr>
            </a:pPr>
            <a:r>
              <a:rPr lang="zh-CN" altLang="en-US" sz="2550" b="1" dirty="0">
                <a:solidFill>
                  <a:srgbClr val="2D4A33"/>
                </a:solidFill>
              </a:rPr>
              <a:t>王秀崧</a:t>
            </a:r>
            <a:endParaRPr sz="2550" b="1" dirty="0">
              <a:solidFill>
                <a:srgbClr val="2D4A3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2000250" y="1476375"/>
            <a:ext cx="47625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4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2228850" y="1647825"/>
            <a:ext cx="4305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D4A33"/>
                </a:solidFill>
              </a:defRPr>
            </a:pPr>
            <a:r>
              <a:rPr lang="zh-CN" altLang="en-US" sz="1650" b="1" dirty="0">
                <a:solidFill>
                  <a:srgbClr val="2D4A33"/>
                </a:solidFill>
              </a:rPr>
              <a:t>调试</a:t>
            </a:r>
            <a:endParaRPr sz="1650" b="1" dirty="0">
              <a:solidFill>
                <a:srgbClr val="2D4A33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228850" y="2085975"/>
            <a:ext cx="43053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altLang="en-US" sz="1350" b="0" dirty="0">
                <a:solidFill>
                  <a:srgbClr val="1F2D22"/>
                </a:solidFill>
              </a:rPr>
              <a:t>整理并配置环境，生成</a:t>
            </a:r>
            <a:r>
              <a:rPr lang="en-US" altLang="zh-CN" sz="1350" b="0" dirty="0">
                <a:solidFill>
                  <a:srgbClr val="1F2D22"/>
                </a:solidFill>
              </a:rPr>
              <a:t>requirements</a:t>
            </a:r>
            <a:r>
              <a:rPr lang="zh-CN" altLang="en-US" sz="1350" b="0" dirty="0">
                <a:solidFill>
                  <a:srgbClr val="1F2D22"/>
                </a:solidFill>
              </a:rPr>
              <a:t>配置文件</a:t>
            </a:r>
            <a:endParaRPr lang="en-US" altLang="zh-CN" sz="1350" b="0" dirty="0">
              <a:solidFill>
                <a:srgbClr val="1F2D22"/>
              </a:solidFill>
            </a:endParaRPr>
          </a:p>
          <a:p>
            <a:pPr>
              <a:defRPr sz="1350" b="0">
                <a:solidFill>
                  <a:srgbClr val="1F2D22"/>
                </a:solidFill>
              </a:defRPr>
            </a:pPr>
            <a:r>
              <a:rPr lang="zh-CN" altLang="en-US" sz="1350" dirty="0">
                <a:solidFill>
                  <a:srgbClr val="1F2D22"/>
                </a:solidFill>
              </a:rPr>
              <a:t>部署本地嵌入模型</a:t>
            </a:r>
            <a:r>
              <a:rPr lang="zh-CN" altLang="zh-CN" sz="1350" dirty="0"/>
              <a:t>BAAI/bge-small-zh-v1.5</a:t>
            </a:r>
            <a:endParaRPr lang="en-US" altLang="zh-CN" sz="1350" dirty="0">
              <a:solidFill>
                <a:srgbClr val="1F2D22"/>
              </a:solidFill>
            </a:endParaRPr>
          </a:p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altLang="en-US" sz="1350" dirty="0">
                <a:solidFill>
                  <a:srgbClr val="1F2D22"/>
                </a:solidFill>
              </a:rPr>
              <a:t>支持</a:t>
            </a:r>
            <a:r>
              <a:rPr lang="en-US" altLang="zh-CN" sz="1350" dirty="0" err="1">
                <a:solidFill>
                  <a:srgbClr val="1F2D22"/>
                </a:solidFill>
              </a:rPr>
              <a:t>deepseek</a:t>
            </a:r>
            <a:r>
              <a:rPr lang="zh-CN" altLang="en-US" sz="1350" dirty="0">
                <a:solidFill>
                  <a:srgbClr val="1F2D22"/>
                </a:solidFill>
              </a:rPr>
              <a:t>和</a:t>
            </a:r>
            <a:r>
              <a:rPr lang="en-US" altLang="zh-CN" sz="1350" dirty="0">
                <a:solidFill>
                  <a:srgbClr val="1F2D22"/>
                </a:solidFill>
              </a:rPr>
              <a:t>Qwen</a:t>
            </a:r>
            <a:r>
              <a:rPr lang="zh-CN" altLang="en-US" sz="1350" dirty="0">
                <a:solidFill>
                  <a:srgbClr val="1F2D22"/>
                </a:solidFill>
              </a:rPr>
              <a:t>的</a:t>
            </a:r>
            <a:r>
              <a:rPr lang="en-US" altLang="zh-CN" sz="1350" dirty="0">
                <a:solidFill>
                  <a:srgbClr val="1F2D22"/>
                </a:solidFill>
              </a:rPr>
              <a:t>API</a:t>
            </a:r>
          </a:p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altLang="en-US" sz="1350" b="0" dirty="0">
                <a:solidFill>
                  <a:srgbClr val="1F2D22"/>
                </a:solidFill>
              </a:rPr>
              <a:t>导入课程问答数据</a:t>
            </a:r>
            <a:endParaRPr sz="1350" b="0" dirty="0">
              <a:solidFill>
                <a:srgbClr val="1F2D22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000250" y="3714750"/>
            <a:ext cx="8191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228850" y="3886200"/>
            <a:ext cx="7734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D4A33"/>
                </a:solidFill>
              </a:defRPr>
            </a:pPr>
            <a:r>
              <a:rPr sz="1650" b="1">
                <a:solidFill>
                  <a:srgbClr val="2D4A33"/>
                </a:solidFill>
              </a:rPr>
              <a:t>结果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228850" y="4324350"/>
            <a:ext cx="77343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altLang="en-US" sz="1350" b="0" dirty="0">
                <a:solidFill>
                  <a:srgbClr val="1F2D22"/>
                </a:solidFill>
              </a:rPr>
              <a:t>消除部署过程中的环境依赖问题项目，环境开箱即用</a:t>
            </a:r>
            <a:endParaRPr lang="en-US" altLang="zh-CN" sz="1350" b="0" dirty="0">
              <a:solidFill>
                <a:srgbClr val="1F2D22"/>
              </a:solidFill>
            </a:endParaRPr>
          </a:p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altLang="en-US" sz="1350" dirty="0">
                <a:solidFill>
                  <a:srgbClr val="1F2D22"/>
                </a:solidFill>
              </a:rPr>
              <a:t>嵌入模型和大语言模型开箱即用</a:t>
            </a:r>
            <a:endParaRPr lang="en-US" altLang="zh-CN" sz="1350" dirty="0">
              <a:solidFill>
                <a:srgbClr val="1F2D22"/>
              </a:solidFill>
            </a:endParaRPr>
          </a:p>
          <a:p>
            <a:pPr algn="l">
              <a:defRPr sz="1350" b="0">
                <a:solidFill>
                  <a:srgbClr val="1F2D22"/>
                </a:solidFill>
              </a:defRPr>
            </a:pPr>
            <a:endParaRPr sz="1350" b="0" dirty="0">
              <a:solidFill>
                <a:srgbClr val="1F2D2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84291-61E8-C166-69F2-55BED5444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3179BFBF-CB10-1515-9976-F4881809D0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4A33"/>
          </a:solidFill>
          <a:ln w="0">
            <a:solidFill>
              <a:srgbClr val="2D4A33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15BD8E1-4A07-86F8-A24B-DD8AA200120B}"/>
              </a:ext>
            </a:extLst>
          </p:cNvPr>
          <p:cNvSpPr>
            <a:spLocks noGrp="1"/>
          </p:cNvSpPr>
          <p:nvPr/>
        </p:nvSpPr>
        <p:spPr>
          <a:xfrm>
            <a:off x="762000" y="400050"/>
            <a:ext cx="10668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2550" b="1">
                <a:solidFill>
                  <a:srgbClr val="2D4A33"/>
                </a:solidFill>
              </a:defRPr>
            </a:pPr>
            <a:r>
              <a:rPr lang="zh-CN" altLang="en-US" sz="2550" b="1" dirty="0">
                <a:solidFill>
                  <a:srgbClr val="2D4A33"/>
                </a:solidFill>
              </a:rPr>
              <a:t>项目界面演示</a:t>
            </a:r>
            <a:endParaRPr sz="2550" b="1" dirty="0">
              <a:solidFill>
                <a:srgbClr val="2D4A33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8572E09-49AE-C729-E7F9-134B225BF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632" y="857250"/>
            <a:ext cx="10532736" cy="5805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664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4B2DA-E618-2815-E839-C9B5B095E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E6E9BBE4-51BA-CCE7-EB4F-177E7A10C6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4A33"/>
          </a:solidFill>
          <a:ln w="0">
            <a:solidFill>
              <a:srgbClr val="2D4A33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F6FC7A-C110-D682-D687-CA93D2D5128F}"/>
              </a:ext>
            </a:extLst>
          </p:cNvPr>
          <p:cNvSpPr>
            <a:spLocks noGrp="1"/>
          </p:cNvSpPr>
          <p:nvPr/>
        </p:nvSpPr>
        <p:spPr>
          <a:xfrm>
            <a:off x="762000" y="400050"/>
            <a:ext cx="10668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2550" b="1">
                <a:solidFill>
                  <a:srgbClr val="2D4A33"/>
                </a:solidFill>
              </a:defRPr>
            </a:pPr>
            <a:r>
              <a:rPr lang="zh-CN" altLang="en-US" sz="2550" b="1" dirty="0">
                <a:solidFill>
                  <a:srgbClr val="2D4A33"/>
                </a:solidFill>
              </a:rPr>
              <a:t>嵌入模型演示</a:t>
            </a:r>
            <a:endParaRPr sz="2550" b="1" dirty="0">
              <a:solidFill>
                <a:srgbClr val="2D4A33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E3AC917-7EA2-BE82-F887-25B14163A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984" y="857250"/>
            <a:ext cx="10410032" cy="573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367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DDB41-2C70-E31A-AD40-785BA3B9D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97D67701-D833-E84C-260A-E4253B545D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4A33"/>
          </a:solidFill>
          <a:ln w="0">
            <a:solidFill>
              <a:srgbClr val="2D4A33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C5312F8-9F62-B5C1-5D8F-50AB97A0633D}"/>
              </a:ext>
            </a:extLst>
          </p:cNvPr>
          <p:cNvSpPr>
            <a:spLocks noGrp="1"/>
          </p:cNvSpPr>
          <p:nvPr/>
        </p:nvSpPr>
        <p:spPr>
          <a:xfrm>
            <a:off x="762000" y="400050"/>
            <a:ext cx="10668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2550" b="1">
                <a:solidFill>
                  <a:srgbClr val="2D4A33"/>
                </a:solidFill>
              </a:defRPr>
            </a:pPr>
            <a:r>
              <a:rPr lang="zh-CN" altLang="en-US" sz="2550" b="1" dirty="0">
                <a:solidFill>
                  <a:srgbClr val="2D4A33"/>
                </a:solidFill>
              </a:rPr>
              <a:t>大模型生成演示</a:t>
            </a:r>
            <a:endParaRPr sz="2550" b="1" dirty="0">
              <a:solidFill>
                <a:srgbClr val="2D4A33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ABF733A-23C1-BBFD-1BC0-14678D180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582" y="857250"/>
            <a:ext cx="9550836" cy="5263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346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642171A4-C23A-4145-BED1-2E8834D0E5B1}"/>
              </a:ext>
            </a:extLst>
          </p:cNvPr>
          <p:cNvSpPr>
            <a:spLocks noGrp="1"/>
          </p:cNvSpPr>
          <p:nvPr/>
        </p:nvSpPr>
        <p:spPr>
          <a:xfrm>
            <a:off x="2614979" y="2321005"/>
            <a:ext cx="2604077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3800" dirty="0">
                <a:solidFill>
                  <a:srgbClr val="F5F4F9"/>
                </a:solidFill>
              </a:rPr>
              <a:t>0</a:t>
            </a:r>
            <a:r>
              <a:rPr lang="en-US" sz="13800" dirty="0">
                <a:solidFill>
                  <a:srgbClr val="F5F4F9"/>
                </a:solidFill>
              </a:rPr>
              <a:t>3</a:t>
            </a:r>
            <a:endParaRPr sz="13800" dirty="0">
              <a:solidFill>
                <a:srgbClr val="F5F4F9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38E2919-D9D9-4496-93DC-FD75812F9CF1}"/>
              </a:ext>
            </a:extLst>
          </p:cNvPr>
          <p:cNvSpPr>
            <a:spLocks noGrp="1"/>
          </p:cNvSpPr>
          <p:nvPr/>
        </p:nvSpPr>
        <p:spPr>
          <a:xfrm>
            <a:off x="6331761" y="2685166"/>
            <a:ext cx="226215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None/>
            </a:pPr>
            <a:r>
              <a:rPr lang="zh-CN" altLang="en-US" sz="5400" b="1" dirty="0">
                <a:solidFill>
                  <a:schemeClr val="bg1"/>
                </a:solidFill>
              </a:rPr>
              <a:t>刘义群</a:t>
            </a:r>
            <a:endParaRPr sz="5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73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4A33"/>
          </a:solidFill>
          <a:ln w="0">
            <a:solidFill>
              <a:srgbClr val="2D4A33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62000" y="400050"/>
            <a:ext cx="10668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2550" b="1">
                <a:solidFill>
                  <a:srgbClr val="2D4A33"/>
                </a:solidFill>
              </a:defRPr>
            </a:pPr>
            <a:r>
              <a:rPr lang="zh-CN" altLang="en-US" sz="2550" b="1" dirty="0">
                <a:solidFill>
                  <a:srgbClr val="2D4A33"/>
                </a:solidFill>
              </a:rPr>
              <a:t>刘义群</a:t>
            </a:r>
            <a:endParaRPr sz="2550" b="1" dirty="0">
              <a:solidFill>
                <a:srgbClr val="2D4A3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57250" y="1619250"/>
            <a:ext cx="476250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4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57605" y="1666875"/>
            <a:ext cx="4305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D4A33"/>
                </a:solidFill>
              </a:defRPr>
            </a:pPr>
            <a:r>
              <a:rPr sz="1650" b="1">
                <a:solidFill>
                  <a:srgbClr val="2D4A33"/>
                </a:solidFill>
              </a:rPr>
              <a:t>页面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57605" y="2228850"/>
            <a:ext cx="43053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altLang="en-US" sz="1350" b="0">
                <a:solidFill>
                  <a:srgbClr val="1F2D22"/>
                </a:solidFill>
              </a:rPr>
              <a:t>系统首页「数据概览」</a:t>
            </a:r>
            <a:r>
              <a:rPr lang="en-US" altLang="zh-CN" sz="1350" b="0">
                <a:solidFill>
                  <a:srgbClr val="1F2D22"/>
                </a:solidFill>
              </a:rPr>
              <a:t>Dashboard</a:t>
            </a:r>
          </a:p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altLang="en-US" sz="1350" b="0">
                <a:solidFill>
                  <a:srgbClr val="1F2D22"/>
                </a:solidFill>
              </a:rPr>
              <a:t>顶部：</a:t>
            </a:r>
            <a:r>
              <a:rPr lang="en-US" altLang="zh-CN" sz="1350" b="0">
                <a:solidFill>
                  <a:srgbClr val="1F2D22"/>
                </a:solidFill>
              </a:rPr>
              <a:t>5 </a:t>
            </a:r>
            <a:r>
              <a:rPr lang="zh-CN" altLang="en-US" sz="1350" b="0">
                <a:solidFill>
                  <a:srgbClr val="1F2D22"/>
                </a:solidFill>
              </a:rPr>
              <a:t>张统计卡片（已导入文档</a:t>
            </a:r>
            <a:r>
              <a:rPr lang="en-US" altLang="zh-CN" sz="1350" b="0">
                <a:solidFill>
                  <a:srgbClr val="1F2D22"/>
                </a:solidFill>
              </a:rPr>
              <a:t> / </a:t>
            </a:r>
            <a:r>
              <a:rPr lang="zh-CN" altLang="en-US" sz="1350" b="0">
                <a:solidFill>
                  <a:srgbClr val="1F2D22"/>
                </a:solidFill>
              </a:rPr>
              <a:t>已分块</a:t>
            </a:r>
            <a:r>
              <a:rPr lang="en-US" altLang="zh-CN" sz="1350" b="0">
                <a:solidFill>
                  <a:srgbClr val="1F2D22"/>
                </a:solidFill>
              </a:rPr>
              <a:t> / </a:t>
            </a:r>
            <a:r>
              <a:rPr lang="zh-CN" altLang="en-US" sz="1350" b="0">
                <a:solidFill>
                  <a:srgbClr val="1F2D22"/>
                </a:solidFill>
              </a:rPr>
              <a:t>已嵌入</a:t>
            </a:r>
            <a:r>
              <a:rPr lang="en-US" altLang="zh-CN" sz="1350" b="0">
                <a:solidFill>
                  <a:srgbClr val="1F2D22"/>
                </a:solidFill>
              </a:rPr>
              <a:t> / </a:t>
            </a:r>
            <a:r>
              <a:rPr lang="zh-CN" altLang="en-US" sz="1350" b="0">
                <a:solidFill>
                  <a:srgbClr val="1F2D22"/>
                </a:solidFill>
              </a:rPr>
              <a:t>向量库集合</a:t>
            </a:r>
            <a:r>
              <a:rPr lang="en-US" altLang="zh-CN" sz="1350" b="0">
                <a:solidFill>
                  <a:srgbClr val="1F2D22"/>
                </a:solidFill>
              </a:rPr>
              <a:t> / </a:t>
            </a:r>
            <a:r>
              <a:rPr lang="zh-CN" altLang="en-US" sz="1350" b="0">
                <a:solidFill>
                  <a:srgbClr val="1F2D22"/>
                </a:solidFill>
              </a:rPr>
              <a:t>检索记录）</a:t>
            </a:r>
          </a:p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altLang="en-US" sz="1350" b="0">
                <a:solidFill>
                  <a:srgbClr val="1F2D22"/>
                </a:solidFill>
              </a:rPr>
              <a:t>下方：文档列表区，含搜索筛选、单条删除、批量删除功能</a:t>
            </a:r>
          </a:p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altLang="en-US" sz="1350" b="0">
                <a:solidFill>
                  <a:srgbClr val="1F2D22"/>
                </a:solidFill>
              </a:rPr>
              <a:t>点击卡片切换视图，选中高亮，无路由跳转</a:t>
            </a:r>
            <a:endParaRPr sz="1350" b="0">
              <a:solidFill>
                <a:srgbClr val="1F2D22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572250" y="1619250"/>
            <a:ext cx="47625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00850" y="1728470"/>
            <a:ext cx="4305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D4A33"/>
                </a:solidFill>
              </a:defRPr>
            </a:pPr>
            <a:r>
              <a:rPr sz="1650" b="1">
                <a:solidFill>
                  <a:srgbClr val="2D4A33"/>
                </a:solidFill>
              </a:rPr>
              <a:t>流程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758940" y="2052320"/>
            <a:ext cx="4671060" cy="10769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altLang="en-US" sz="1350" b="0">
                <a:solidFill>
                  <a:srgbClr val="1F2D22"/>
                </a:solidFill>
              </a:rPr>
              <a:t>页面加载</a:t>
            </a:r>
            <a:r>
              <a:rPr lang="en-US" altLang="zh-CN" sz="1350" b="0">
                <a:solidFill>
                  <a:srgbClr val="1F2D22"/>
                </a:solidFill>
              </a:rPr>
              <a:t> </a:t>
            </a:r>
            <a:r>
              <a:rPr lang="en-US" altLang="en-US" sz="1350" b="0">
                <a:solidFill>
                  <a:srgbClr val="1F2D22"/>
                </a:solidFill>
              </a:rPr>
              <a:t>→</a:t>
            </a:r>
            <a:r>
              <a:rPr lang="en-US" altLang="zh-CN" sz="1350" b="0">
                <a:solidFill>
                  <a:srgbClr val="1F2D22"/>
                </a:solidFill>
              </a:rPr>
              <a:t> </a:t>
            </a:r>
            <a:r>
              <a:rPr lang="zh-CN" altLang="en-US" sz="1350" b="0">
                <a:solidFill>
                  <a:srgbClr val="1F2D22"/>
                </a:solidFill>
              </a:rPr>
              <a:t>并发请求</a:t>
            </a:r>
            <a:r>
              <a:rPr lang="en-US" altLang="zh-CN" sz="1350" b="0">
                <a:solidFill>
                  <a:srgbClr val="1F2D22"/>
                </a:solidFill>
              </a:rPr>
              <a:t> 5 </a:t>
            </a:r>
            <a:r>
              <a:rPr lang="zh-CN" altLang="en-US" sz="1350" b="0">
                <a:solidFill>
                  <a:srgbClr val="1F2D22"/>
                </a:solidFill>
              </a:rPr>
              <a:t>个</a:t>
            </a:r>
            <a:r>
              <a:rPr lang="en-US" altLang="zh-CN" sz="1350" b="0">
                <a:solidFill>
                  <a:srgbClr val="1F2D22"/>
                </a:solidFill>
              </a:rPr>
              <a:t>GET  API</a:t>
            </a:r>
            <a:endParaRPr lang="zh-CN" altLang="en-US" sz="1350" b="0">
              <a:solidFill>
                <a:srgbClr val="1F2D22"/>
              </a:solidFill>
            </a:endParaRPr>
          </a:p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altLang="en-US" sz="1350" b="0">
                <a:solidFill>
                  <a:srgbClr val="1F2D22"/>
                </a:solidFill>
              </a:rPr>
              <a:t>点击统计卡片</a:t>
            </a:r>
            <a:r>
              <a:rPr lang="en-US" altLang="zh-CN" sz="1350" b="0">
                <a:solidFill>
                  <a:srgbClr val="1F2D22"/>
                </a:solidFill>
              </a:rPr>
              <a:t> </a:t>
            </a:r>
            <a:r>
              <a:rPr lang="en-US" altLang="en-US" sz="1350" b="0">
                <a:solidFill>
                  <a:srgbClr val="1F2D22"/>
                </a:solidFill>
              </a:rPr>
              <a:t>→</a:t>
            </a:r>
            <a:r>
              <a:rPr lang="en-US" altLang="zh-CN" sz="1350" b="0">
                <a:solidFill>
                  <a:srgbClr val="1F2D22"/>
                </a:solidFill>
              </a:rPr>
              <a:t> </a:t>
            </a:r>
            <a:r>
              <a:rPr lang="zh-CN" altLang="en-US" sz="1350" b="0">
                <a:solidFill>
                  <a:srgbClr val="1F2D22"/>
                </a:solidFill>
              </a:rPr>
              <a:t>切换下方文档列表视图</a:t>
            </a:r>
          </a:p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altLang="en-US" sz="1350" b="0">
                <a:solidFill>
                  <a:srgbClr val="1F2D22"/>
                </a:solidFill>
              </a:rPr>
              <a:t>输入关键词</a:t>
            </a:r>
            <a:r>
              <a:rPr lang="en-US" altLang="zh-CN" sz="1350" b="0">
                <a:solidFill>
                  <a:srgbClr val="1F2D22"/>
                </a:solidFill>
              </a:rPr>
              <a:t> </a:t>
            </a:r>
            <a:r>
              <a:rPr lang="en-US" altLang="en-US" sz="1350" b="0">
                <a:solidFill>
                  <a:srgbClr val="1F2D22"/>
                </a:solidFill>
              </a:rPr>
              <a:t>→</a:t>
            </a:r>
            <a:r>
              <a:rPr lang="en-US" altLang="zh-CN" sz="1350" b="0">
                <a:solidFill>
                  <a:srgbClr val="1F2D22"/>
                </a:solidFill>
              </a:rPr>
              <a:t> </a:t>
            </a:r>
            <a:r>
              <a:rPr lang="zh-CN" altLang="en-US" sz="1350" b="0">
                <a:solidFill>
                  <a:srgbClr val="1F2D22"/>
                </a:solidFill>
              </a:rPr>
              <a:t>前端实时过滤列表</a:t>
            </a:r>
          </a:p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altLang="en-US" sz="1350" b="0">
                <a:solidFill>
                  <a:srgbClr val="1F2D22"/>
                </a:solidFill>
              </a:rPr>
              <a:t>删除的确认弹窗</a:t>
            </a:r>
            <a:r>
              <a:rPr lang="en-US" altLang="zh-CN" sz="1350" b="0">
                <a:solidFill>
                  <a:srgbClr val="1F2D22"/>
                </a:solidFill>
              </a:rPr>
              <a:t> </a:t>
            </a:r>
            <a:r>
              <a:rPr lang="en-US" altLang="en-US" sz="1350" b="0">
                <a:solidFill>
                  <a:srgbClr val="1F2D22"/>
                </a:solidFill>
              </a:rPr>
              <a:t>→</a:t>
            </a:r>
            <a:r>
              <a:rPr lang="en-US" altLang="zh-CN" sz="1350" b="0">
                <a:solidFill>
                  <a:srgbClr val="1F2D22"/>
                </a:solidFill>
              </a:rPr>
              <a:t> </a:t>
            </a:r>
            <a:r>
              <a:rPr lang="zh-CN" altLang="en-US" sz="1350" b="0">
                <a:solidFill>
                  <a:srgbClr val="1F2D22"/>
                </a:solidFill>
              </a:rPr>
              <a:t>调用</a:t>
            </a:r>
            <a:r>
              <a:rPr lang="en-US" altLang="zh-CN" sz="1350" b="0">
                <a:solidFill>
                  <a:srgbClr val="1F2D22"/>
                </a:solidFill>
              </a:rPr>
              <a:t> DELETE API </a:t>
            </a:r>
            <a:r>
              <a:rPr lang="en-US" altLang="en-US" sz="1350" b="0">
                <a:solidFill>
                  <a:srgbClr val="1F2D22"/>
                </a:solidFill>
              </a:rPr>
              <a:t>→</a:t>
            </a:r>
            <a:r>
              <a:rPr lang="en-US" altLang="zh-CN" sz="1350" b="0">
                <a:solidFill>
                  <a:srgbClr val="1F2D22"/>
                </a:solidFill>
              </a:rPr>
              <a:t> </a:t>
            </a:r>
            <a:r>
              <a:rPr lang="zh-CN" altLang="en-US" sz="1350" b="0">
                <a:solidFill>
                  <a:srgbClr val="1F2D22"/>
                </a:solidFill>
              </a:rPr>
              <a:t>刷新数据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000250" y="3714750"/>
            <a:ext cx="8191500" cy="199517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228850" y="3886200"/>
            <a:ext cx="7734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D4A33"/>
                </a:solidFill>
              </a:defRPr>
            </a:pPr>
            <a:r>
              <a:rPr sz="1650" b="1">
                <a:solidFill>
                  <a:srgbClr val="2D4A33"/>
                </a:solidFill>
              </a:rPr>
              <a:t>结果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228850" y="4324350"/>
            <a:ext cx="7734300" cy="9194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altLang="en-US" sz="1350" b="0">
                <a:solidFill>
                  <a:srgbClr val="1F2D22"/>
                </a:solidFill>
              </a:rPr>
              <a:t>一站式查看</a:t>
            </a:r>
            <a:r>
              <a:rPr lang="en-US" altLang="zh-CN" sz="1350" b="0">
                <a:solidFill>
                  <a:srgbClr val="1F2D22"/>
                </a:solidFill>
              </a:rPr>
              <a:t> RAG </a:t>
            </a:r>
            <a:r>
              <a:rPr lang="zh-CN" altLang="en-US" sz="1350" b="0">
                <a:solidFill>
                  <a:srgbClr val="1F2D22"/>
                </a:solidFill>
              </a:rPr>
              <a:t>流水线各阶段数据状态</a:t>
            </a:r>
          </a:p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altLang="en-US" sz="1350" b="0">
                <a:solidFill>
                  <a:srgbClr val="1F2D22"/>
                </a:solidFill>
              </a:rPr>
              <a:t>支持知识库文档的搜索、单条</a:t>
            </a:r>
            <a:r>
              <a:rPr lang="en-US" altLang="zh-CN" sz="1350" b="0">
                <a:solidFill>
                  <a:srgbClr val="1F2D22"/>
                </a:solidFill>
              </a:rPr>
              <a:t>/</a:t>
            </a:r>
            <a:r>
              <a:rPr lang="zh-CN" altLang="en-US" sz="1350" b="0">
                <a:solidFill>
                  <a:srgbClr val="1F2D22"/>
                </a:solidFill>
              </a:rPr>
              <a:t>批量删除管理</a:t>
            </a:r>
          </a:p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altLang="en-US" sz="1350" b="0">
                <a:solidFill>
                  <a:srgbClr val="1F2D22"/>
                </a:solidFill>
              </a:rPr>
              <a:t>纯</a:t>
            </a:r>
            <a:r>
              <a:rPr lang="en-US" altLang="zh-CN" sz="1350" b="0">
                <a:solidFill>
                  <a:srgbClr val="1F2D22"/>
                </a:solidFill>
              </a:rPr>
              <a:t> Tailwind CSS </a:t>
            </a:r>
            <a:r>
              <a:rPr lang="zh-CN" altLang="en-US" sz="1350" b="0">
                <a:solidFill>
                  <a:srgbClr val="1F2D22"/>
                </a:solidFill>
              </a:rPr>
              <a:t>实现，零额外依赖，加载快速</a:t>
            </a:r>
          </a:p>
          <a:p>
            <a:pPr algn="l">
              <a:defRPr sz="1350" b="0">
                <a:solidFill>
                  <a:srgbClr val="1F2D22"/>
                </a:solidFill>
              </a:defRPr>
            </a:pPr>
            <a:endParaRPr sz="1350" b="0">
              <a:solidFill>
                <a:srgbClr val="1F2D2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642171A4-C23A-4145-BED1-2E8834D0E5B1}"/>
              </a:ext>
            </a:extLst>
          </p:cNvPr>
          <p:cNvSpPr>
            <a:spLocks noGrp="1"/>
          </p:cNvSpPr>
          <p:nvPr/>
        </p:nvSpPr>
        <p:spPr>
          <a:xfrm>
            <a:off x="2614979" y="2321005"/>
            <a:ext cx="2604077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800" b="0" i="0" u="none" strike="noStrike" kern="1200" cap="none" spc="0" normalizeH="0" baseline="0" noProof="0" dirty="0">
                <a:ln>
                  <a:noFill/>
                </a:ln>
                <a:solidFill>
                  <a:srgbClr val="F5F4F9"/>
                </a:solidFill>
                <a:effectLst/>
                <a:uLnTx/>
                <a:uFillTx/>
                <a:latin typeface="Arial"/>
                <a:ea typeface="STZhongsong"/>
                <a:cs typeface="+mn-cs"/>
              </a:rPr>
              <a:t>0</a:t>
            </a:r>
            <a:r>
              <a:rPr lang="en-US" sz="13800" dirty="0">
                <a:solidFill>
                  <a:srgbClr val="F5F4F9"/>
                </a:solidFill>
                <a:latin typeface="Arial"/>
                <a:ea typeface="STZhongsong"/>
              </a:rPr>
              <a:t>4</a:t>
            </a:r>
            <a:endParaRPr kumimoji="0" sz="13800" b="0" i="0" u="none" strike="noStrike" kern="1200" cap="none" spc="0" normalizeH="0" baseline="0" noProof="0" dirty="0">
              <a:ln>
                <a:noFill/>
              </a:ln>
              <a:solidFill>
                <a:srgbClr val="F5F4F9"/>
              </a:solidFill>
              <a:effectLst/>
              <a:uLnTx/>
              <a:uFillTx/>
              <a:latin typeface="Arial"/>
              <a:ea typeface="STZhongsong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38E2919-D9D9-4496-93DC-FD75812F9CF1}"/>
              </a:ext>
            </a:extLst>
          </p:cNvPr>
          <p:cNvSpPr>
            <a:spLocks noGrp="1"/>
          </p:cNvSpPr>
          <p:nvPr/>
        </p:nvSpPr>
        <p:spPr>
          <a:xfrm>
            <a:off x="6331761" y="2685166"/>
            <a:ext cx="226215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STZhongsong"/>
                <a:cs typeface="+mn-cs"/>
              </a:rPr>
              <a:t>李嘉轩</a:t>
            </a:r>
            <a:endParaRPr kumimoji="0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STZhongsong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2598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AE95B23-90A2-47EB-9DB0-EF921EB2D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4A33"/>
          </a:solidFill>
          <a:ln w="0">
            <a:solidFill>
              <a:srgbClr val="2D4A33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C42F653-EC31-48A4-A29A-2DDE93A0D539}"/>
              </a:ext>
            </a:extLst>
          </p:cNvPr>
          <p:cNvSpPr>
            <a:spLocks noGrp="1"/>
          </p:cNvSpPr>
          <p:nvPr/>
        </p:nvSpPr>
        <p:spPr>
          <a:xfrm>
            <a:off x="762000" y="400050"/>
            <a:ext cx="10668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2550" b="1">
                <a:solidFill>
                  <a:srgbClr val="2D4A33"/>
                </a:solidFill>
              </a:defRPr>
            </a:pPr>
            <a:r>
              <a:rPr lang="zh-CN" altLang="en-US" sz="2550" b="1" dirty="0">
                <a:solidFill>
                  <a:srgbClr val="2D4A33"/>
                </a:solidFill>
              </a:rPr>
              <a:t>李嘉轩</a:t>
            </a:r>
            <a:endParaRPr sz="2550" b="1" dirty="0">
              <a:solidFill>
                <a:srgbClr val="2D4A33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BD7F060-279B-476B-ADD0-60F9D22D690F}"/>
              </a:ext>
            </a:extLst>
          </p:cNvPr>
          <p:cNvSpPr>
            <a:spLocks noGrp="1"/>
          </p:cNvSpPr>
          <p:nvPr/>
        </p:nvSpPr>
        <p:spPr>
          <a:xfrm>
            <a:off x="1498600" y="1481665"/>
            <a:ext cx="9465733" cy="2057401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4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B9DCD3-3DCB-492D-A18F-7F83A194A750}"/>
              </a:ext>
            </a:extLst>
          </p:cNvPr>
          <p:cNvSpPr>
            <a:spLocks noGrp="1"/>
          </p:cNvSpPr>
          <p:nvPr/>
        </p:nvSpPr>
        <p:spPr>
          <a:xfrm>
            <a:off x="1634067" y="1678782"/>
            <a:ext cx="4305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D4A33"/>
                </a:solidFill>
              </a:defRPr>
            </a:pPr>
            <a:r>
              <a:rPr lang="zh-CN" altLang="en-US" sz="3200" b="1" dirty="0">
                <a:solidFill>
                  <a:srgbClr val="2D4A33"/>
                </a:solidFill>
              </a:rPr>
              <a:t>文件解析</a:t>
            </a:r>
            <a:endParaRPr sz="3200" b="1" dirty="0">
              <a:solidFill>
                <a:srgbClr val="2D4A33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7E76C44-57B2-4BCD-969D-2F43D77383C3}"/>
              </a:ext>
            </a:extLst>
          </p:cNvPr>
          <p:cNvSpPr>
            <a:spLocks noGrp="1"/>
          </p:cNvSpPr>
          <p:nvPr/>
        </p:nvSpPr>
        <p:spPr>
          <a:xfrm>
            <a:off x="1634067" y="2091531"/>
            <a:ext cx="9059333" cy="135863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altLang="en-US" sz="2000" dirty="0">
                <a:solidFill>
                  <a:srgbClr val="1F2D22"/>
                </a:solidFill>
                <a:latin typeface="ui-monospace"/>
              </a:rPr>
              <a:t>新增了 </a:t>
            </a:r>
            <a:r>
              <a:rPr lang="en-US" altLang="zh-CN" sz="2000" dirty="0" err="1">
                <a:solidFill>
                  <a:srgbClr val="1F2D22"/>
                </a:solidFill>
                <a:latin typeface="ui-monospace"/>
              </a:rPr>
              <a:t>structured_blocks</a:t>
            </a:r>
            <a:r>
              <a:rPr lang="en-US" altLang="zh-CN" sz="2000" dirty="0">
                <a:solidFill>
                  <a:srgbClr val="1F2D22"/>
                </a:solidFill>
                <a:latin typeface="ui-monospace"/>
              </a:rPr>
              <a:t> </a:t>
            </a:r>
            <a:r>
              <a:rPr lang="zh-CN" altLang="en-US" sz="2000" dirty="0">
                <a:solidFill>
                  <a:srgbClr val="1F2D22"/>
                </a:solidFill>
                <a:latin typeface="ui-monospace"/>
              </a:rPr>
              <a:t>解析模式，把论文 </a:t>
            </a:r>
            <a:r>
              <a:rPr lang="en-US" altLang="zh-CN" sz="2000" dirty="0">
                <a:solidFill>
                  <a:srgbClr val="1F2D22"/>
                </a:solidFill>
                <a:latin typeface="ui-monospace"/>
              </a:rPr>
              <a:t>PDF </a:t>
            </a:r>
            <a:r>
              <a:rPr lang="zh-CN" altLang="en-US" sz="2000" dirty="0">
                <a:solidFill>
                  <a:srgbClr val="1F2D22"/>
                </a:solidFill>
                <a:latin typeface="ui-monospace"/>
              </a:rPr>
              <a:t>解析成统一 </a:t>
            </a:r>
            <a:r>
              <a:rPr lang="en-US" altLang="zh-CN" sz="2000" dirty="0">
                <a:solidFill>
                  <a:srgbClr val="1F2D22"/>
                </a:solidFill>
                <a:latin typeface="ui-monospace"/>
              </a:rPr>
              <a:t>block </a:t>
            </a:r>
            <a:r>
              <a:rPr lang="zh-CN" altLang="en-US" sz="2000" dirty="0">
                <a:solidFill>
                  <a:srgbClr val="1F2D22"/>
                </a:solidFill>
                <a:latin typeface="ui-monospace"/>
              </a:rPr>
              <a:t>结构</a:t>
            </a:r>
            <a:endParaRPr lang="en-US" altLang="zh-CN" sz="2000" dirty="0">
              <a:solidFill>
                <a:srgbClr val="1F2D22"/>
              </a:solidFill>
              <a:latin typeface="ui-monospace"/>
            </a:endParaRPr>
          </a:p>
          <a:p>
            <a:pPr algn="l"/>
            <a:r>
              <a:rPr lang="zh-CN" altLang="en-US" sz="2000" dirty="0">
                <a:solidFill>
                  <a:srgbClr val="1F2D22"/>
                </a:solidFill>
                <a:latin typeface="ui-monospace"/>
              </a:rPr>
              <a:t>基于 </a:t>
            </a:r>
            <a:r>
              <a:rPr lang="en-US" altLang="zh-CN" sz="2000" dirty="0" err="1">
                <a:solidFill>
                  <a:srgbClr val="1F2D22"/>
                </a:solidFill>
                <a:latin typeface="ui-monospace"/>
              </a:rPr>
              <a:t>PyMuPDF</a:t>
            </a:r>
            <a:r>
              <a:rPr lang="en-US" altLang="zh-CN" sz="2000" dirty="0">
                <a:solidFill>
                  <a:srgbClr val="1F2D22"/>
                </a:solidFill>
                <a:latin typeface="ui-monospace"/>
              </a:rPr>
              <a:t> </a:t>
            </a:r>
            <a:r>
              <a:rPr lang="zh-CN" altLang="en-US" sz="2000" dirty="0">
                <a:solidFill>
                  <a:srgbClr val="1F2D22"/>
                </a:solidFill>
                <a:latin typeface="ui-monospace"/>
              </a:rPr>
              <a:t>提取版面块、字号、粗体、</a:t>
            </a:r>
            <a:r>
              <a:rPr lang="en-US" altLang="zh-CN" sz="2000" dirty="0" err="1">
                <a:solidFill>
                  <a:srgbClr val="1F2D22"/>
                </a:solidFill>
                <a:latin typeface="ui-monospace"/>
              </a:rPr>
              <a:t>bbox</a:t>
            </a:r>
            <a:r>
              <a:rPr lang="zh-CN" altLang="en-US" sz="2000" dirty="0">
                <a:solidFill>
                  <a:srgbClr val="1F2D22"/>
                </a:solidFill>
                <a:latin typeface="ui-monospace"/>
              </a:rPr>
              <a:t>、列信息</a:t>
            </a:r>
          </a:p>
          <a:p>
            <a:pPr>
              <a:defRPr sz="1350" b="0">
                <a:solidFill>
                  <a:srgbClr val="1F2D22"/>
                </a:solidFill>
              </a:defRPr>
            </a:pPr>
            <a:r>
              <a:rPr lang="zh-CN" altLang="en-US" sz="2000" dirty="0">
                <a:solidFill>
                  <a:srgbClr val="1F2D22"/>
                </a:solidFill>
                <a:latin typeface="ui-monospace"/>
              </a:rPr>
              <a:t>过滤重复页眉页脚噪声，精确分类为正确的</a:t>
            </a:r>
            <a:r>
              <a:rPr lang="en-US" altLang="zh-CN" sz="2000" dirty="0">
                <a:solidFill>
                  <a:srgbClr val="1F2D22"/>
                </a:solidFill>
                <a:latin typeface="ui-monospace"/>
              </a:rPr>
              <a:t>block</a:t>
            </a:r>
            <a:r>
              <a:rPr lang="zh-CN" altLang="en-US" sz="2000" dirty="0">
                <a:solidFill>
                  <a:srgbClr val="1F2D22"/>
                </a:solidFill>
                <a:latin typeface="ui-monospace"/>
              </a:rPr>
              <a:t>类别</a:t>
            </a:r>
          </a:p>
          <a:p>
            <a:pPr algn="l">
              <a:defRPr sz="1350" b="0">
                <a:solidFill>
                  <a:srgbClr val="1F2D22"/>
                </a:solidFill>
              </a:defRPr>
            </a:pPr>
            <a:endParaRPr sz="1350" b="0" dirty="0">
              <a:solidFill>
                <a:srgbClr val="1F2D22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4797A82-E8A1-4FD5-A480-1468A75DCB41}"/>
              </a:ext>
            </a:extLst>
          </p:cNvPr>
          <p:cNvSpPr>
            <a:spLocks noGrp="1"/>
          </p:cNvSpPr>
          <p:nvPr/>
        </p:nvSpPr>
        <p:spPr>
          <a:xfrm>
            <a:off x="1498600" y="4171950"/>
            <a:ext cx="9465733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4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F760D5-7BD6-4703-9C53-D0A2A5E3F7A2}"/>
              </a:ext>
            </a:extLst>
          </p:cNvPr>
          <p:cNvSpPr>
            <a:spLocks noGrp="1"/>
          </p:cNvSpPr>
          <p:nvPr/>
        </p:nvSpPr>
        <p:spPr>
          <a:xfrm>
            <a:off x="1634067" y="4362450"/>
            <a:ext cx="4305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D4A33"/>
                </a:solidFill>
              </a:defRPr>
            </a:pPr>
            <a:r>
              <a:rPr lang="zh-CN" altLang="en-US" sz="3200" b="1" dirty="0">
                <a:solidFill>
                  <a:srgbClr val="2D4A33"/>
                </a:solidFill>
              </a:rPr>
              <a:t>知识分块</a:t>
            </a:r>
            <a:endParaRPr sz="3200" b="1" dirty="0">
              <a:solidFill>
                <a:srgbClr val="2D4A33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ECD07B-701D-4861-812E-B364FA3E3C92}"/>
              </a:ext>
            </a:extLst>
          </p:cNvPr>
          <p:cNvSpPr>
            <a:spLocks noGrp="1"/>
          </p:cNvSpPr>
          <p:nvPr/>
        </p:nvSpPr>
        <p:spPr>
          <a:xfrm>
            <a:off x="1634067" y="4677833"/>
            <a:ext cx="9330266" cy="977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>
              <a:defRPr sz="1350" b="0">
                <a:solidFill>
                  <a:srgbClr val="1F2D22"/>
                </a:solidFill>
              </a:defRPr>
            </a:pPr>
            <a:r>
              <a:rPr lang="zh-CN" altLang="en-US" sz="2000" dirty="0">
                <a:solidFill>
                  <a:srgbClr val="1F2D22"/>
                </a:solidFill>
                <a:latin typeface="ui-monospace"/>
              </a:rPr>
              <a:t>按解析块分块：基本一个结构块生成一个 </a:t>
            </a:r>
            <a:r>
              <a:rPr lang="en-US" altLang="zh-CN" sz="2000" dirty="0">
                <a:solidFill>
                  <a:srgbClr val="1F2D22"/>
                </a:solidFill>
                <a:latin typeface="ui-monospace"/>
              </a:rPr>
              <a:t>chunk</a:t>
            </a:r>
          </a:p>
          <a:p>
            <a:pPr algn="l"/>
            <a:r>
              <a:rPr lang="zh-CN" altLang="en-US" sz="2000" dirty="0">
                <a:solidFill>
                  <a:srgbClr val="1F2D22"/>
                </a:solidFill>
                <a:latin typeface="ui-monospace"/>
              </a:rPr>
              <a:t>按章节分块：先按 </a:t>
            </a:r>
            <a:r>
              <a:rPr lang="en-US" altLang="zh-CN" sz="2000" dirty="0" err="1">
                <a:solidFill>
                  <a:srgbClr val="1F2D22"/>
                </a:solidFill>
                <a:latin typeface="ui-monospace"/>
              </a:rPr>
              <a:t>section_path</a:t>
            </a:r>
            <a:r>
              <a:rPr lang="en-US" altLang="zh-CN" sz="2000" dirty="0">
                <a:solidFill>
                  <a:srgbClr val="1F2D22"/>
                </a:solidFill>
                <a:latin typeface="ui-monospace"/>
              </a:rPr>
              <a:t> </a:t>
            </a:r>
            <a:r>
              <a:rPr lang="zh-CN" altLang="en-US" sz="2000" dirty="0">
                <a:solidFill>
                  <a:srgbClr val="1F2D22"/>
                </a:solidFill>
                <a:latin typeface="ui-monospace"/>
              </a:rPr>
              <a:t>聚合同章节 </a:t>
            </a:r>
            <a:r>
              <a:rPr lang="en-US" altLang="zh-CN" sz="2000" dirty="0">
                <a:solidFill>
                  <a:srgbClr val="1F2D22"/>
                </a:solidFill>
                <a:latin typeface="ui-monospace"/>
              </a:rPr>
              <a:t>block</a:t>
            </a:r>
            <a:r>
              <a:rPr lang="zh-CN" altLang="en-US" sz="2000" dirty="0">
                <a:solidFill>
                  <a:srgbClr val="1F2D22"/>
                </a:solidFill>
                <a:latin typeface="ui-monospace"/>
              </a:rPr>
              <a:t>，再按 </a:t>
            </a:r>
            <a:r>
              <a:rPr lang="en-US" altLang="zh-CN" sz="2000" dirty="0" err="1">
                <a:solidFill>
                  <a:srgbClr val="1F2D22"/>
                </a:solidFill>
                <a:latin typeface="ui-monospace"/>
              </a:rPr>
              <a:t>chunk_size</a:t>
            </a:r>
            <a:r>
              <a:rPr lang="en-US" altLang="zh-CN" sz="2000" dirty="0">
                <a:solidFill>
                  <a:srgbClr val="1F2D22"/>
                </a:solidFill>
                <a:latin typeface="ui-monospace"/>
              </a:rPr>
              <a:t> </a:t>
            </a:r>
            <a:r>
              <a:rPr lang="zh-CN" altLang="en-US" sz="2000" dirty="0">
                <a:solidFill>
                  <a:srgbClr val="1F2D22"/>
                </a:solidFill>
                <a:latin typeface="ui-monospace"/>
              </a:rPr>
              <a:t>做递归切分</a:t>
            </a:r>
          </a:p>
        </p:txBody>
      </p:sp>
    </p:spTree>
    <p:extLst>
      <p:ext uri="{BB962C8B-B14F-4D97-AF65-F5344CB8AC3E}">
        <p14:creationId xmlns:p14="http://schemas.microsoft.com/office/powerpoint/2010/main" val="1941770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642171A4-C23A-4145-BED1-2E8834D0E5B1}"/>
              </a:ext>
            </a:extLst>
          </p:cNvPr>
          <p:cNvSpPr>
            <a:spLocks noGrp="1"/>
          </p:cNvSpPr>
          <p:nvPr/>
        </p:nvSpPr>
        <p:spPr>
          <a:xfrm>
            <a:off x="2614979" y="2321005"/>
            <a:ext cx="2604077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800" b="0" i="0" u="none" strike="noStrike" kern="1200" cap="none" spc="0" normalizeH="0" baseline="0" noProof="0" dirty="0">
                <a:ln>
                  <a:noFill/>
                </a:ln>
                <a:solidFill>
                  <a:srgbClr val="F5F4F9"/>
                </a:solidFill>
                <a:effectLst/>
                <a:uLnTx/>
                <a:uFillTx/>
                <a:latin typeface="Arial"/>
                <a:ea typeface="STZhongsong"/>
                <a:cs typeface="+mn-cs"/>
              </a:rPr>
              <a:t>0</a:t>
            </a:r>
            <a:r>
              <a:rPr kumimoji="0" lang="en-US" sz="13800" b="0" i="0" u="none" strike="noStrike" kern="1200" cap="none" spc="0" normalizeH="0" baseline="0" noProof="0" dirty="0">
                <a:ln>
                  <a:noFill/>
                </a:ln>
                <a:solidFill>
                  <a:srgbClr val="F5F4F9"/>
                </a:solidFill>
                <a:effectLst/>
                <a:uLnTx/>
                <a:uFillTx/>
                <a:latin typeface="Arial"/>
                <a:ea typeface="STZhongsong"/>
                <a:cs typeface="+mn-cs"/>
              </a:rPr>
              <a:t>5</a:t>
            </a:r>
            <a:endParaRPr kumimoji="0" sz="13800" b="0" i="0" u="none" strike="noStrike" kern="1200" cap="none" spc="0" normalizeH="0" baseline="0" noProof="0" dirty="0">
              <a:ln>
                <a:noFill/>
              </a:ln>
              <a:solidFill>
                <a:srgbClr val="F5F4F9"/>
              </a:solidFill>
              <a:effectLst/>
              <a:uLnTx/>
              <a:uFillTx/>
              <a:latin typeface="Arial"/>
              <a:ea typeface="STZhongsong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38E2919-D9D9-4496-93DC-FD75812F9CF1}"/>
              </a:ext>
            </a:extLst>
          </p:cNvPr>
          <p:cNvSpPr>
            <a:spLocks noGrp="1"/>
          </p:cNvSpPr>
          <p:nvPr/>
        </p:nvSpPr>
        <p:spPr>
          <a:xfrm>
            <a:off x="6293290" y="2685166"/>
            <a:ext cx="233910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5400" b="1" dirty="0">
                <a:solidFill>
                  <a:prstClr val="white"/>
                </a:solidFill>
                <a:latin typeface="Arial"/>
                <a:ea typeface="STZhongsong"/>
              </a:rPr>
              <a:t>唐熙雷</a:t>
            </a:r>
            <a:endParaRPr kumimoji="0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STZhongsong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9448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49C5998F-8D86-4862-8469-086DC51039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4A33"/>
          </a:solidFill>
          <a:ln w="0">
            <a:solidFill>
              <a:srgbClr val="2D4A33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014062F-B6B3-42D0-923B-A7424561BC77}"/>
              </a:ext>
            </a:extLst>
          </p:cNvPr>
          <p:cNvSpPr>
            <a:spLocks noGrp="1"/>
          </p:cNvSpPr>
          <p:nvPr/>
        </p:nvSpPr>
        <p:spPr>
          <a:xfrm>
            <a:off x="762000" y="400050"/>
            <a:ext cx="10668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2550" b="1">
                <a:solidFill>
                  <a:srgbClr val="2D4A33"/>
                </a:solidFill>
              </a:defRPr>
            </a:pPr>
            <a:r>
              <a:rPr lang="zh-CN" altLang="en-US" sz="2550" b="1" dirty="0">
                <a:solidFill>
                  <a:srgbClr val="2D4A33"/>
                </a:solidFill>
              </a:rPr>
              <a:t>唐熙雷</a:t>
            </a:r>
            <a:endParaRPr sz="2550" b="1" dirty="0">
              <a:solidFill>
                <a:srgbClr val="2D4A33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221659-10CA-473D-B608-E2633E14E235}"/>
              </a:ext>
            </a:extLst>
          </p:cNvPr>
          <p:cNvSpPr>
            <a:spLocks noGrp="1"/>
          </p:cNvSpPr>
          <p:nvPr/>
        </p:nvSpPr>
        <p:spPr>
          <a:xfrm>
            <a:off x="857250" y="1619250"/>
            <a:ext cx="47625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4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326CC3-10C1-4780-ADEA-D2C23EB4593B}"/>
              </a:ext>
            </a:extLst>
          </p:cNvPr>
          <p:cNvSpPr>
            <a:spLocks noGrp="1"/>
          </p:cNvSpPr>
          <p:nvPr/>
        </p:nvSpPr>
        <p:spPr>
          <a:xfrm>
            <a:off x="1085850" y="1790700"/>
            <a:ext cx="4305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D4A33"/>
                </a:solidFill>
              </a:defRPr>
            </a:pPr>
            <a:r>
              <a:rPr sz="1650" b="1">
                <a:solidFill>
                  <a:srgbClr val="2D4A33"/>
                </a:solidFill>
              </a:rPr>
              <a:t>Faiss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0F903FA-7735-436D-AA14-6FDE08DB3204}"/>
              </a:ext>
            </a:extLst>
          </p:cNvPr>
          <p:cNvSpPr>
            <a:spLocks noGrp="1"/>
          </p:cNvSpPr>
          <p:nvPr/>
        </p:nvSpPr>
        <p:spPr>
          <a:xfrm>
            <a:off x="1085850" y="2228850"/>
            <a:ext cx="43053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F2D22"/>
                </a:solidFill>
              </a:defRPr>
            </a:pPr>
            <a:r>
              <a:rPr sz="1350" b="0">
                <a:solidFill>
                  <a:srgbClr val="1F2D22"/>
                </a:solidFill>
              </a:rPr>
              <a:t>替换 / 增强向量检索底座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C63DCCE-58D8-46C2-8CD3-78F707B6307B}"/>
              </a:ext>
            </a:extLst>
          </p:cNvPr>
          <p:cNvSpPr>
            <a:spLocks noGrp="1"/>
          </p:cNvSpPr>
          <p:nvPr/>
        </p:nvSpPr>
        <p:spPr>
          <a:xfrm>
            <a:off x="6572250" y="1619250"/>
            <a:ext cx="47625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4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E864F01-824A-4742-BCDE-992C14CE649A}"/>
              </a:ext>
            </a:extLst>
          </p:cNvPr>
          <p:cNvSpPr>
            <a:spLocks noGrp="1"/>
          </p:cNvSpPr>
          <p:nvPr/>
        </p:nvSpPr>
        <p:spPr>
          <a:xfrm>
            <a:off x="6800850" y="1790700"/>
            <a:ext cx="4305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D4A33"/>
                </a:solidFill>
              </a:defRPr>
            </a:pPr>
            <a:r>
              <a:rPr sz="1650" b="1">
                <a:solidFill>
                  <a:srgbClr val="2D4A33"/>
                </a:solidFill>
              </a:rPr>
              <a:t>多检索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2E654C1-4FDB-491C-8E0F-675E749870C4}"/>
              </a:ext>
            </a:extLst>
          </p:cNvPr>
          <p:cNvSpPr>
            <a:spLocks noGrp="1"/>
          </p:cNvSpPr>
          <p:nvPr/>
        </p:nvSpPr>
        <p:spPr>
          <a:xfrm>
            <a:off x="6800850" y="2228850"/>
            <a:ext cx="43053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F2D22"/>
                </a:solidFill>
              </a:defRPr>
            </a:pPr>
            <a:r>
              <a:rPr sz="1350" b="0">
                <a:solidFill>
                  <a:srgbClr val="1F2D22"/>
                </a:solidFill>
              </a:rPr>
              <a:t>支持多种召回方式并行比较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6D0BD11-F236-4FBA-8154-83D3D2A1D76A}"/>
              </a:ext>
            </a:extLst>
          </p:cNvPr>
          <p:cNvSpPr>
            <a:spLocks noGrp="1"/>
          </p:cNvSpPr>
          <p:nvPr/>
        </p:nvSpPr>
        <p:spPr>
          <a:xfrm>
            <a:off x="2000250" y="3714750"/>
            <a:ext cx="8191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4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E12BFA7-42DC-4404-8442-3A427F38924F}"/>
              </a:ext>
            </a:extLst>
          </p:cNvPr>
          <p:cNvSpPr>
            <a:spLocks noGrp="1"/>
          </p:cNvSpPr>
          <p:nvPr/>
        </p:nvSpPr>
        <p:spPr>
          <a:xfrm>
            <a:off x="2228850" y="3886200"/>
            <a:ext cx="7734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D4A33"/>
                </a:solidFill>
              </a:defRPr>
            </a:pPr>
            <a:r>
              <a:rPr sz="1650" b="1">
                <a:solidFill>
                  <a:srgbClr val="2D4A33"/>
                </a:solidFill>
              </a:rPr>
              <a:t>结果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D583150-E769-40CD-B44A-9B1246362845}"/>
              </a:ext>
            </a:extLst>
          </p:cNvPr>
          <p:cNvSpPr>
            <a:spLocks noGrp="1"/>
          </p:cNvSpPr>
          <p:nvPr/>
        </p:nvSpPr>
        <p:spPr>
          <a:xfrm>
            <a:off x="2228850" y="4324350"/>
            <a:ext cx="77343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F2D22"/>
                </a:solidFill>
              </a:defRPr>
            </a:pPr>
            <a:r>
              <a:rPr sz="1350" b="0">
                <a:solidFill>
                  <a:srgbClr val="1F2D22"/>
                </a:solidFill>
              </a:rPr>
              <a:t>索引与召回更灵活，检索能力明显增强。</a:t>
            </a:r>
          </a:p>
        </p:txBody>
      </p:sp>
    </p:spTree>
    <p:extLst>
      <p:ext uri="{BB962C8B-B14F-4D97-AF65-F5344CB8AC3E}">
        <p14:creationId xmlns:p14="http://schemas.microsoft.com/office/powerpoint/2010/main" val="3301625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642171A4-C23A-4145-BED1-2E8834D0E5B1}"/>
              </a:ext>
            </a:extLst>
          </p:cNvPr>
          <p:cNvSpPr>
            <a:spLocks noGrp="1"/>
          </p:cNvSpPr>
          <p:nvPr/>
        </p:nvSpPr>
        <p:spPr>
          <a:xfrm>
            <a:off x="2614979" y="2321005"/>
            <a:ext cx="2604077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800" b="0" i="0" u="none" strike="noStrike" kern="1200" cap="none" spc="0" normalizeH="0" baseline="0" noProof="0" dirty="0">
                <a:ln>
                  <a:noFill/>
                </a:ln>
                <a:solidFill>
                  <a:srgbClr val="F5F4F9"/>
                </a:solidFill>
                <a:effectLst/>
                <a:uLnTx/>
                <a:uFillTx/>
                <a:latin typeface="Arial"/>
                <a:ea typeface="STZhongsong"/>
                <a:cs typeface="+mn-cs"/>
              </a:rPr>
              <a:t>0</a:t>
            </a:r>
            <a:r>
              <a:rPr kumimoji="0" lang="en-US" sz="13800" b="0" i="0" u="none" strike="noStrike" kern="1200" cap="none" spc="0" normalizeH="0" baseline="0" noProof="0" dirty="0">
                <a:ln>
                  <a:noFill/>
                </a:ln>
                <a:solidFill>
                  <a:srgbClr val="F5F4F9"/>
                </a:solidFill>
                <a:effectLst/>
                <a:uLnTx/>
                <a:uFillTx/>
                <a:latin typeface="Arial"/>
                <a:ea typeface="STZhongsong"/>
                <a:cs typeface="+mn-cs"/>
              </a:rPr>
              <a:t>6</a:t>
            </a:r>
            <a:endParaRPr kumimoji="0" sz="13800" b="0" i="0" u="none" strike="noStrike" kern="1200" cap="none" spc="0" normalizeH="0" baseline="0" noProof="0" dirty="0">
              <a:ln>
                <a:noFill/>
              </a:ln>
              <a:solidFill>
                <a:srgbClr val="F5F4F9"/>
              </a:solidFill>
              <a:effectLst/>
              <a:uLnTx/>
              <a:uFillTx/>
              <a:latin typeface="Arial"/>
              <a:ea typeface="STZhongsong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38E2919-D9D9-4496-93DC-FD75812F9CF1}"/>
              </a:ext>
            </a:extLst>
          </p:cNvPr>
          <p:cNvSpPr>
            <a:spLocks noGrp="1"/>
          </p:cNvSpPr>
          <p:nvPr/>
        </p:nvSpPr>
        <p:spPr>
          <a:xfrm>
            <a:off x="6331762" y="2685166"/>
            <a:ext cx="226215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5400" b="0" i="0" dirty="0">
                <a:solidFill>
                  <a:schemeClr val="bg1"/>
                </a:solidFill>
                <a:effectLst/>
                <a:latin typeface="Color Emoji"/>
              </a:rPr>
              <a:t>邢泽雷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STZhongsong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4580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CB19A068-375C-44CD-B486-A2E0564D99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4A33"/>
          </a:solidFill>
          <a:ln w="0">
            <a:solidFill>
              <a:srgbClr val="2D4A33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8EDCF9F-E0B5-4603-A825-182C7732172E}"/>
              </a:ext>
            </a:extLst>
          </p:cNvPr>
          <p:cNvSpPr>
            <a:spLocks noGrp="1"/>
          </p:cNvSpPr>
          <p:nvPr/>
        </p:nvSpPr>
        <p:spPr>
          <a:xfrm>
            <a:off x="762000" y="400050"/>
            <a:ext cx="10668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2550" b="1">
                <a:solidFill>
                  <a:srgbClr val="2D4A33"/>
                </a:solidFill>
              </a:defRPr>
            </a:pPr>
            <a:r>
              <a:rPr lang="zh-CN" altLang="en-US" sz="2800" b="0" i="0" dirty="0">
                <a:effectLst/>
                <a:latin typeface="Color Emoji"/>
              </a:rPr>
              <a:t>邢泽雷</a:t>
            </a:r>
            <a:endParaRPr sz="2550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CF3AAA-E565-49A5-9E5D-12AB5BEA2BCC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4762500" cy="2209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4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CC68CB8-D28B-4FBA-BFEE-BA369B649486}"/>
              </a:ext>
            </a:extLst>
          </p:cNvPr>
          <p:cNvSpPr>
            <a:spLocks noGrp="1"/>
          </p:cNvSpPr>
          <p:nvPr/>
        </p:nvSpPr>
        <p:spPr>
          <a:xfrm>
            <a:off x="1085850" y="1643063"/>
            <a:ext cx="4305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D4A33"/>
                </a:solidFill>
              </a:defRPr>
            </a:pPr>
            <a:r>
              <a:rPr sz="3200" b="1" dirty="0" err="1">
                <a:solidFill>
                  <a:srgbClr val="2D4A33"/>
                </a:solidFill>
              </a:rPr>
              <a:t>检索前</a:t>
            </a:r>
            <a:endParaRPr sz="3200" b="1" dirty="0">
              <a:solidFill>
                <a:srgbClr val="2D4A33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F4B1FB-DFE4-43C7-98D1-891507107452}"/>
              </a:ext>
            </a:extLst>
          </p:cNvPr>
          <p:cNvSpPr>
            <a:spLocks noGrp="1"/>
          </p:cNvSpPr>
          <p:nvPr/>
        </p:nvSpPr>
        <p:spPr>
          <a:xfrm>
            <a:off x="1085850" y="2228850"/>
            <a:ext cx="4305300" cy="1466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r>
              <a:rPr lang="zh-CN" altLang="zh-CN" dirty="0"/>
              <a:t>系统不再只使用用户原始 query 进行一次检索，而是在检索前调用大模型生成多个不同角度的查询变体。随后系统对每个 query 分别生成 embedding 并查询 Chroma，最后将所有结果去重、排序、截取最终 Top K。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2F5307D-47AA-4496-B027-2EBC00B0661D}"/>
              </a:ext>
            </a:extLst>
          </p:cNvPr>
          <p:cNvSpPr>
            <a:spLocks noGrp="1"/>
          </p:cNvSpPr>
          <p:nvPr/>
        </p:nvSpPr>
        <p:spPr>
          <a:xfrm>
            <a:off x="6572250" y="1619250"/>
            <a:ext cx="4762500" cy="413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4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8ED42BD-464C-42DE-BDFA-1C3FED5B7ACA}"/>
              </a:ext>
            </a:extLst>
          </p:cNvPr>
          <p:cNvSpPr>
            <a:spLocks noGrp="1"/>
          </p:cNvSpPr>
          <p:nvPr/>
        </p:nvSpPr>
        <p:spPr>
          <a:xfrm>
            <a:off x="6800850" y="1790700"/>
            <a:ext cx="4305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2D4A33"/>
                </a:solidFill>
              </a:defRPr>
            </a:pPr>
            <a:r>
              <a:rPr sz="3200" b="1" dirty="0" err="1">
                <a:solidFill>
                  <a:srgbClr val="2D4A33"/>
                </a:solidFill>
              </a:rPr>
              <a:t>检索后</a:t>
            </a:r>
            <a:endParaRPr sz="3200" b="1" dirty="0">
              <a:solidFill>
                <a:srgbClr val="2D4A33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396FB42-E968-4370-8713-7F8120653B23}"/>
              </a:ext>
            </a:extLst>
          </p:cNvPr>
          <p:cNvSpPr>
            <a:spLocks noGrp="1"/>
          </p:cNvSpPr>
          <p:nvPr/>
        </p:nvSpPr>
        <p:spPr>
          <a:xfrm>
            <a:off x="6800850" y="2114550"/>
            <a:ext cx="4305300" cy="3638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r>
              <a:rPr lang="zh-CN" altLang="zh-CN" dirty="0"/>
              <a:t>生成服务现在不会在初稿生成后立即返回，而是先进入审查阶段。系统会把以下三类信息交给大模型：</a:t>
            </a:r>
          </a:p>
          <a:p>
            <a:br>
              <a:rPr lang="zh-CN" altLang="zh-CN" dirty="0"/>
            </a:br>
            <a:endParaRPr lang="zh-CN" altLang="zh-CN" dirty="0"/>
          </a:p>
          <a:p>
            <a:r>
              <a:rPr lang="zh-CN" altLang="zh-CN" dirty="0"/>
              <a:t>1. 用户原始问题。</a:t>
            </a:r>
          </a:p>
          <a:p>
            <a:r>
              <a:rPr lang="zh-CN" altLang="zh-CN" dirty="0"/>
              <a:t>2. 检索结果拼接出的上下文。</a:t>
            </a:r>
          </a:p>
          <a:p>
            <a:r>
              <a:rPr lang="zh-CN" altLang="zh-CN" dirty="0"/>
              <a:t>3. 刚生成的回答草案。</a:t>
            </a:r>
          </a:p>
          <a:p>
            <a:br>
              <a:rPr lang="zh-CN" altLang="zh-CN" dirty="0"/>
            </a:br>
            <a:endParaRPr lang="zh-CN" altLang="zh-CN" dirty="0"/>
          </a:p>
          <a:p>
            <a:r>
              <a:rPr lang="zh-CN" altLang="zh-CN" dirty="0"/>
              <a:t>审查模型需要判断回答草案是否严格基于上下文，是否存在幻觉，是否遗漏了问题关键点。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5C669DF-CAC4-4D06-92B2-8A85E452067E}"/>
              </a:ext>
            </a:extLst>
          </p:cNvPr>
          <p:cNvSpPr>
            <a:spLocks noGrp="1"/>
          </p:cNvSpPr>
          <p:nvPr/>
        </p:nvSpPr>
        <p:spPr>
          <a:xfrm>
            <a:off x="1485900" y="3852863"/>
            <a:ext cx="5029200" cy="2605087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4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327DB0-DBD6-42E5-85A2-3C88543BC4E9}"/>
              </a:ext>
            </a:extLst>
          </p:cNvPr>
          <p:cNvSpPr>
            <a:spLocks noGrp="1"/>
          </p:cNvSpPr>
          <p:nvPr/>
        </p:nvSpPr>
        <p:spPr>
          <a:xfrm>
            <a:off x="1752600" y="3876675"/>
            <a:ext cx="7734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2D4A33"/>
                </a:solidFill>
              </a:defRPr>
            </a:pPr>
            <a:r>
              <a:rPr sz="3200" b="1" dirty="0" err="1">
                <a:solidFill>
                  <a:srgbClr val="2D4A33"/>
                </a:solidFill>
              </a:rPr>
              <a:t>结果</a:t>
            </a:r>
            <a:endParaRPr sz="3200" b="1" dirty="0">
              <a:solidFill>
                <a:srgbClr val="2D4A33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7E24D30-F662-4C81-B43C-F0978EE590E4}"/>
              </a:ext>
            </a:extLst>
          </p:cNvPr>
          <p:cNvSpPr>
            <a:spLocks noGrp="1"/>
          </p:cNvSpPr>
          <p:nvPr/>
        </p:nvSpPr>
        <p:spPr>
          <a:xfrm>
            <a:off x="1905000" y="4629150"/>
            <a:ext cx="4514850" cy="1666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r>
              <a:rPr lang="zh-CN" altLang="zh-CN" dirty="0"/>
              <a:t>多查询拆分可以缓解用户问题表达不完整的问题。相比单查询检索，它更容易覆盖同义表达、近义表达和不同问题角度，从而提升相关 chunk 被召回的概率。</a:t>
            </a:r>
            <a:endParaRPr lang="en-US" altLang="zh-CN" dirty="0"/>
          </a:p>
          <a:p>
            <a:r>
              <a:rPr lang="zh-CN" altLang="zh-CN" dirty="0"/>
              <a:t>自我纠错机制可以在最终返回前进行一次事实审查，降低模型脱离上下文自由发挥的概率，提高回答与文档内容的一致性。</a:t>
            </a:r>
          </a:p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962087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642171A4-C23A-4145-BED1-2E8834D0E5B1}"/>
              </a:ext>
            </a:extLst>
          </p:cNvPr>
          <p:cNvSpPr>
            <a:spLocks noGrp="1"/>
          </p:cNvSpPr>
          <p:nvPr/>
        </p:nvSpPr>
        <p:spPr>
          <a:xfrm>
            <a:off x="2614979" y="2321005"/>
            <a:ext cx="2604077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800" b="0" i="0" u="none" strike="noStrike" kern="1200" cap="none" spc="0" normalizeH="0" baseline="0" noProof="0" dirty="0">
                <a:ln>
                  <a:noFill/>
                </a:ln>
                <a:solidFill>
                  <a:srgbClr val="F5F4F9"/>
                </a:solidFill>
                <a:effectLst/>
                <a:uLnTx/>
                <a:uFillTx/>
                <a:latin typeface="Arial"/>
                <a:ea typeface="STZhongsong"/>
                <a:cs typeface="+mn-cs"/>
              </a:rPr>
              <a:t>0</a:t>
            </a:r>
            <a:r>
              <a:rPr lang="en-US" sz="13800" dirty="0">
                <a:solidFill>
                  <a:srgbClr val="F5F4F9"/>
                </a:solidFill>
                <a:latin typeface="Arial"/>
                <a:ea typeface="STZhongsong"/>
              </a:rPr>
              <a:t>7</a:t>
            </a:r>
            <a:endParaRPr kumimoji="0" sz="13800" b="0" i="0" u="none" strike="noStrike" kern="1200" cap="none" spc="0" normalizeH="0" baseline="0" noProof="0" dirty="0">
              <a:ln>
                <a:noFill/>
              </a:ln>
              <a:solidFill>
                <a:srgbClr val="F5F4F9"/>
              </a:solidFill>
              <a:effectLst/>
              <a:uLnTx/>
              <a:uFillTx/>
              <a:latin typeface="Arial"/>
              <a:ea typeface="STZhongsong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38E2919-D9D9-4496-93DC-FD75812F9CF1}"/>
              </a:ext>
            </a:extLst>
          </p:cNvPr>
          <p:cNvSpPr>
            <a:spLocks noGrp="1"/>
          </p:cNvSpPr>
          <p:nvPr/>
        </p:nvSpPr>
        <p:spPr>
          <a:xfrm>
            <a:off x="6331762" y="2685166"/>
            <a:ext cx="226215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5400" b="0" i="0" dirty="0">
                <a:solidFill>
                  <a:schemeClr val="bg1"/>
                </a:solidFill>
                <a:effectLst/>
                <a:latin typeface="Color Emoji"/>
              </a:rPr>
              <a:t>谢羿衡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STZhongsong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686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CB19A068-375C-44CD-B486-A2E0564D99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4A33"/>
          </a:solidFill>
          <a:ln w="0">
            <a:solidFill>
              <a:srgbClr val="2D4A33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8EDCF9F-E0B5-4603-A825-182C7732172E}"/>
              </a:ext>
            </a:extLst>
          </p:cNvPr>
          <p:cNvSpPr>
            <a:spLocks noGrp="1"/>
          </p:cNvSpPr>
          <p:nvPr/>
        </p:nvSpPr>
        <p:spPr>
          <a:xfrm>
            <a:off x="762000" y="400050"/>
            <a:ext cx="10668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2550" b="1">
                <a:solidFill>
                  <a:srgbClr val="2D4A33"/>
                </a:solidFill>
              </a:defRPr>
            </a:pPr>
            <a:r>
              <a:rPr lang="zh-CN" altLang="en-US" sz="2800" b="0" i="0" dirty="0">
                <a:effectLst/>
                <a:latin typeface="Color Emoji"/>
              </a:rPr>
              <a:t>谢羿衡</a:t>
            </a:r>
            <a:endParaRPr sz="2550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CF3AAA-E565-49A5-9E5D-12AB5BEA2BCC}"/>
              </a:ext>
            </a:extLst>
          </p:cNvPr>
          <p:cNvSpPr>
            <a:spLocks noGrp="1"/>
          </p:cNvSpPr>
          <p:nvPr/>
        </p:nvSpPr>
        <p:spPr>
          <a:xfrm>
            <a:off x="484716" y="1250155"/>
            <a:ext cx="5763683" cy="2542911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4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CC68CB8-D28B-4FBA-BFEE-BA369B649486}"/>
              </a:ext>
            </a:extLst>
          </p:cNvPr>
          <p:cNvSpPr>
            <a:spLocks noGrp="1"/>
          </p:cNvSpPr>
          <p:nvPr/>
        </p:nvSpPr>
        <p:spPr>
          <a:xfrm>
            <a:off x="1736195" y="1450181"/>
            <a:ext cx="4305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D4A33"/>
                </a:solidFill>
              </a:defRPr>
            </a:pPr>
            <a:r>
              <a:rPr lang="zh-CN" altLang="en-US" sz="3200" b="1" dirty="0">
                <a:solidFill>
                  <a:srgbClr val="2D4A33"/>
                </a:solidFill>
              </a:rPr>
              <a:t>中文文本切分改进</a:t>
            </a:r>
            <a:endParaRPr sz="3200" b="1" dirty="0">
              <a:solidFill>
                <a:srgbClr val="2D4A33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F4B1FB-DFE4-43C7-98D1-891507107452}"/>
              </a:ext>
            </a:extLst>
          </p:cNvPr>
          <p:cNvSpPr>
            <a:spLocks noGrp="1"/>
          </p:cNvSpPr>
          <p:nvPr/>
        </p:nvSpPr>
        <p:spPr>
          <a:xfrm>
            <a:off x="699557" y="1867430"/>
            <a:ext cx="5334000" cy="172878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r>
              <a:rPr lang="zh-CN" altLang="en-US" dirty="0"/>
              <a:t>分隔符扩展为中英文混合</a:t>
            </a:r>
            <a:r>
              <a:rPr lang="en-US" altLang="zh-CN" dirty="0"/>
              <a:t>:</a:t>
            </a:r>
            <a:r>
              <a:rPr lang="zh-CN" altLang="en-US" dirty="0"/>
              <a:t>。！？； </a:t>
            </a:r>
            <a:r>
              <a:rPr lang="en-US" altLang="zh-CN" dirty="0"/>
              <a:t>+ .!?</a:t>
            </a:r>
          </a:p>
          <a:p>
            <a:endParaRPr lang="en-US" altLang="zh-CN" dirty="0"/>
          </a:p>
          <a:p>
            <a:r>
              <a:rPr lang="zh-CN" altLang="en-US" dirty="0"/>
              <a:t>句子分块用正则 </a:t>
            </a:r>
            <a:r>
              <a:rPr lang="en-US" altLang="zh-CN" dirty="0"/>
              <a:t>(?&lt;=[</a:t>
            </a:r>
            <a:r>
              <a:rPr lang="zh-CN" altLang="en-US" dirty="0"/>
              <a:t>。！？；</a:t>
            </a:r>
            <a:r>
              <a:rPr lang="en-US" altLang="zh-CN" dirty="0"/>
              <a:t>.!?])\s* </a:t>
            </a:r>
            <a:r>
              <a:rPr lang="zh-CN" altLang="en-US" dirty="0"/>
              <a:t>识别边界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超长句</a:t>
            </a:r>
            <a:r>
              <a:rPr lang="en-US" altLang="zh-CN" dirty="0"/>
              <a:t>(&gt;1000</a:t>
            </a:r>
            <a:r>
              <a:rPr lang="zh-CN" altLang="en-US" dirty="0"/>
              <a:t>字</a:t>
            </a:r>
            <a:r>
              <a:rPr lang="en-US" altLang="zh-CN" dirty="0"/>
              <a:t>)</a:t>
            </a:r>
            <a:r>
              <a:rPr lang="zh-CN" altLang="en-US" dirty="0"/>
              <a:t>自动二次切分</a:t>
            </a:r>
            <a:r>
              <a:rPr lang="en-US" altLang="zh-CN" dirty="0"/>
              <a:t>,</a:t>
            </a:r>
            <a:r>
              <a:rPr lang="zh-CN" altLang="en-US" dirty="0"/>
              <a:t>兼容中英混排</a:t>
            </a:r>
            <a:endParaRPr lang="zh-CN" altLang="zh-CN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2F5307D-47AA-4496-B027-2EBC00B0661D}"/>
              </a:ext>
            </a:extLst>
          </p:cNvPr>
          <p:cNvSpPr>
            <a:spLocks noGrp="1"/>
          </p:cNvSpPr>
          <p:nvPr/>
        </p:nvSpPr>
        <p:spPr>
          <a:xfrm>
            <a:off x="6515100" y="1250154"/>
            <a:ext cx="4762500" cy="5207795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4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8ED42BD-464C-42DE-BDFA-1C3FED5B7ACA}"/>
              </a:ext>
            </a:extLst>
          </p:cNvPr>
          <p:cNvSpPr>
            <a:spLocks noGrp="1"/>
          </p:cNvSpPr>
          <p:nvPr/>
        </p:nvSpPr>
        <p:spPr>
          <a:xfrm>
            <a:off x="6800850" y="1685925"/>
            <a:ext cx="4305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2D4A33"/>
                </a:solidFill>
              </a:defRPr>
            </a:pPr>
            <a:r>
              <a:rPr lang="en-US" sz="3200" b="1" dirty="0">
                <a:solidFill>
                  <a:srgbClr val="2D4A33"/>
                </a:solidFill>
              </a:rPr>
              <a:t>Windows FAISS </a:t>
            </a:r>
          </a:p>
          <a:p>
            <a:pPr>
              <a:defRPr sz="1650" b="1">
                <a:solidFill>
                  <a:srgbClr val="2D4A33"/>
                </a:solidFill>
              </a:defRPr>
            </a:pPr>
            <a:r>
              <a:rPr lang="zh-CN" altLang="en-US" sz="3200" b="1" dirty="0">
                <a:solidFill>
                  <a:srgbClr val="2D4A33"/>
                </a:solidFill>
              </a:rPr>
              <a:t>中文路径修复</a:t>
            </a:r>
            <a:endParaRPr sz="3200" b="1" dirty="0">
              <a:solidFill>
                <a:srgbClr val="2D4A33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396FB42-E968-4370-8713-7F8120653B23}"/>
              </a:ext>
            </a:extLst>
          </p:cNvPr>
          <p:cNvSpPr>
            <a:spLocks noGrp="1"/>
          </p:cNvSpPr>
          <p:nvPr/>
        </p:nvSpPr>
        <p:spPr>
          <a:xfrm>
            <a:off x="6729941" y="2226733"/>
            <a:ext cx="4539192" cy="223414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r>
              <a:rPr lang="zh-CN" altLang="en-US" dirty="0"/>
              <a:t>痛点</a:t>
            </a:r>
            <a:r>
              <a:rPr lang="en-US" altLang="zh-CN" dirty="0"/>
              <a:t>:</a:t>
            </a:r>
            <a:r>
              <a:rPr lang="en-US" altLang="zh-CN" dirty="0" err="1"/>
              <a:t>read_index</a:t>
            </a:r>
            <a:r>
              <a:rPr lang="en-US" altLang="zh-CN" dirty="0"/>
              <a:t>/</a:t>
            </a:r>
            <a:r>
              <a:rPr lang="en-US" altLang="zh-CN" dirty="0" err="1"/>
              <a:t>write_index</a:t>
            </a:r>
            <a:r>
              <a:rPr lang="en-US" altLang="zh-CN" dirty="0"/>
              <a:t> </a:t>
            </a:r>
            <a:r>
              <a:rPr lang="zh-CN" altLang="en-US" dirty="0"/>
              <a:t>遇中文路径打开失败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改用 </a:t>
            </a:r>
            <a:r>
              <a:rPr lang="en-US" altLang="zh-CN" dirty="0"/>
              <a:t>serialize/</a:t>
            </a:r>
            <a:r>
              <a:rPr lang="en-US" altLang="zh-CN" dirty="0" err="1"/>
              <a:t>deserialize_index</a:t>
            </a:r>
            <a:r>
              <a:rPr lang="en-US" altLang="zh-CN" dirty="0"/>
              <a:t> + Python </a:t>
            </a:r>
            <a:r>
              <a:rPr lang="zh-CN" altLang="en-US" dirty="0"/>
              <a:t>原生文件流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中文知识库名</a:t>
            </a:r>
            <a:r>
              <a:rPr lang="en-US" altLang="zh-CN" dirty="0"/>
              <a:t>/</a:t>
            </a:r>
            <a:r>
              <a:rPr lang="zh-CN" altLang="en-US" dirty="0"/>
              <a:t>文档名均可正常索引读写</a:t>
            </a:r>
            <a:endParaRPr lang="zh-CN" altLang="zh-CN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5C669DF-CAC4-4D06-92B2-8A85E452067E}"/>
              </a:ext>
            </a:extLst>
          </p:cNvPr>
          <p:cNvSpPr>
            <a:spLocks noGrp="1"/>
          </p:cNvSpPr>
          <p:nvPr/>
        </p:nvSpPr>
        <p:spPr>
          <a:xfrm>
            <a:off x="484716" y="3852863"/>
            <a:ext cx="5763683" cy="2605087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4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327DB0-DBD6-42E5-85A2-3C88543BC4E9}"/>
              </a:ext>
            </a:extLst>
          </p:cNvPr>
          <p:cNvSpPr>
            <a:spLocks noGrp="1"/>
          </p:cNvSpPr>
          <p:nvPr/>
        </p:nvSpPr>
        <p:spPr>
          <a:xfrm>
            <a:off x="1752600" y="3876675"/>
            <a:ext cx="3638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2D4A33"/>
                </a:solidFill>
              </a:defRPr>
            </a:pPr>
            <a:r>
              <a:rPr lang="zh-CN" altLang="en-US" sz="3200" b="1" dirty="0">
                <a:solidFill>
                  <a:srgbClr val="2D4A33"/>
                </a:solidFill>
              </a:rPr>
              <a:t>中文字数统计优化</a:t>
            </a:r>
            <a:endParaRPr sz="3200" b="1" dirty="0">
              <a:solidFill>
                <a:srgbClr val="2D4A33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7E24D30-F662-4C81-B43C-F0978EE590E4}"/>
              </a:ext>
            </a:extLst>
          </p:cNvPr>
          <p:cNvSpPr>
            <a:spLocks noGrp="1"/>
          </p:cNvSpPr>
          <p:nvPr/>
        </p:nvSpPr>
        <p:spPr>
          <a:xfrm>
            <a:off x="699557" y="4292070"/>
            <a:ext cx="6378576" cy="1666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r>
              <a:rPr lang="zh-CN" altLang="en-US" dirty="0"/>
              <a:t>原 </a:t>
            </a:r>
            <a:r>
              <a:rPr lang="en-US" altLang="zh-CN" dirty="0" err="1"/>
              <a:t>text.split</a:t>
            </a:r>
            <a:r>
              <a:rPr lang="en-US" altLang="zh-CN" dirty="0"/>
              <a:t>() </a:t>
            </a:r>
            <a:r>
              <a:rPr lang="zh-CN" altLang="en-US" dirty="0"/>
              <a:t>把整句中文算作 </a:t>
            </a:r>
            <a:r>
              <a:rPr lang="en-US" altLang="zh-CN" dirty="0"/>
              <a:t>1 </a:t>
            </a:r>
            <a:r>
              <a:rPr lang="zh-CN" altLang="en-US" dirty="0"/>
              <a:t>个词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新增 </a:t>
            </a:r>
            <a:r>
              <a:rPr lang="en-US" altLang="zh-CN" dirty="0"/>
              <a:t>_</a:t>
            </a:r>
            <a:r>
              <a:rPr lang="en-US" altLang="zh-CN" dirty="0" err="1"/>
              <a:t>estimate_word_count</a:t>
            </a:r>
            <a:r>
              <a:rPr lang="en-US" altLang="zh-CN" dirty="0"/>
              <a:t>:</a:t>
            </a:r>
            <a:r>
              <a:rPr lang="zh-CN" altLang="en-US" dirty="0"/>
              <a:t>正则 </a:t>
            </a:r>
            <a:r>
              <a:rPr lang="en-US" altLang="zh-CN" dirty="0"/>
              <a:t>[</a:t>
            </a:r>
            <a:r>
              <a:rPr lang="zh-CN" altLang="en-US" dirty="0"/>
              <a:t>一</a:t>
            </a:r>
            <a:r>
              <a:rPr lang="en-US" altLang="zh-CN" dirty="0"/>
              <a:t>-鿿]|[A-Za-z0-9_]+</a:t>
            </a:r>
          </a:p>
          <a:p>
            <a:endParaRPr lang="en-US" altLang="zh-CN" dirty="0"/>
          </a:p>
          <a:p>
            <a:r>
              <a:rPr lang="zh-CN" altLang="en-US" dirty="0"/>
              <a:t>每个汉字</a:t>
            </a:r>
            <a:r>
              <a:rPr lang="en-US" altLang="zh-CN" dirty="0"/>
              <a:t>=1</a:t>
            </a:r>
            <a:r>
              <a:rPr lang="zh-CN" altLang="en-US" dirty="0"/>
              <a:t>单元</a:t>
            </a:r>
            <a:r>
              <a:rPr lang="en-US" altLang="zh-CN" dirty="0"/>
              <a:t>,</a:t>
            </a:r>
            <a:r>
              <a:rPr lang="zh-CN" altLang="en-US" dirty="0"/>
              <a:t>准确控制上下文 </a:t>
            </a:r>
            <a:r>
              <a:rPr lang="en-US" altLang="zh-CN" dirty="0"/>
              <a:t>token </a:t>
            </a:r>
            <a:r>
              <a:rPr lang="zh-CN" altLang="en-US" dirty="0"/>
              <a:t>预算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5056072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8D1C4FE0-3CAF-4428-91B5-F4637A0F2702}"/>
              </a:ext>
            </a:extLst>
          </p:cNvPr>
          <p:cNvSpPr>
            <a:spLocks noGrp="1"/>
          </p:cNvSpPr>
          <p:nvPr/>
        </p:nvSpPr>
        <p:spPr>
          <a:xfrm>
            <a:off x="0" y="1322656"/>
            <a:ext cx="12192000" cy="4212688"/>
          </a:xfrm>
          <a:prstGeom prst="rect">
            <a:avLst/>
          </a:prstGeom>
          <a:solidFill>
            <a:srgbClr val="253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62FA069-8E92-4FF7-8119-1BBFAAE75D08}"/>
              </a:ext>
            </a:extLst>
          </p:cNvPr>
          <p:cNvSpPr>
            <a:spLocks noGrp="1"/>
          </p:cNvSpPr>
          <p:nvPr/>
        </p:nvSpPr>
        <p:spPr>
          <a:xfrm>
            <a:off x="3744435" y="1739250"/>
            <a:ext cx="590453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400" dirty="0" err="1">
                <a:solidFill>
                  <a:schemeClr val="bg1"/>
                </a:solidFill>
                <a:latin typeface="字魂17号-萌趣果冻体"/>
                <a:ea typeface="字魂17号-萌趣果冻体"/>
                <a:cs typeface="字魂17号-萌趣果冻体"/>
              </a:rPr>
              <a:t>Myrag</a:t>
            </a:r>
            <a:r>
              <a:rPr sz="4400" dirty="0" err="1">
                <a:solidFill>
                  <a:schemeClr val="bg1"/>
                </a:solidFill>
                <a:latin typeface="字魂17号-萌趣果冻体"/>
                <a:ea typeface="字魂17号-萌趣果冻体"/>
                <a:cs typeface="字魂17号-萌趣果冻体"/>
              </a:rPr>
              <a:t>总结</a:t>
            </a:r>
            <a:endParaRPr sz="4400" dirty="0">
              <a:solidFill>
                <a:schemeClr val="bg1"/>
              </a:solidFill>
              <a:latin typeface="字魂17号-萌趣果冻体"/>
              <a:ea typeface="字魂17号-萌趣果冻体"/>
              <a:cs typeface="字魂17号-萌趣果冻体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583A319-A2E7-4817-AEA9-F2FED40256A2}"/>
              </a:ext>
            </a:extLst>
          </p:cNvPr>
          <p:cNvSpPr>
            <a:spLocks noGrp="1"/>
          </p:cNvSpPr>
          <p:nvPr/>
        </p:nvSpPr>
        <p:spPr>
          <a:xfrm>
            <a:off x="5376550" y="2961197"/>
            <a:ext cx="32381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6000" dirty="0" err="1">
                <a:solidFill>
                  <a:schemeClr val="bg1"/>
                </a:solidFill>
              </a:rPr>
              <a:t>谢谢</a:t>
            </a:r>
            <a:endParaRPr sz="6000" dirty="0">
              <a:solidFill>
                <a:schemeClr val="bg1"/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F76FFC3-0B4B-4F04-B150-F2537BA4A393}"/>
              </a:ext>
            </a:extLst>
          </p:cNvPr>
          <p:cNvSpPr>
            <a:spLocks noGrp="1"/>
          </p:cNvSpPr>
          <p:nvPr/>
        </p:nvSpPr>
        <p:spPr>
          <a:xfrm>
            <a:off x="249709" y="3223401"/>
            <a:ext cx="449489" cy="44948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等腰三角形 12">
            <a:extLst>
              <a:ext uri="{FF2B5EF4-FFF2-40B4-BE49-F238E27FC236}">
                <a16:creationId xmlns:a16="http://schemas.microsoft.com/office/drawing/2014/main" id="{A258E667-FBBE-4E4A-A6ED-C1501840503E}"/>
              </a:ext>
            </a:extLst>
          </p:cNvPr>
          <p:cNvSpPr>
            <a:spLocks noGrp="1"/>
          </p:cNvSpPr>
          <p:nvPr/>
        </p:nvSpPr>
        <p:spPr>
          <a:xfrm rot="16200000">
            <a:off x="345362" y="3365602"/>
            <a:ext cx="191501" cy="165087"/>
          </a:xfrm>
          <a:prstGeom prst="triangle">
            <a:avLst/>
          </a:prstGeom>
          <a:solidFill>
            <a:srgbClr val="2B1D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924DBAFA-088D-405C-BC4D-58F76E8EC34B}"/>
              </a:ext>
            </a:extLst>
          </p:cNvPr>
          <p:cNvSpPr>
            <a:spLocks noGrp="1"/>
          </p:cNvSpPr>
          <p:nvPr/>
        </p:nvSpPr>
        <p:spPr>
          <a:xfrm flipH="1">
            <a:off x="10993393" y="3185111"/>
            <a:ext cx="449489" cy="44948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等腰三角形 16">
            <a:extLst>
              <a:ext uri="{FF2B5EF4-FFF2-40B4-BE49-F238E27FC236}">
                <a16:creationId xmlns:a16="http://schemas.microsoft.com/office/drawing/2014/main" id="{026B5618-3673-422F-B68F-69144154F724}"/>
              </a:ext>
            </a:extLst>
          </p:cNvPr>
          <p:cNvSpPr>
            <a:spLocks noGrp="1"/>
          </p:cNvSpPr>
          <p:nvPr/>
        </p:nvSpPr>
        <p:spPr>
          <a:xfrm rot="16200000" flipH="1">
            <a:off x="10897740" y="3327312"/>
            <a:ext cx="191501" cy="165087"/>
          </a:xfrm>
          <a:prstGeom prst="triangle">
            <a:avLst/>
          </a:prstGeom>
          <a:solidFill>
            <a:srgbClr val="2B1D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5FDAC167-36A5-4CF7-BA84-E9C7B4803AF1}"/>
              </a:ext>
            </a:extLst>
          </p:cNvPr>
          <p:cNvSpPr>
            <a:spLocks noGrp="1"/>
          </p:cNvSpPr>
          <p:nvPr/>
        </p:nvSpPr>
        <p:spPr>
          <a:xfrm>
            <a:off x="4018164" y="1584250"/>
            <a:ext cx="1066959" cy="1015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5964" y="1418612"/>
            <a:ext cx="1364080" cy="134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609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vcliop3">
      <a:majorFont>
        <a:latin typeface="Arial"/>
        <a:ea typeface="STZhongsong"/>
        <a:cs typeface=""/>
      </a:majorFont>
      <a:minorFont>
        <a:latin typeface="Arial"/>
        <a:ea typeface="STZhongsong"/>
        <a:cs typeface="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vcliop3">
      <a:majorFont>
        <a:latin typeface="Arial"/>
        <a:ea typeface="STZhongsong"/>
        <a:cs typeface=""/>
      </a:majorFont>
      <a:minorFont>
        <a:latin typeface="Arial"/>
        <a:ea typeface="STZhongsong"/>
        <a:cs typeface="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708</Words>
  <Application>Microsoft Office PowerPoint</Application>
  <DocSecurity>0</DocSecurity>
  <PresentationFormat>宽屏</PresentationFormat>
  <Paragraphs>95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Color Emoji</vt:lpstr>
      <vt:lpstr>ui-monospace</vt:lpstr>
      <vt:lpstr>字魂17号-萌趣果冻体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QuQ QuQ</cp:lastModifiedBy>
  <cp:revision>15</cp:revision>
  <dcterms:created xsi:type="dcterms:W3CDTF">2026-06-08T16:49:27Z</dcterms:created>
  <dcterms:modified xsi:type="dcterms:W3CDTF">2026-06-16T07:48:21Z</dcterms:modified>
</cp:coreProperties>
</file>