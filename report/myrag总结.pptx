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73" r:id="rId3"/>
    <p:sldId id="280" r:id="rId4"/>
    <p:sldId id="258" r:id="rId5"/>
    <p:sldId id="260" r:id="rId6"/>
    <p:sldId id="274" r:id="rId7"/>
    <p:sldId id="276" r:id="rId8"/>
    <p:sldId id="277" r:id="rId9"/>
    <p:sldId id="262" r:id="rId10"/>
    <p:sldId id="263" r:id="rId11"/>
    <p:sldId id="270" r:id="rId12"/>
    <p:sldId id="259" r:id="rId13"/>
    <p:sldId id="271" r:id="rId14"/>
    <p:sldId id="264" r:id="rId15"/>
    <p:sldId id="272" r:id="rId16"/>
    <p:sldId id="261" r:id="rId17"/>
    <p:sldId id="278" r:id="rId18"/>
    <p:sldId id="279" r:id="rId19"/>
    <p:sldId id="268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6" d="100"/>
          <a:sy n="76" d="100"/>
        </p:scale>
        <p:origin x="132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5943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4.xm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zh-CN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检索增强生成成员贡献总结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组内评分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1346200"/>
            <a:ext cx="8191500" cy="322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2515870"/>
            <a:ext cx="7734300" cy="9131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4000" dirty="0">
                <a:solidFill>
                  <a:srgbClr val="1F2D22"/>
                </a:solidFill>
              </a:rPr>
              <a:t>出于分工明确考虑，并非所有组员均参与了两个项目。但每个组员的总体贡献相近，组内评分所有组员相同平分。</a:t>
            </a:r>
            <a:endParaRPr sz="4000" b="0" dirty="0">
              <a:solidFill>
                <a:srgbClr val="1F2D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285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消除部署过程中的环境依赖问题项目，环境开箱即用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嵌入模型和大语言模型开箱即用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项目界面演示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32" y="857250"/>
            <a:ext cx="10532736" cy="58054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嵌入模型演示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84" y="857250"/>
            <a:ext cx="10410032" cy="57377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大模型生成演示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582" y="857250"/>
            <a:ext cx="9550836" cy="52631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sz="5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系统首页「数据概览」</a:t>
            </a:r>
            <a:r>
              <a:rPr lang="en-US" altLang="zh-CN" sz="1350" b="0">
                <a:solidFill>
                  <a:srgbClr val="1F2D22"/>
                </a:solidFill>
              </a:rPr>
              <a:t>Dashboard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顶部：</a:t>
            </a:r>
            <a:r>
              <a:rPr lang="en-US" altLang="zh-CN" sz="1350" b="0">
                <a:solidFill>
                  <a:srgbClr val="1F2D22"/>
                </a:solidFill>
              </a:rPr>
              <a:t>5 </a:t>
            </a:r>
            <a:r>
              <a:rPr lang="zh-CN" altLang="en-US" sz="1350" b="0">
                <a:solidFill>
                  <a:srgbClr val="1F2D22"/>
                </a:solidFill>
              </a:rPr>
              <a:t>张统计卡片（已导入文档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已分块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已嵌入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向量库集合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检索记录）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下方：文档列表区，含搜索筛选、单条删除、批量删除功能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点击卡片切换视图，选中高亮，无路由跳转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并发请求</a:t>
            </a:r>
            <a:r>
              <a:rPr lang="en-US" altLang="zh-CN" sz="1350" b="0">
                <a:solidFill>
                  <a:srgbClr val="1F2D22"/>
                </a:solidFill>
              </a:rPr>
              <a:t> 5 </a:t>
            </a:r>
            <a:r>
              <a:rPr lang="zh-CN" altLang="en-US" sz="1350" b="0">
                <a:solidFill>
                  <a:srgbClr val="1F2D22"/>
                </a:solidFill>
              </a:rPr>
              <a:t>个</a:t>
            </a:r>
            <a:r>
              <a:rPr lang="en-US" altLang="zh-CN" sz="1350" b="0">
                <a:solidFill>
                  <a:srgbClr val="1F2D22"/>
                </a:solidFill>
              </a:rPr>
              <a:t>GET  API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点击统计卡片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切换下方文档列表视图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输入关键词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前端实时过滤列表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删除的确认弹窗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调用</a:t>
            </a:r>
            <a:r>
              <a:rPr lang="en-US" altLang="zh-CN" sz="1350" b="0">
                <a:solidFill>
                  <a:srgbClr val="1F2D22"/>
                </a:solidFill>
              </a:rPr>
              <a:t> DELETE API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刷新数据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一站式查看</a:t>
            </a:r>
            <a:r>
              <a:rPr lang="en-US" altLang="zh-CN" sz="1350" b="0">
                <a:solidFill>
                  <a:srgbClr val="1F2D22"/>
                </a:solidFill>
              </a:rPr>
              <a:t> RAG </a:t>
            </a:r>
            <a:r>
              <a:rPr lang="zh-CN" altLang="en-US" sz="1350" b="0">
                <a:solidFill>
                  <a:srgbClr val="1F2D22"/>
                </a:solidFill>
              </a:rPr>
              <a:t>流水线各阶段数据状态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支持知识库文档的搜索、单条</a:t>
            </a:r>
            <a:r>
              <a:rPr lang="en-US" altLang="zh-CN" sz="1350" b="0">
                <a:solidFill>
                  <a:srgbClr val="1F2D22"/>
                </a:solidFill>
              </a:rPr>
              <a:t>/</a:t>
            </a:r>
            <a:r>
              <a:rPr lang="zh-CN" altLang="en-US" sz="1350" b="0">
                <a:solidFill>
                  <a:srgbClr val="1F2D22"/>
                </a:solidFill>
              </a:rPr>
              <a:t>批量删除管理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纯</a:t>
            </a:r>
            <a:r>
              <a:rPr lang="en-US" altLang="zh-CN" sz="1350" b="0">
                <a:solidFill>
                  <a:srgbClr val="1F2D22"/>
                </a:solidFill>
              </a:rPr>
              <a:t> Tailwind CSS </a:t>
            </a:r>
            <a:r>
              <a:rPr lang="zh-CN" altLang="en-US" sz="1350" b="0">
                <a:solidFill>
                  <a:srgbClr val="1F2D22"/>
                </a:solidFill>
              </a:rPr>
              <a:t>实现，零额外依赖，加载快速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57250" y="1619250"/>
            <a:ext cx="4762500" cy="284289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  <a:r>
              <a:rPr lang="zh-CN" altLang="en-US" sz="1650" b="1">
                <a:solidFill>
                  <a:srgbClr val="2D4A33"/>
                </a:solidFill>
              </a:rPr>
              <a:t>本地底座与多索引</a:t>
            </a: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085850" y="2228850"/>
            <a:ext cx="4305300" cy="19888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双检索底座适配：后端 </a:t>
            </a:r>
            <a:r>
              <a:rPr lang="en-US" altLang="zh-CN" sz="1350" b="0">
                <a:solidFill>
                  <a:srgbClr val="1F2D22"/>
                </a:solidFill>
              </a:rPr>
              <a:t>SearchService </a:t>
            </a:r>
            <a:r>
              <a:rPr lang="zh-CN" altLang="en-US" sz="1350" b="0">
                <a:solidFill>
                  <a:srgbClr val="1F2D22"/>
                </a:solidFill>
              </a:rPr>
              <a:t>逻辑抽象，支持 </a:t>
            </a:r>
            <a:r>
              <a:rPr lang="en-US" altLang="zh-CN" sz="1350" b="0">
                <a:solidFill>
                  <a:srgbClr val="1F2D22"/>
                </a:solidFill>
              </a:rPr>
              <a:t>Chroma </a:t>
            </a:r>
            <a:r>
              <a:rPr lang="zh-CN" altLang="en-US" sz="1350" b="0">
                <a:solidFill>
                  <a:srgbClr val="1F2D22"/>
                </a:solidFill>
              </a:rPr>
              <a:t>与 </a:t>
            </a:r>
            <a:r>
              <a:rPr lang="en-US" altLang="zh-CN" sz="1350" b="0">
                <a:solidFill>
                  <a:srgbClr val="1F2D22"/>
                </a:solidFill>
              </a:rPr>
              <a:t>FAISS </a:t>
            </a:r>
            <a:r>
              <a:rPr lang="zh-CN" altLang="en-US" sz="1350" b="0">
                <a:solidFill>
                  <a:srgbClr val="1F2D22"/>
                </a:solidFill>
              </a:rPr>
              <a:t>数据库运行时自由切换。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三种经典索引构建：新增 </a:t>
            </a:r>
            <a:r>
              <a:rPr lang="en-US" altLang="zh-CN" sz="1350" b="0">
                <a:solidFill>
                  <a:srgbClr val="1F2D22"/>
                </a:solidFill>
              </a:rPr>
              <a:t>FLAT（</a:t>
            </a:r>
            <a:r>
              <a:rPr lang="zh-CN" altLang="en-US" sz="1350" b="0">
                <a:solidFill>
                  <a:srgbClr val="1F2D22"/>
                </a:solidFill>
              </a:rPr>
              <a:t>精确）、</a:t>
            </a:r>
            <a:r>
              <a:rPr lang="en-US" altLang="zh-CN" sz="1350" b="0">
                <a:solidFill>
                  <a:srgbClr val="1F2D22"/>
                </a:solidFill>
              </a:rPr>
              <a:t>IVF_FLAT（</a:t>
            </a:r>
            <a:r>
              <a:rPr lang="zh-CN" altLang="en-US" sz="1350" b="0">
                <a:solidFill>
                  <a:srgbClr val="1F2D22"/>
                </a:solidFill>
              </a:rPr>
              <a:t>倒排）、</a:t>
            </a:r>
            <a:r>
              <a:rPr lang="en-US" altLang="zh-CN" sz="1350" b="0">
                <a:solidFill>
                  <a:srgbClr val="1F2D22"/>
                </a:solidFill>
              </a:rPr>
              <a:t>HNSW（</a:t>
            </a:r>
            <a:r>
              <a:rPr lang="zh-CN" altLang="en-US" sz="1350" b="0">
                <a:solidFill>
                  <a:srgbClr val="1F2D22"/>
                </a:solidFill>
              </a:rPr>
              <a:t>图）三种不同索引模式。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IVF</a:t>
            </a:r>
            <a:r>
              <a:rPr lang="zh-CN" altLang="en-US" sz="1350" b="0">
                <a:solidFill>
                  <a:srgbClr val="1F2D22"/>
                </a:solidFill>
              </a:rPr>
              <a:t>训练流程补全：增加 </a:t>
            </a:r>
            <a:r>
              <a:rPr lang="en-US" altLang="zh-CN" sz="1350" b="0">
                <a:solidFill>
                  <a:srgbClr val="1F2D22"/>
                </a:solidFill>
              </a:rPr>
              <a:t>index.train(xb) </a:t>
            </a:r>
            <a:r>
              <a:rPr lang="zh-CN" altLang="en-US" sz="1350" b="0">
                <a:solidFill>
                  <a:srgbClr val="1F2D22"/>
                </a:solidFill>
              </a:rPr>
              <a:t>聚类中心训练阶段，解决近似检索空间划分与精度校准。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6572250" y="1619250"/>
            <a:ext cx="4762500" cy="284289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>
                <a:solidFill>
                  <a:srgbClr val="2D4A33"/>
                </a:solidFill>
              </a:rPr>
              <a:t>检索度量标准化对齐</a:t>
            </a: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800850" y="2228850"/>
            <a:ext cx="4305300" cy="19888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原有问题：</a:t>
            </a:r>
            <a:r>
              <a:rPr lang="en-US" altLang="zh-CN" sz="1350" b="0">
                <a:solidFill>
                  <a:srgbClr val="1F2D22"/>
                </a:solidFill>
              </a:rPr>
              <a:t>Chroma </a:t>
            </a:r>
            <a:r>
              <a:rPr lang="zh-CN" altLang="en-US" sz="1350" b="0">
                <a:solidFill>
                  <a:srgbClr val="1F2D22"/>
                </a:solidFill>
              </a:rPr>
              <a:t>计算余弦距离，</a:t>
            </a:r>
            <a:r>
              <a:rPr lang="en-US" altLang="zh-CN" sz="1350" b="0">
                <a:solidFill>
                  <a:srgbClr val="1F2D22"/>
                </a:solidFill>
              </a:rPr>
              <a:t>FAISS </a:t>
            </a:r>
            <a:r>
              <a:rPr lang="zh-CN" altLang="en-US" sz="1350" b="0">
                <a:solidFill>
                  <a:srgbClr val="1F2D22"/>
                </a:solidFill>
              </a:rPr>
              <a:t>默认计算 </a:t>
            </a:r>
            <a:r>
              <a:rPr lang="en-US" altLang="zh-CN" sz="1350" b="0">
                <a:solidFill>
                  <a:srgbClr val="1F2D22"/>
                </a:solidFill>
              </a:rPr>
              <a:t>L2 </a:t>
            </a:r>
            <a:r>
              <a:rPr lang="zh-CN" altLang="en-US" sz="1350" b="0">
                <a:solidFill>
                  <a:srgbClr val="1F2D22"/>
                </a:solidFill>
              </a:rPr>
              <a:t>距离，导致前端检索阈值（</a:t>
            </a:r>
            <a:r>
              <a:rPr lang="en-US" altLang="zh-CN" sz="1350" b="0">
                <a:solidFill>
                  <a:srgbClr val="1F2D22"/>
                </a:solidFill>
              </a:rPr>
              <a:t>threshold）</a:t>
            </a:r>
            <a:r>
              <a:rPr lang="zh-CN" altLang="en-US" sz="1350" b="0">
                <a:solidFill>
                  <a:srgbClr val="1F2D22"/>
                </a:solidFill>
              </a:rPr>
              <a:t>过滤失效。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距离转换公式：基于 </a:t>
            </a:r>
            <a:r>
              <a:rPr lang="en-US" altLang="zh-CN" sz="1350" b="0">
                <a:solidFill>
                  <a:srgbClr val="1F2D22"/>
                </a:solidFill>
              </a:rPr>
              <a:t>BGE </a:t>
            </a:r>
            <a:r>
              <a:rPr lang="zh-CN" altLang="en-US" sz="1350" b="0">
                <a:solidFill>
                  <a:srgbClr val="1F2D22"/>
                </a:solidFill>
              </a:rPr>
              <a:t>向量 </a:t>
            </a:r>
            <a:r>
              <a:rPr lang="en-US" altLang="zh-CN" sz="1350" b="0">
                <a:solidFill>
                  <a:srgbClr val="1F2D22"/>
                </a:solidFill>
              </a:rPr>
              <a:t>L2 </a:t>
            </a:r>
            <a:r>
              <a:rPr lang="zh-CN" altLang="en-US" sz="1350" b="0">
                <a:solidFill>
                  <a:srgbClr val="1F2D22"/>
                </a:solidFill>
              </a:rPr>
              <a:t>归一化特征，利用公式 </a:t>
            </a:r>
            <a:r>
              <a:rPr lang="en-US" altLang="zh-CN" sz="1350" b="0">
                <a:solidFill>
                  <a:srgbClr val="1F2D22"/>
                </a:solidFill>
              </a:rPr>
              <a:t>Score = 1.0 - d_L2 / 2.0 </a:t>
            </a:r>
            <a:r>
              <a:rPr lang="zh-CN" altLang="en-US" sz="1350" b="0">
                <a:solidFill>
                  <a:srgbClr val="1F2D22"/>
                </a:solidFill>
              </a:rPr>
              <a:t>重新映射。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统一余弦得分：各底层统一输出 </a:t>
            </a:r>
            <a:r>
              <a:rPr lang="en-US" altLang="zh-CN" sz="1350" b="0">
                <a:solidFill>
                  <a:srgbClr val="1F2D22"/>
                </a:solidFill>
              </a:rPr>
              <a:t>0∼1</a:t>
            </a:r>
            <a:r>
              <a:rPr lang="zh-CN" altLang="en-US" sz="1350" b="0">
                <a:solidFill>
                  <a:srgbClr val="1F2D22"/>
                </a:solidFill>
              </a:rPr>
              <a:t>的相似度，前端 </a:t>
            </a:r>
            <a:r>
              <a:rPr lang="en-US" altLang="zh-CN" sz="1350" b="0">
                <a:solidFill>
                  <a:srgbClr val="1F2D22"/>
                </a:solidFill>
              </a:rPr>
              <a:t>Similarity Threshold </a:t>
            </a:r>
            <a:r>
              <a:rPr lang="zh-CN" altLang="en-US" sz="1350" b="0">
                <a:solidFill>
                  <a:srgbClr val="1F2D22"/>
                </a:solidFill>
              </a:rPr>
              <a:t>滑动条在双底座下均精准生效。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4794885"/>
            <a:ext cx="10477500" cy="164401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178560" y="4968240"/>
            <a:ext cx="992695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>
                <a:solidFill>
                  <a:srgbClr val="2D4A33"/>
                </a:solidFill>
              </a:rPr>
              <a:t>本地集合管理与元数据兼容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78560" y="5380990"/>
            <a:ext cx="9926955" cy="9258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无状态集合拟态：本地动态扫描 .</a:t>
            </a:r>
            <a:r>
              <a:rPr lang="en-US" altLang="zh-CN" sz="1350" b="0">
                <a:solidFill>
                  <a:srgbClr val="1F2D22"/>
                </a:solidFill>
              </a:rPr>
              <a:t>index </a:t>
            </a:r>
            <a:r>
              <a:rPr lang="zh-CN" altLang="en-US" sz="1350" b="0">
                <a:solidFill>
                  <a:srgbClr val="1F2D22"/>
                </a:solidFill>
              </a:rPr>
              <a:t>文件并解析 _</a:t>
            </a:r>
            <a:r>
              <a:rPr lang="en-US" altLang="zh-CN" sz="1350" b="0">
                <a:solidFill>
                  <a:srgbClr val="1F2D22"/>
                </a:solidFill>
              </a:rPr>
              <a:t>metadata.json，</a:t>
            </a:r>
            <a:r>
              <a:rPr lang="zh-CN" altLang="en-US" sz="1350" b="0">
                <a:solidFill>
                  <a:srgbClr val="1F2D22"/>
                </a:solidFill>
              </a:rPr>
              <a:t>为 </a:t>
            </a:r>
            <a:r>
              <a:rPr lang="en-US" altLang="zh-CN" sz="1350" b="0">
                <a:solidFill>
                  <a:srgbClr val="1F2D22"/>
                </a:solidFill>
              </a:rPr>
              <a:t>FAISS </a:t>
            </a:r>
            <a:r>
              <a:rPr lang="zh-CN" altLang="en-US" sz="1350" b="0">
                <a:solidFill>
                  <a:srgbClr val="1F2D22"/>
                </a:solidFill>
              </a:rPr>
              <a:t>模拟出集合列表加载与文档块计数（</a:t>
            </a:r>
            <a:r>
              <a:rPr lang="en-US" altLang="zh-CN" sz="1350" b="0">
                <a:solidFill>
                  <a:srgbClr val="1F2D22"/>
                </a:solidFill>
              </a:rPr>
              <a:t>count）。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结构化检索输出：标准化返回 </a:t>
            </a:r>
            <a:r>
              <a:rPr lang="en-US" altLang="zh-CN" sz="1350" b="0">
                <a:solidFill>
                  <a:srgbClr val="1F2D22"/>
                </a:solidFill>
              </a:rPr>
              <a:t>text、score </a:t>
            </a:r>
            <a:r>
              <a:rPr lang="zh-CN" altLang="en-US" sz="1350" b="0">
                <a:solidFill>
                  <a:srgbClr val="1F2D22"/>
                </a:solidFill>
              </a:rPr>
              <a:t>与包含 </a:t>
            </a:r>
            <a:r>
              <a:rPr lang="en-US" altLang="zh-CN" sz="1350" b="0">
                <a:solidFill>
                  <a:srgbClr val="1F2D22"/>
                </a:solidFill>
              </a:rPr>
              <a:t>page、document_name、chunk_id </a:t>
            </a:r>
            <a:r>
              <a:rPr lang="zh-CN" altLang="en-US" sz="1350" b="0">
                <a:solidFill>
                  <a:srgbClr val="1F2D22"/>
                </a:solidFill>
              </a:rPr>
              <a:t>的元数据。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检索到生成闭环：检索结果直接兼容大模型生成层，提供精准的参考源溯源（</a:t>
            </a:r>
            <a:r>
              <a:rPr lang="en-US" altLang="zh-CN" sz="1350" b="0">
                <a:solidFill>
                  <a:srgbClr val="1F2D22"/>
                </a:solidFill>
              </a:rPr>
              <a:t>Citation）</a:t>
            </a:r>
            <a:r>
              <a:rPr lang="zh-CN" altLang="en-US" sz="1350" b="0">
                <a:solidFill>
                  <a:srgbClr val="1F2D22"/>
                </a:solidFill>
              </a:rPr>
              <a:t>数据通路。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571625"/>
            <a:ext cx="4762500" cy="220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643063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1466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系统不再只使用用户原始 query 进行一次检索，而是在检索前调用大模型生成多个不同角度的查询变体。随后系统对每个 query 分别生成 embedding 并查询 Chroma，最后将所有结果去重、排序、截取最终 Top K。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413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114550"/>
            <a:ext cx="4305300" cy="3638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生成服务现在不会在初稿生成后立即返回，而是先进入审查阶段。系统会把以下三类信息交给大模型：</a:t>
            </a:r>
          </a:p>
          <a:p>
            <a:br>
              <a:rPr lang="zh-CN" altLang="zh-CN" dirty="0"/>
            </a:br>
            <a:endParaRPr lang="zh-CN" altLang="zh-CN" dirty="0"/>
          </a:p>
          <a:p>
            <a:r>
              <a:rPr lang="zh-CN" altLang="zh-CN" dirty="0"/>
              <a:t>1. 用户原始问题。</a:t>
            </a:r>
          </a:p>
          <a:p>
            <a:r>
              <a:rPr lang="zh-CN" altLang="zh-CN" dirty="0"/>
              <a:t>2. 检索结果拼接出的上下文。</a:t>
            </a:r>
          </a:p>
          <a:p>
            <a:r>
              <a:rPr lang="zh-CN" altLang="zh-CN" dirty="0"/>
              <a:t>3. 刚生成的回答草案。</a:t>
            </a:r>
          </a:p>
          <a:p>
            <a:br>
              <a:rPr lang="zh-CN" altLang="zh-CN" dirty="0"/>
            </a:br>
            <a:endParaRPr lang="zh-CN" altLang="zh-CN" dirty="0"/>
          </a:p>
          <a:p>
            <a:r>
              <a:rPr lang="zh-CN" altLang="zh-CN" dirty="0"/>
              <a:t>审查模型需要判断回答草案是否严格基于上下文，是否存在幻觉，是否遗漏了问题关键点。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485900" y="3852863"/>
            <a:ext cx="5029200" cy="2605087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752600" y="3876675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905000" y="4629150"/>
            <a:ext cx="4514850" cy="1666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多查询拆分可以缓解用户问题表达不完整的问题。相比单查询检索，它更容易覆盖同义表达、近义表达和不同问题角度，从而提升相关 chunk 被召回的概率。</a:t>
            </a:r>
            <a:endParaRPr lang="en-US" altLang="zh-CN" dirty="0"/>
          </a:p>
          <a:p>
            <a:r>
              <a:rPr lang="zh-CN" altLang="zh-CN" dirty="0"/>
              <a:t>自我纠错机制可以在最终返回前进行一次事实审查，降低模型脱离上下文自由发挥的概率，提高回答与文档内容的一致性。</a:t>
            </a:r>
          </a:p>
          <a:p>
            <a:endParaRPr lang="zh-CN" altLang="zh-C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7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谢羿衡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谢羿衡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84716" y="1250155"/>
            <a:ext cx="5763683" cy="254291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736195" y="1450181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中文文本切分改进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99557" y="1867430"/>
            <a:ext cx="5334000" cy="172878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dirty="0"/>
              <a:t>分隔符扩展为中英文混合</a:t>
            </a:r>
            <a:r>
              <a:rPr lang="en-US" altLang="zh-CN" dirty="0"/>
              <a:t>:</a:t>
            </a:r>
            <a:r>
              <a:rPr lang="zh-CN" altLang="en-US" dirty="0"/>
              <a:t>。！？； </a:t>
            </a:r>
            <a:r>
              <a:rPr lang="en-US" altLang="zh-CN" dirty="0"/>
              <a:t>+ .!?</a:t>
            </a:r>
          </a:p>
          <a:p>
            <a:endParaRPr lang="en-US" altLang="zh-CN" dirty="0"/>
          </a:p>
          <a:p>
            <a:r>
              <a:rPr lang="zh-CN" altLang="en-US" dirty="0"/>
              <a:t>句子分块用正则 </a:t>
            </a:r>
            <a:r>
              <a:rPr lang="en-US" altLang="zh-CN" dirty="0"/>
              <a:t>(?&lt;=[</a:t>
            </a:r>
            <a:r>
              <a:rPr lang="zh-CN" altLang="en-US" dirty="0"/>
              <a:t>。！？；</a:t>
            </a:r>
            <a:r>
              <a:rPr lang="en-US" altLang="zh-CN" dirty="0"/>
              <a:t>.!?])\s* </a:t>
            </a:r>
            <a:r>
              <a:rPr lang="zh-CN" altLang="en-US" dirty="0"/>
              <a:t>识别边界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超长句</a:t>
            </a:r>
            <a:r>
              <a:rPr lang="en-US" altLang="zh-CN" dirty="0"/>
              <a:t>(&gt;1000</a:t>
            </a:r>
            <a:r>
              <a:rPr lang="zh-CN" altLang="en-US" dirty="0"/>
              <a:t>字</a:t>
            </a:r>
            <a:r>
              <a:rPr lang="en-US" altLang="zh-CN" dirty="0"/>
              <a:t>)</a:t>
            </a:r>
            <a:r>
              <a:rPr lang="zh-CN" altLang="en-US" dirty="0"/>
              <a:t>自动二次切分</a:t>
            </a:r>
            <a:r>
              <a:rPr lang="en-US" altLang="zh-CN" dirty="0"/>
              <a:t>,</a:t>
            </a:r>
            <a:r>
              <a:rPr lang="zh-CN" altLang="en-US" dirty="0"/>
              <a:t>兼容中英混排</a:t>
            </a:r>
            <a:endParaRPr lang="zh-CN" altLang="zh-CN" dirty="0"/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15100" y="1250154"/>
            <a:ext cx="4762500" cy="520779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6859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en-US" sz="3200" b="1" dirty="0">
                <a:solidFill>
                  <a:srgbClr val="2D4A33"/>
                </a:solidFill>
              </a:rPr>
              <a:t>Windows FAISS </a:t>
            </a:r>
          </a:p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中文路径修复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29941" y="2226733"/>
            <a:ext cx="4539192" cy="223414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dirty="0"/>
              <a:t>痛点</a:t>
            </a:r>
            <a:r>
              <a:rPr lang="en-US" altLang="zh-CN" dirty="0"/>
              <a:t>:</a:t>
            </a:r>
            <a:r>
              <a:rPr lang="en-US" altLang="zh-CN" dirty="0" err="1"/>
              <a:t>read_index</a:t>
            </a:r>
            <a:r>
              <a:rPr lang="en-US" altLang="zh-CN" dirty="0"/>
              <a:t>/</a:t>
            </a:r>
            <a:r>
              <a:rPr lang="en-US" altLang="zh-CN" dirty="0" err="1"/>
              <a:t>write_index</a:t>
            </a:r>
            <a:r>
              <a:rPr lang="en-US" altLang="zh-CN" dirty="0"/>
              <a:t> </a:t>
            </a:r>
            <a:r>
              <a:rPr lang="zh-CN" altLang="en-US" dirty="0"/>
              <a:t>遇中文路径打开失败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改用 </a:t>
            </a:r>
            <a:r>
              <a:rPr lang="en-US" altLang="zh-CN" dirty="0"/>
              <a:t>serialize/</a:t>
            </a:r>
            <a:r>
              <a:rPr lang="en-US" altLang="zh-CN" dirty="0" err="1"/>
              <a:t>deserialize_index</a:t>
            </a:r>
            <a:r>
              <a:rPr lang="en-US" altLang="zh-CN" dirty="0"/>
              <a:t> + Python </a:t>
            </a:r>
            <a:r>
              <a:rPr lang="zh-CN" altLang="en-US" dirty="0"/>
              <a:t>原生文件流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中文知识库名</a:t>
            </a:r>
            <a:r>
              <a:rPr lang="en-US" altLang="zh-CN" dirty="0"/>
              <a:t>/</a:t>
            </a:r>
            <a:r>
              <a:rPr lang="zh-CN" altLang="en-US" dirty="0"/>
              <a:t>文档名均可正常索引读写</a:t>
            </a:r>
            <a:endParaRPr lang="zh-CN" altLang="zh-CN" dirty="0"/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84716" y="3852863"/>
            <a:ext cx="5763683" cy="2605087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752600" y="3876675"/>
            <a:ext cx="3638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中文字数统计优化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99557" y="4292070"/>
            <a:ext cx="6378576" cy="1666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dirty="0"/>
              <a:t>原 </a:t>
            </a:r>
            <a:r>
              <a:rPr lang="en-US" altLang="zh-CN" dirty="0" err="1"/>
              <a:t>text.split</a:t>
            </a:r>
            <a:r>
              <a:rPr lang="en-US" altLang="zh-CN" dirty="0"/>
              <a:t>() </a:t>
            </a:r>
            <a:r>
              <a:rPr lang="zh-CN" altLang="en-US" dirty="0"/>
              <a:t>把整句中文算作 </a:t>
            </a:r>
            <a:r>
              <a:rPr lang="en-US" altLang="zh-CN" dirty="0"/>
              <a:t>1 </a:t>
            </a:r>
            <a:r>
              <a:rPr lang="zh-CN" altLang="en-US" dirty="0"/>
              <a:t>个词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新增 </a:t>
            </a:r>
            <a:r>
              <a:rPr lang="en-US" altLang="zh-CN" dirty="0"/>
              <a:t>_</a:t>
            </a:r>
            <a:r>
              <a:rPr lang="en-US" altLang="zh-CN" dirty="0" err="1"/>
              <a:t>estimate_word_count</a:t>
            </a:r>
            <a:r>
              <a:rPr lang="en-US" altLang="zh-CN" dirty="0"/>
              <a:t>:</a:t>
            </a:r>
            <a:r>
              <a:rPr lang="zh-CN" altLang="en-US" dirty="0"/>
              <a:t>正则 </a:t>
            </a:r>
            <a:r>
              <a:rPr lang="en-US" altLang="zh-CN" dirty="0"/>
              <a:t>[</a:t>
            </a:r>
            <a:r>
              <a:rPr lang="zh-CN" altLang="en-US" dirty="0"/>
              <a:t>一</a:t>
            </a:r>
            <a:r>
              <a:rPr lang="en-US" altLang="zh-CN" dirty="0"/>
              <a:t>-鿿]|[A-Za-z0-9_]+</a:t>
            </a:r>
          </a:p>
          <a:p>
            <a:endParaRPr lang="en-US" altLang="zh-CN" dirty="0"/>
          </a:p>
          <a:p>
            <a:r>
              <a:rPr lang="zh-CN" altLang="en-US" dirty="0"/>
              <a:t>每个汉字</a:t>
            </a:r>
            <a:r>
              <a:rPr lang="en-US" altLang="zh-CN" dirty="0"/>
              <a:t>=1</a:t>
            </a:r>
            <a:r>
              <a:rPr lang="zh-CN" altLang="en-US" dirty="0"/>
              <a:t>单元</a:t>
            </a:r>
            <a:r>
              <a:rPr lang="en-US" altLang="zh-CN" dirty="0"/>
              <a:t>,</a:t>
            </a:r>
            <a:r>
              <a:rPr lang="zh-CN" altLang="en-US" dirty="0"/>
              <a:t>准确控制上下文 </a:t>
            </a:r>
            <a:r>
              <a:rPr lang="en-US" altLang="zh-CN" dirty="0"/>
              <a:t>token </a:t>
            </a:r>
            <a:r>
              <a:rPr lang="zh-CN" altLang="en-US" dirty="0"/>
              <a:t>预算</a:t>
            </a:r>
            <a:endParaRPr lang="zh-CN" altLang="zh-CN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4.25,&quot;left&quot;:67.5,&quot;top&quot;:78.35,&quot;width&quot;:8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4.25,&quot;left&quot;:67.5,&quot;top&quot;:78.35,&quot;width&quot;:8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4.25,&quot;left&quot;:67.5,&quot;top&quot;:78.35,&quot;width&quot;:8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4.25,&quot;left&quot;:67.5,&quot;top&quot;:78.35,&quot;width&quot;:8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4.25,&quot;left&quot;:67.5,&quot;top&quot;:78.35,&quot;width&quot;:8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4.25,&quot;left&quot;:67.5,&quot;top&quot;:78.35,&quot;width&quot;:82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983</Words>
  <Application>Microsoft Office PowerPoint</Application>
  <PresentationFormat>宽屏</PresentationFormat>
  <Paragraphs>107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Color Emoji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嘉轩 李</cp:lastModifiedBy>
  <cp:revision>18</cp:revision>
  <dcterms:created xsi:type="dcterms:W3CDTF">2026-06-08T16:49:00Z</dcterms:created>
  <dcterms:modified xsi:type="dcterms:W3CDTF">2026-06-17T14:26:28Z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167807B6208942898F4E046D694E8DD5_12</vt:lpwstr>
  </property>
</Properties>
</file>