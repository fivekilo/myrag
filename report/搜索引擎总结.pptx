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73" r:id="rId3"/>
    <p:sldId id="258" r:id="rId4"/>
    <p:sldId id="260" r:id="rId5"/>
    <p:sldId id="262" r:id="rId6"/>
    <p:sldId id="263" r:id="rId7"/>
    <p:sldId id="274" r:id="rId8"/>
    <p:sldId id="276" r:id="rId9"/>
    <p:sldId id="270" r:id="rId10"/>
    <p:sldId id="259" r:id="rId11"/>
    <p:sldId id="271" r:id="rId12"/>
    <p:sldId id="264" r:id="rId13"/>
    <p:sldId id="272" r:id="rId14"/>
    <p:sldId id="261" r:id="rId15"/>
    <p:sldId id="268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39" d="100"/>
          <a:sy n="139" d="100"/>
        </p:scale>
        <p:origin x="168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/>
          <p:cNvSpPr>
            <a:spLocks noGrp="1"/>
          </p:cNvSpPr>
          <p:nvPr>
            <p:ph type="body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/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3A8F1-9EDF-49EF-A14D-E495AD864F8A}" type="datetimeFigureOut">
              <a:rPr lang="zh-CN" altLang="en-US"/>
              <a:t>2026.6.15</a:t>
            </a:fld>
            <a:endParaRPr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13857-8FE2-426A-A37B-64DF65062EF2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0" y="1322656"/>
            <a:ext cx="12192000" cy="4212688"/>
          </a:xfrm>
          <a:prstGeom prst="rect">
            <a:avLst/>
          </a:prstGeom>
          <a:solidFill>
            <a:srgbClr val="253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3744435" y="1739250"/>
            <a:ext cx="59045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4400" dirty="0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搜索引擎总结</a:t>
            </a: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2845308" y="2607167"/>
            <a:ext cx="668307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zh-CN" altLang="en-US" sz="6000" dirty="0">
                <a:solidFill>
                  <a:schemeClr val="bg1"/>
                </a:solidFill>
              </a:rPr>
              <a:t>搜索引擎成员贡献总结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49709" y="322340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等腰三角形 12"/>
          <p:cNvSpPr>
            <a:spLocks noGrp="1"/>
          </p:cNvSpPr>
          <p:nvPr/>
        </p:nvSpPr>
        <p:spPr>
          <a:xfrm rot="16200000">
            <a:off x="345362" y="3365602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 flipH="1">
            <a:off x="10993393" y="318511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/>
          <p:cNvSpPr>
            <a:spLocks noGrp="1"/>
          </p:cNvSpPr>
          <p:nvPr/>
        </p:nvSpPr>
        <p:spPr>
          <a:xfrm rot="16200000" flipH="1">
            <a:off x="11039843" y="3342387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018164" y="1584250"/>
            <a:ext cx="1066959" cy="1015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64" y="1418612"/>
            <a:ext cx="1364080" cy="134677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45308" y="4772967"/>
            <a:ext cx="7002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小组成员：李嘉轩 刘义群 王秀崧 汤语涵 谢羿衡 唐熙雷 邢泽雷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01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71876" y="2630302"/>
            <a:ext cx="3576620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组内评分</a:t>
            </a:r>
            <a:endParaRPr kumimoji="0" sz="6600" b="1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3800" dirty="0">
                <a:solidFill>
                  <a:srgbClr val="F5F4F9"/>
                </a:solidFill>
              </a:rPr>
              <a:t>0</a:t>
            </a:r>
            <a:r>
              <a:rPr lang="en-US" sz="13800" dirty="0">
                <a:solidFill>
                  <a:srgbClr val="F5F4F9"/>
                </a:solidFill>
              </a:rPr>
              <a:t>2</a:t>
            </a:r>
            <a:endParaRPr sz="13800" dirty="0">
              <a:solidFill>
                <a:srgbClr val="F5F4F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995868" y="2630302"/>
            <a:ext cx="2728632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zh-CN" altLang="en-US" sz="6600" b="1" dirty="0">
                <a:solidFill>
                  <a:srgbClr val="F5F4F9"/>
                </a:solidFill>
              </a:rPr>
              <a:t>王秀崧</a:t>
            </a:r>
            <a:endParaRPr sz="6600" b="1" dirty="0">
              <a:solidFill>
                <a:srgbClr val="F5F4F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王秀崧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3750561" y="1429282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3979161" y="1600732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lang="zh-CN" altLang="en-US" sz="1650" b="1" dirty="0">
                <a:solidFill>
                  <a:srgbClr val="2D4A33"/>
                </a:solidFill>
              </a:rPr>
              <a:t>调试</a:t>
            </a:r>
            <a:endParaRPr sz="1650" b="1" dirty="0">
              <a:solidFill>
                <a:srgbClr val="2D4A3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3979161" y="2038882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 dirty="0">
                <a:solidFill>
                  <a:srgbClr val="1F2D22"/>
                </a:solidFill>
              </a:rPr>
              <a:t>负责进行改动后的功能测试</a:t>
            </a:r>
            <a:br>
              <a:rPr lang="en-US" altLang="zh-CN" sz="1350" dirty="0">
                <a:solidFill>
                  <a:srgbClr val="1F2D22"/>
                </a:solidFill>
              </a:rPr>
            </a:br>
            <a:r>
              <a:rPr lang="zh-CN" altLang="en-US" sz="1350" dirty="0">
                <a:solidFill>
                  <a:srgbClr val="1F2D22"/>
                </a:solidFill>
              </a:rPr>
              <a:t>测试搜索页面和功能能否可以正常运行</a:t>
            </a:r>
            <a:endParaRPr lang="en-US" altLang="zh-CN" sz="1350" dirty="0">
              <a:solidFill>
                <a:srgbClr val="1F2D22"/>
              </a:solidFill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 dirty="0">
                <a:solidFill>
                  <a:srgbClr val="1F2D22"/>
                </a:solidFill>
              </a:rPr>
              <a:t>测试结果排序是否合理</a:t>
            </a:r>
            <a:endParaRPr sz="1350" b="0" dirty="0">
              <a:solidFill>
                <a:srgbClr val="1F2D2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>
            <a:spLocks noGrp="1"/>
          </p:cNvSpPr>
          <p:nvPr/>
        </p:nvSpPr>
        <p:spPr>
          <a:xfrm>
            <a:off x="2061894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3800" dirty="0">
                <a:solidFill>
                  <a:srgbClr val="F5F4F9"/>
                </a:solidFill>
              </a:rPr>
              <a:t>0</a:t>
            </a:r>
            <a:r>
              <a:rPr lang="en-US" sz="13800" dirty="0">
                <a:solidFill>
                  <a:srgbClr val="F5F4F9"/>
                </a:solidFill>
              </a:rPr>
              <a:t>3</a:t>
            </a:r>
            <a:endParaRPr sz="13800" dirty="0">
              <a:solidFill>
                <a:srgbClr val="F5F4F9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23120" y="2685166"/>
            <a:ext cx="5679440" cy="17532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buNone/>
            </a:pPr>
            <a:r>
              <a:rPr lang="zh-CN" altLang="en-US" sz="5400" b="1" dirty="0">
                <a:solidFill>
                  <a:schemeClr val="bg1"/>
                </a:solidFill>
              </a:rPr>
              <a:t>刘义群</a:t>
            </a:r>
          </a:p>
          <a:p>
            <a:pPr algn="ctr">
              <a:buNone/>
            </a:pPr>
            <a:r>
              <a:rPr lang="zh-CN" sz="5400" b="1" dirty="0">
                <a:solidFill>
                  <a:schemeClr val="bg1"/>
                </a:solidFill>
              </a:rPr>
              <a:t>负责垂直搜索引擎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刘义群</a:t>
            </a:r>
            <a:r>
              <a:rPr lang="en-US" altLang="zh-CN" sz="2550" b="1" dirty="0">
                <a:solidFill>
                  <a:srgbClr val="2D4A33"/>
                </a:solidFill>
              </a:rPr>
              <a:t> </a:t>
            </a:r>
            <a:r>
              <a:rPr lang="zh-CN" altLang="en-US" sz="2550" b="1" dirty="0">
                <a:solidFill>
                  <a:srgbClr val="2D4A33"/>
                </a:solidFill>
              </a:rPr>
              <a:t>首页显示部分（新增前端功能）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19250"/>
            <a:ext cx="4762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57605" y="1666875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页面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57605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zh-CN" sz="1350" b="0">
                <a:solidFill>
                  <a:srgbClr val="1F2D22"/>
                </a:solidFill>
              </a:rPr>
              <a:t>jdsearch </a:t>
            </a:r>
            <a:r>
              <a:rPr lang="zh-CN" altLang="en-US" sz="1350" b="0">
                <a:solidFill>
                  <a:srgbClr val="1F2D22"/>
                </a:solidFill>
              </a:rPr>
              <a:t>搜索页面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搜索框下方：空关键词时显示提示文字</a:t>
            </a:r>
            <a:r>
              <a:rPr lang="en-US" altLang="zh-CN" sz="1350" b="0">
                <a:solidFill>
                  <a:srgbClr val="1F2D22"/>
                </a:solidFill>
              </a:rPr>
              <a:t>"</a:t>
            </a:r>
            <a:r>
              <a:rPr lang="zh-CN" altLang="en-US" sz="1350" b="0">
                <a:solidFill>
                  <a:srgbClr val="1F2D22"/>
                </a:solidFill>
              </a:rPr>
              <a:t>首页随机展示部分图书，输入关键词后可进行精确搜索</a:t>
            </a:r>
            <a:r>
              <a:rPr lang="en-US" altLang="zh-CN" sz="1350" b="0">
                <a:solidFill>
                  <a:srgbClr val="1F2D22"/>
                </a:solidFill>
              </a:rPr>
              <a:t>"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结果区域：页面挂载即自动渲染图书列表，无需点击搜索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00850" y="172847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流程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758940" y="2052320"/>
            <a:ext cx="4671060" cy="1076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页面加载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Vue mounted() </a:t>
            </a:r>
            <a:r>
              <a:rPr lang="zh-CN" altLang="en-US" sz="1350" b="0">
                <a:solidFill>
                  <a:srgbClr val="1F2D22"/>
                </a:solidFill>
              </a:rPr>
              <a:t>自动调用</a:t>
            </a:r>
            <a:r>
              <a:rPr lang="en-US" altLang="zh-CN" sz="1350" b="0">
                <a:solidFill>
                  <a:srgbClr val="1F2D22"/>
                </a:solidFill>
              </a:rPr>
              <a:t> searchPage()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zh-CN" sz="1350" b="0">
                <a:solidFill>
                  <a:srgbClr val="1F2D22"/>
                </a:solidFill>
              </a:rPr>
              <a:t>searchPage()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发送</a:t>
            </a:r>
            <a:r>
              <a:rPr lang="en-US" altLang="zh-CN" sz="1350" b="0">
                <a:solidFill>
                  <a:srgbClr val="1F2D22"/>
                </a:solidFill>
              </a:rPr>
              <a:t> POST </a:t>
            </a:r>
            <a:r>
              <a:rPr lang="zh-CN" altLang="en-US" sz="1350" b="0">
                <a:solidFill>
                  <a:srgbClr val="1F2D22"/>
                </a:solidFill>
              </a:rPr>
              <a:t>请求至</a:t>
            </a:r>
            <a:r>
              <a:rPr lang="en-US" altLang="zh-CN" sz="1350" b="0">
                <a:solidFill>
                  <a:srgbClr val="1F2D22"/>
                </a:solidFill>
              </a:rPr>
              <a:t> /query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后端判断</a:t>
            </a:r>
            <a:r>
              <a:rPr lang="en-US" altLang="zh-CN" sz="1350" b="0">
                <a:solidFill>
                  <a:srgbClr val="1F2D22"/>
                </a:solidFill>
              </a:rPr>
              <a:t> keyword </a:t>
            </a:r>
            <a:r>
              <a:rPr lang="zh-CN" altLang="en-US" sz="1350" b="0">
                <a:solidFill>
                  <a:srgbClr val="1F2D22"/>
                </a:solidFill>
              </a:rPr>
              <a:t>是否为空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为空则执行</a:t>
            </a:r>
            <a:r>
              <a:rPr lang="en-US" altLang="zh-CN" sz="1350" b="0">
                <a:solidFill>
                  <a:srgbClr val="1F2D22"/>
                </a:solidFill>
              </a:rPr>
              <a:t> matchAllQuery + randomFunction </a:t>
            </a:r>
            <a:r>
              <a:rPr lang="zh-CN" altLang="en-US" sz="1350" b="0">
                <a:solidFill>
                  <a:srgbClr val="1F2D22"/>
                </a:solidFill>
              </a:rPr>
              <a:t>随机排序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返回结果，前端渲染图书列表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3714750"/>
            <a:ext cx="8191500" cy="199517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28850" y="4324350"/>
            <a:ext cx="7734300" cy="919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首页打开即展示随机图书，无需手动搜索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空关键词时随机展示</a:t>
            </a:r>
            <a:r>
              <a:rPr lang="en-US" altLang="zh-CN" sz="1350" b="0">
                <a:solidFill>
                  <a:srgbClr val="1F2D22"/>
                </a:solidFill>
              </a:rPr>
              <a:t> jddata </a:t>
            </a:r>
            <a:r>
              <a:rPr lang="zh-CN" altLang="en-US" sz="1350" b="0">
                <a:solidFill>
                  <a:srgbClr val="1F2D22"/>
                </a:solidFill>
              </a:rPr>
              <a:t>索引中的书籍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有关键词时仍按标题匹配精确搜索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刘义群</a:t>
            </a:r>
            <a:r>
              <a:rPr lang="en-US" altLang="zh-CN" sz="2550" b="1" dirty="0">
                <a:solidFill>
                  <a:srgbClr val="2D4A33"/>
                </a:solidFill>
              </a:rPr>
              <a:t> </a:t>
            </a:r>
            <a:r>
              <a:rPr lang="zh-CN" altLang="en-US" sz="2550" b="1" dirty="0">
                <a:solidFill>
                  <a:srgbClr val="2D4A33"/>
                </a:solidFill>
              </a:rPr>
              <a:t>价格排序部分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19250"/>
            <a:ext cx="476250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157605" y="1666875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页面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57605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zh-CN" sz="1350" b="0">
                <a:solidFill>
                  <a:srgbClr val="1F2D22"/>
                </a:solidFill>
              </a:rPr>
              <a:t>jdsearch </a:t>
            </a:r>
            <a:r>
              <a:rPr lang="zh-CN" altLang="en-US" sz="1350" b="0">
                <a:solidFill>
                  <a:srgbClr val="1F2D22"/>
                </a:solidFill>
              </a:rPr>
              <a:t>搜索页面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zh-CN" sz="1350" b="0">
                <a:solidFill>
                  <a:srgbClr val="1F2D22"/>
                </a:solidFill>
              </a:rPr>
              <a:t>"</a:t>
            </a:r>
            <a:r>
              <a:rPr lang="zh-CN" altLang="en-US" sz="1350" b="0">
                <a:solidFill>
                  <a:srgbClr val="1F2D22"/>
                </a:solidFill>
              </a:rPr>
              <a:t>价格</a:t>
            </a:r>
            <a:r>
              <a:rPr lang="en-US" altLang="zh-CN" sz="1350" b="0">
                <a:solidFill>
                  <a:srgbClr val="1F2D22"/>
                </a:solidFill>
              </a:rPr>
              <a:t>"</a:t>
            </a:r>
            <a:r>
              <a:rPr lang="zh-CN" altLang="en-US" sz="1350" b="0">
                <a:solidFill>
                  <a:srgbClr val="1F2D22"/>
                </a:solidFill>
              </a:rPr>
              <a:t>文字变为可点击排序控件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点击后显示排序方向箭头（</a:t>
            </a:r>
            <a:r>
              <a:rPr lang="en-US" altLang="en-US" sz="1350" b="0">
                <a:solidFill>
                  <a:srgbClr val="1F2D22"/>
                </a:solidFill>
              </a:rPr>
              <a:t>↑</a:t>
            </a:r>
            <a:r>
              <a:rPr lang="zh-CN" altLang="en-US" sz="1350" b="0">
                <a:solidFill>
                  <a:srgbClr val="1F2D22"/>
                </a:solidFill>
              </a:rPr>
              <a:t>升序</a:t>
            </a:r>
            <a:r>
              <a:rPr lang="en-US" altLang="zh-CN" sz="1350" b="0">
                <a:solidFill>
                  <a:srgbClr val="1F2D22"/>
                </a:solidFill>
              </a:rPr>
              <a:t> / </a:t>
            </a:r>
            <a:r>
              <a:rPr lang="en-US" altLang="en-US" sz="1350" b="0">
                <a:solidFill>
                  <a:srgbClr val="1F2D22"/>
                </a:solidFill>
              </a:rPr>
              <a:t>↓</a:t>
            </a:r>
            <a:r>
              <a:rPr lang="zh-CN" altLang="en-US" sz="1350" b="0">
                <a:solidFill>
                  <a:srgbClr val="1F2D22"/>
                </a:solidFill>
              </a:rPr>
              <a:t>降序）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5865" y="1379855"/>
            <a:ext cx="5144135" cy="2091055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534785" y="147574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流程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595110" y="1990725"/>
            <a:ext cx="4671060" cy="1076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点击</a:t>
            </a:r>
            <a:r>
              <a:rPr lang="en-US" altLang="zh-CN" sz="1350" b="0">
                <a:solidFill>
                  <a:srgbClr val="1F2D22"/>
                </a:solidFill>
              </a:rPr>
              <a:t>"</a:t>
            </a:r>
            <a:r>
              <a:rPr lang="zh-CN" altLang="en-US" sz="1350" b="0">
                <a:solidFill>
                  <a:srgbClr val="1F2D22"/>
                </a:solidFill>
              </a:rPr>
              <a:t>价格</a:t>
            </a:r>
            <a:r>
              <a:rPr lang="en-US" altLang="zh-CN" sz="1350" b="0">
                <a:solidFill>
                  <a:srgbClr val="1F2D22"/>
                </a:solidFill>
              </a:rPr>
              <a:t>" </a:t>
            </a: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togglePriceSort() </a:t>
            </a:r>
            <a:r>
              <a:rPr lang="zh-CN" altLang="en-US" sz="1350" b="0">
                <a:solidFill>
                  <a:srgbClr val="1F2D22"/>
                </a:solidFill>
              </a:rPr>
              <a:t>设置</a:t>
            </a:r>
            <a:r>
              <a:rPr lang="en-US" altLang="zh-CN" sz="1350" b="0">
                <a:solidFill>
                  <a:srgbClr val="1F2D22"/>
                </a:solidFill>
              </a:rPr>
              <a:t> sortField='price' </a:t>
            </a:r>
            <a:r>
              <a:rPr lang="zh-CN" altLang="en-US" sz="1350" b="0">
                <a:solidFill>
                  <a:srgbClr val="1F2D22"/>
                </a:solidFill>
              </a:rPr>
              <a:t>和</a:t>
            </a:r>
            <a:r>
              <a:rPr lang="en-US" altLang="zh-CN" sz="1350" b="0">
                <a:solidFill>
                  <a:srgbClr val="1F2D22"/>
                </a:solidFill>
              </a:rPr>
              <a:t> sortOrder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自动重新调用</a:t>
            </a:r>
            <a:r>
              <a:rPr lang="en-US" altLang="zh-CN" sz="1350" b="0">
                <a:solidFill>
                  <a:srgbClr val="1F2D22"/>
                </a:solidFill>
              </a:rPr>
              <a:t> searchPage()</a:t>
            </a:r>
            <a:r>
              <a:rPr lang="zh-CN" altLang="en-US" sz="1350" b="0">
                <a:solidFill>
                  <a:srgbClr val="1F2D22"/>
                </a:solidFill>
              </a:rPr>
              <a:t>，将排序参数传至后端</a:t>
            </a:r>
            <a:r>
              <a:rPr lang="en-US" altLang="zh-CN" sz="1350" b="0">
                <a:solidFill>
                  <a:srgbClr val="1F2D22"/>
                </a:solidFill>
              </a:rPr>
              <a:t> /query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ContentController </a:t>
            </a:r>
            <a:r>
              <a:rPr lang="zh-CN" altLang="en-US" sz="1350" b="0">
                <a:solidFill>
                  <a:srgbClr val="1F2D22"/>
                </a:solidFill>
              </a:rPr>
              <a:t>接收参数传给</a:t>
            </a:r>
            <a:r>
              <a:rPr lang="en-US" altLang="zh-CN" sz="1350" b="0">
                <a:solidFill>
                  <a:srgbClr val="1F2D22"/>
                </a:solidFill>
              </a:rPr>
              <a:t> ContentService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ES </a:t>
            </a:r>
            <a:r>
              <a:rPr lang="zh-CN" altLang="en-US" sz="1350" b="0">
                <a:solidFill>
                  <a:srgbClr val="1F2D22"/>
                </a:solidFill>
              </a:rPr>
              <a:t>查询返回结果后，</a:t>
            </a:r>
            <a:r>
              <a:rPr lang="en-US" altLang="zh-CN" sz="1350" b="0">
                <a:solidFill>
                  <a:srgbClr val="1F2D22"/>
                </a:solidFill>
              </a:rPr>
              <a:t>Java </a:t>
            </a:r>
            <a:r>
              <a:rPr lang="zh-CN" altLang="en-US" sz="1350" b="0">
                <a:solidFill>
                  <a:srgbClr val="1F2D22"/>
                </a:solidFill>
              </a:rPr>
              <a:t>端按价格字段排序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en-US" altLang="en-US" sz="1350" b="0">
                <a:solidFill>
                  <a:srgbClr val="1F2D22"/>
                </a:solidFill>
              </a:rPr>
              <a:t>→</a:t>
            </a:r>
            <a:r>
              <a:rPr lang="en-US" altLang="zh-CN" sz="1350" b="0">
                <a:solidFill>
                  <a:srgbClr val="1F2D22"/>
                </a:solidFill>
              </a:rPr>
              <a:t> </a:t>
            </a:r>
            <a:r>
              <a:rPr lang="zh-CN" altLang="en-US" sz="1350" b="0">
                <a:solidFill>
                  <a:srgbClr val="1F2D22"/>
                </a:solidFill>
              </a:rPr>
              <a:t>排序结果返回前端，页面重新渲染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3714750"/>
            <a:ext cx="8191500" cy="199517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46935" y="4324350"/>
            <a:ext cx="7734300" cy="919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支持价格升序</a:t>
            </a:r>
            <a:r>
              <a:rPr lang="en-US" altLang="zh-CN" sz="1350" b="0">
                <a:solidFill>
                  <a:srgbClr val="1F2D22"/>
                </a:solidFill>
              </a:rPr>
              <a:t> / </a:t>
            </a:r>
            <a:r>
              <a:rPr lang="zh-CN" altLang="en-US" sz="1350" b="0">
                <a:solidFill>
                  <a:srgbClr val="1F2D22"/>
                </a:solidFill>
              </a:rPr>
              <a:t>降序切换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价格字段含非数字符号时自动解析为数值再排序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排序在后端内存中完成，无需改动</a:t>
            </a:r>
            <a:r>
              <a:rPr lang="en-US" altLang="zh-CN" sz="1350" b="0">
                <a:solidFill>
                  <a:srgbClr val="1F2D22"/>
                </a:solidFill>
              </a:rPr>
              <a:t> ES </a:t>
            </a:r>
            <a:r>
              <a:rPr lang="zh-CN" altLang="en-US" sz="1350" b="0">
                <a:solidFill>
                  <a:srgbClr val="1F2D22"/>
                </a:solidFill>
              </a:rPr>
              <a:t>索引结构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刘义群</a:t>
            </a:r>
            <a:r>
              <a:rPr lang="en-US" altLang="zh-CN" sz="2550" b="1" dirty="0">
                <a:solidFill>
                  <a:srgbClr val="2D4A33"/>
                </a:solidFill>
              </a:rPr>
              <a:t> </a:t>
            </a:r>
            <a:r>
              <a:rPr lang="zh-CN" altLang="en-US" sz="2550" b="1" dirty="0">
                <a:solidFill>
                  <a:srgbClr val="2D4A33"/>
                </a:solidFill>
              </a:rPr>
              <a:t>增加商品部分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3295015" y="1143000"/>
            <a:ext cx="5144135" cy="2091055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543935" y="1238885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流程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3604260" y="1753870"/>
            <a:ext cx="4671060" cy="1076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增加</a:t>
            </a:r>
            <a:r>
              <a:rPr lang="en-US" altLang="zh-CN" sz="1350" b="0">
                <a:solidFill>
                  <a:srgbClr val="1F2D22"/>
                </a:solidFill>
              </a:rPr>
              <a:t>“</a:t>
            </a:r>
            <a:r>
              <a:rPr lang="zh-CN" altLang="en-US" sz="1350" b="0">
                <a:solidFill>
                  <a:srgbClr val="1F2D22"/>
                </a:solidFill>
              </a:rPr>
              <a:t>高数</a:t>
            </a:r>
            <a:r>
              <a:rPr lang="en-US" altLang="zh-CN" sz="1350" b="0">
                <a:solidFill>
                  <a:srgbClr val="1F2D22"/>
                </a:solidFill>
              </a:rPr>
              <a:t>”“</a:t>
            </a:r>
            <a:r>
              <a:rPr lang="zh-CN" altLang="en-US" sz="1350" b="0">
                <a:solidFill>
                  <a:srgbClr val="1F2D22"/>
                </a:solidFill>
              </a:rPr>
              <a:t>大学英语</a:t>
            </a:r>
            <a:r>
              <a:rPr lang="en-US" altLang="zh-CN" sz="1350" b="0">
                <a:solidFill>
                  <a:srgbClr val="1F2D22"/>
                </a:solidFill>
              </a:rPr>
              <a:t>”</a:t>
            </a:r>
            <a:r>
              <a:rPr lang="zh-CN" altLang="en-US" sz="1350" b="0">
                <a:solidFill>
                  <a:srgbClr val="1F2D22"/>
                </a:solidFill>
              </a:rPr>
              <a:t>相关的书籍数据到老师提供的</a:t>
            </a:r>
            <a:r>
              <a:rPr lang="en-US" altLang="zh-CN" sz="1350" b="0">
                <a:solidFill>
                  <a:srgbClr val="1F2D22"/>
                </a:solidFill>
              </a:rPr>
              <a:t>“jddata.json”</a:t>
            </a:r>
            <a:r>
              <a:rPr lang="zh-CN" altLang="en-US" sz="1350" b="0">
                <a:solidFill>
                  <a:srgbClr val="1F2D22"/>
                </a:solidFill>
              </a:rPr>
              <a:t>中</a:t>
            </a: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1350" b="0">
                <a:solidFill>
                  <a:srgbClr val="1F2D22"/>
                </a:solidFill>
              </a:rPr>
              <a:t>通过</a:t>
            </a:r>
            <a:r>
              <a:rPr lang="en-US" altLang="zh-CN" sz="1350" b="0">
                <a:solidFill>
                  <a:srgbClr val="1F2D22"/>
                </a:solidFill>
              </a:rPr>
              <a:t>src\main\java\com\example\demo\EsJDDoc.java</a:t>
            </a:r>
            <a:r>
              <a:rPr lang="zh-CN" altLang="en-US" sz="1350" b="0">
                <a:solidFill>
                  <a:srgbClr val="1F2D22"/>
                </a:solidFill>
              </a:rPr>
              <a:t>代码将数据写入</a:t>
            </a:r>
            <a:r>
              <a:rPr lang="en-US" altLang="zh-CN" sz="1350" b="0">
                <a:solidFill>
                  <a:srgbClr val="1F2D22"/>
                </a:solidFill>
              </a:rPr>
              <a:t>ES</a:t>
            </a:r>
            <a:r>
              <a:rPr lang="zh-CN" altLang="en-US" sz="1350" b="0">
                <a:solidFill>
                  <a:srgbClr val="1F2D22"/>
                </a:solidFill>
              </a:rPr>
              <a:t>数据库中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295650" y="3836670"/>
            <a:ext cx="5143500" cy="1873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604260" y="3968115"/>
            <a:ext cx="6358890" cy="2419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604895" y="4514850"/>
            <a:ext cx="4669790" cy="7289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sz="1350" b="0">
                <a:solidFill>
                  <a:srgbClr val="1F2D22"/>
                </a:solidFill>
              </a:rPr>
              <a:t>实现了增加两个关键词的商品到</a:t>
            </a:r>
            <a:r>
              <a:rPr lang="en-US" altLang="zh-CN" sz="1350" b="0">
                <a:solidFill>
                  <a:srgbClr val="1F2D22"/>
                </a:solidFill>
              </a:rPr>
              <a:t>ES</a:t>
            </a:r>
            <a:r>
              <a:rPr lang="zh-CN" altLang="en-US" sz="1350" b="0">
                <a:solidFill>
                  <a:srgbClr val="1F2D22"/>
                </a:solidFill>
              </a:rPr>
              <a:t>的功能，并且可以通过搜索引擎查询到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0</a:t>
            </a:r>
            <a:r>
              <a:rPr lang="en-US" sz="13800" dirty="0">
                <a:solidFill>
                  <a:srgbClr val="F5F4F9"/>
                </a:solidFill>
                <a:latin typeface="Arial" panose="020B0604020202020204"/>
                <a:ea typeface="华文中宋" panose="02010600040101010101" charset="-122"/>
              </a:rPr>
              <a:t>4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31761" y="2685166"/>
            <a:ext cx="226215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李嘉轩</a:t>
            </a:r>
            <a:endParaRPr kumimoji="0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李嘉轩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498600" y="1481665"/>
            <a:ext cx="9465733" cy="2057401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634067" y="1678782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en-US" sz="3200" b="1" dirty="0">
                <a:solidFill>
                  <a:srgbClr val="2D4A33"/>
                </a:solidFill>
              </a:rPr>
              <a:t>数据集初始化与扩充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634067" y="2070365"/>
            <a:ext cx="9059333" cy="135863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提交并扩充了 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course_qa.json</a:t>
            </a:r>
            <a:endParaRPr lang="en-US" altLang="zh-CN" sz="2000" dirty="0">
              <a:solidFill>
                <a:srgbClr val="1F2D22"/>
              </a:solidFill>
              <a:latin typeface="ui-monospace"/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整理统一 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course_qa.json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数据格式、增加质量标注</a:t>
            </a:r>
            <a:endParaRPr lang="en-US" altLang="zh-CN" sz="2000" dirty="0">
              <a:solidFill>
                <a:srgbClr val="1F2D22"/>
              </a:solidFill>
              <a:latin typeface="ui-monospace"/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endParaRPr sz="1350" b="0" dirty="0">
              <a:solidFill>
                <a:srgbClr val="1F2D22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498600" y="4171950"/>
            <a:ext cx="9465733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1634067" y="4362450"/>
            <a:ext cx="5872052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lang="en-US" altLang="zh-CN" sz="3200" dirty="0"/>
              <a:t>Elasticsearch </a:t>
            </a:r>
            <a:r>
              <a:rPr lang="zh-CN" altLang="en-US" sz="3200" dirty="0"/>
              <a:t>数据导入能力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634067" y="4677833"/>
            <a:ext cx="9330266" cy="977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添加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ES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数据导入脚本</a:t>
            </a:r>
            <a:endParaRPr lang="en-US" altLang="zh-CN" sz="2000" dirty="0">
              <a:solidFill>
                <a:srgbClr val="1F2D22"/>
              </a:solidFill>
              <a:latin typeface="ui-monospace"/>
            </a:endParaRPr>
          </a:p>
          <a:p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解析</a:t>
            </a:r>
            <a:r>
              <a:rPr lang="en-US" altLang="zh-CN" sz="2000" dirty="0" err="1">
                <a:solidFill>
                  <a:srgbClr val="1F2D22"/>
                </a:solidFill>
                <a:latin typeface="ui-monospace"/>
              </a:rPr>
              <a:t>course_qa.json</a:t>
            </a: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并将数据导入</a:t>
            </a:r>
            <a:r>
              <a:rPr lang="en-US" altLang="zh-CN" sz="2000" dirty="0">
                <a:solidFill>
                  <a:srgbClr val="1F2D22"/>
                </a:solidFill>
                <a:latin typeface="ui-monospace"/>
              </a:rPr>
              <a:t>ES</a:t>
            </a:r>
            <a:endParaRPr lang="zh-CN" altLang="en-US" sz="2000" dirty="0">
              <a:solidFill>
                <a:srgbClr val="1F2D22"/>
              </a:solidFill>
              <a:latin typeface="ui-monospac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0</a:t>
            </a:r>
            <a:r>
              <a:rPr kumimoji="0" lang="en-US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5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293290" y="2685166"/>
            <a:ext cx="233910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Arial" panose="020B0604020202020204"/>
                <a:ea typeface="华文中宋" panose="02010600040101010101" charset="-122"/>
              </a:rPr>
              <a:t>唐熙雷</a:t>
            </a:r>
            <a:endParaRPr kumimoji="0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550" b="1" dirty="0">
                <a:solidFill>
                  <a:srgbClr val="2D4A33"/>
                </a:solidFill>
              </a:rPr>
              <a:t>唐熙雷</a:t>
            </a:r>
            <a:endParaRPr sz="2550" b="1" dirty="0">
              <a:solidFill>
                <a:srgbClr val="2D4A33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5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Faiss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1350" b="0">
                <a:solidFill>
                  <a:srgbClr val="1F2D22"/>
                </a:solidFill>
              </a:rPr>
              <a:t>替换 / 增强向量检索底座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00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多检索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00850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1350" b="0">
                <a:solidFill>
                  <a:srgbClr val="1F2D22"/>
                </a:solidFill>
              </a:rPr>
              <a:t>支持多种召回方式并行比较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3714750"/>
            <a:ext cx="8191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1650" b="1">
                <a:solidFill>
                  <a:srgbClr val="2D4A33"/>
                </a:solidFill>
              </a:rPr>
              <a:t>结果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28850" y="4324350"/>
            <a:ext cx="7734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1350" b="0">
                <a:solidFill>
                  <a:srgbClr val="1F2D22"/>
                </a:solidFill>
              </a:rPr>
              <a:t>索引与召回更灵活，检索能力明显增强。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A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>
            <a:spLocks noGrp="1"/>
          </p:cNvSpPr>
          <p:nvPr/>
        </p:nvSpPr>
        <p:spPr>
          <a:xfrm>
            <a:off x="2614979" y="2321005"/>
            <a:ext cx="2604077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0</a:t>
            </a:r>
            <a:r>
              <a:rPr kumimoji="0" lang="en-US" sz="13800" b="0" i="0" u="none" strike="noStrike" kern="1200" cap="none" spc="0" normalizeH="0" baseline="0" noProof="0" dirty="0">
                <a:ln>
                  <a:noFill/>
                </a:ln>
                <a:solidFill>
                  <a:srgbClr val="F5F4F9"/>
                </a:solidFill>
                <a:effectLst/>
                <a:uLnTx/>
                <a:uFillTx/>
                <a:latin typeface="Arial" panose="020B0604020202020204"/>
                <a:ea typeface="华文中宋" panose="02010600040101010101" charset="-122"/>
                <a:cs typeface="+mn-cs"/>
              </a:rPr>
              <a:t>6</a:t>
            </a:r>
            <a:endParaRPr kumimoji="0" sz="13800" b="0" i="0" u="none" strike="noStrike" kern="1200" cap="none" spc="0" normalizeH="0" baseline="0" noProof="0" dirty="0">
              <a:ln>
                <a:noFill/>
              </a:ln>
              <a:solidFill>
                <a:srgbClr val="F5F4F9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331762" y="2685166"/>
            <a:ext cx="2262158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5400" b="0" i="0" dirty="0">
                <a:solidFill>
                  <a:schemeClr val="bg1"/>
                </a:solidFill>
                <a:effectLst/>
                <a:latin typeface="Color Emoji"/>
              </a:rPr>
              <a:t>邢泽雷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/>
              <a:ea typeface="华文中宋" panose="0201060004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D4A33"/>
          </a:solidFill>
          <a:ln w="0">
            <a:solidFill>
              <a:srgbClr val="2D4A33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400050"/>
            <a:ext cx="10668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ctr">
              <a:defRPr sz="2550" b="1">
                <a:solidFill>
                  <a:srgbClr val="2D4A33"/>
                </a:solidFill>
              </a:defRPr>
            </a:pPr>
            <a:r>
              <a:rPr lang="zh-CN" altLang="en-US" sz="2800" b="0" i="0" dirty="0">
                <a:effectLst/>
                <a:latin typeface="Color Emoji"/>
              </a:rPr>
              <a:t>邢泽雷</a:t>
            </a:r>
            <a:endParaRPr sz="2550" b="1" dirty="0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857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1085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2D4A33"/>
                </a:solidFill>
              </a:defRPr>
            </a:pPr>
            <a:r>
              <a:rPr sz="3200" b="1" dirty="0" err="1">
                <a:solidFill>
                  <a:srgbClr val="2D4A33"/>
                </a:solidFill>
              </a:rPr>
              <a:t>检索前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085850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2000" dirty="0" err="1">
                <a:solidFill>
                  <a:srgbClr val="1F2D22"/>
                </a:solidFill>
                <a:latin typeface="ui-monospace"/>
              </a:rPr>
              <a:t>查询优化</a:t>
            </a:r>
            <a:endParaRPr sz="2000" dirty="0">
              <a:solidFill>
                <a:srgbClr val="1F2D22"/>
              </a:solidFill>
              <a:latin typeface="ui-monospace"/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2000" dirty="0" err="1">
                <a:solidFill>
                  <a:srgbClr val="1F2D22"/>
                </a:solidFill>
                <a:latin typeface="ui-monospace"/>
              </a:rPr>
              <a:t>检索提示</a:t>
            </a:r>
            <a:endParaRPr sz="2000" dirty="0">
              <a:solidFill>
                <a:srgbClr val="1F2D22"/>
              </a:solidFill>
              <a:latin typeface="ui-monospace"/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2000" dirty="0" err="1">
                <a:solidFill>
                  <a:srgbClr val="1F2D22"/>
                </a:solidFill>
                <a:latin typeface="ui-monospace"/>
              </a:rPr>
              <a:t>问题改写</a:t>
            </a:r>
            <a:endParaRPr sz="2000" dirty="0">
              <a:solidFill>
                <a:srgbClr val="1F2D22"/>
              </a:solidFill>
              <a:latin typeface="ui-monospace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572250" y="1619250"/>
            <a:ext cx="47625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800850" y="1790700"/>
            <a:ext cx="4305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D4A33"/>
                </a:solidFill>
              </a:defRPr>
            </a:pPr>
            <a:r>
              <a:rPr sz="3200" b="1" dirty="0" err="1">
                <a:solidFill>
                  <a:srgbClr val="2D4A33"/>
                </a:solidFill>
              </a:rPr>
              <a:t>检索后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800850" y="2228850"/>
            <a:ext cx="4305300" cy="857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2000" dirty="0" err="1">
                <a:solidFill>
                  <a:srgbClr val="1F2D22"/>
                </a:solidFill>
                <a:latin typeface="ui-monospace"/>
              </a:rPr>
              <a:t>自我反思</a:t>
            </a:r>
            <a:endParaRPr sz="2000" dirty="0">
              <a:solidFill>
                <a:srgbClr val="1F2D22"/>
              </a:solidFill>
              <a:latin typeface="ui-monospace"/>
            </a:endParaRPr>
          </a:p>
          <a:p>
            <a:pPr algn="l">
              <a:defRPr sz="1350" b="0">
                <a:solidFill>
                  <a:srgbClr val="1F2D22"/>
                </a:solidFill>
              </a:defRPr>
            </a:pPr>
            <a:r>
              <a:rPr sz="2000" dirty="0" err="1">
                <a:solidFill>
                  <a:srgbClr val="1F2D22"/>
                </a:solidFill>
                <a:latin typeface="ui-monospace"/>
              </a:rPr>
              <a:t>答案校正</a:t>
            </a:r>
            <a:endParaRPr sz="2000" dirty="0">
              <a:solidFill>
                <a:srgbClr val="1F2D22"/>
              </a:solidFill>
              <a:latin typeface="ui-monospace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000250" y="3714750"/>
            <a:ext cx="81915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0C4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228850" y="3886200"/>
            <a:ext cx="7734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2D4A33"/>
                </a:solidFill>
              </a:defRPr>
            </a:pPr>
            <a:r>
              <a:rPr sz="3200" b="1" dirty="0" err="1">
                <a:solidFill>
                  <a:srgbClr val="2D4A33"/>
                </a:solidFill>
              </a:rPr>
              <a:t>结果</a:t>
            </a:r>
            <a:endParaRPr sz="3200" b="1" dirty="0">
              <a:solidFill>
                <a:srgbClr val="2D4A33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228850" y="4324350"/>
            <a:ext cx="77343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F2D22"/>
                </a:solidFill>
              </a:defRPr>
            </a:pPr>
            <a:r>
              <a:rPr lang="zh-CN" altLang="en-US" sz="2000" dirty="0">
                <a:solidFill>
                  <a:srgbClr val="1F2D22"/>
                </a:solidFill>
                <a:latin typeface="ui-monospace"/>
              </a:rPr>
              <a:t>提高结果准确性</a:t>
            </a:r>
            <a:r>
              <a:rPr sz="2000" dirty="0">
                <a:solidFill>
                  <a:srgbClr val="1F2D22"/>
                </a:solidFill>
                <a:latin typeface="ui-monospace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Grp="1"/>
          </p:cNvSpPr>
          <p:nvPr/>
        </p:nvSpPr>
        <p:spPr>
          <a:xfrm>
            <a:off x="0" y="1322656"/>
            <a:ext cx="12192000" cy="4212688"/>
          </a:xfrm>
          <a:prstGeom prst="rect">
            <a:avLst/>
          </a:prstGeom>
          <a:solidFill>
            <a:srgbClr val="253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5"/>
          <p:cNvSpPr>
            <a:spLocks noGrp="1"/>
          </p:cNvSpPr>
          <p:nvPr/>
        </p:nvSpPr>
        <p:spPr>
          <a:xfrm>
            <a:off x="3744435" y="1739250"/>
            <a:ext cx="590453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400" dirty="0" err="1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Myrag</a:t>
            </a:r>
            <a:r>
              <a:rPr sz="4400" dirty="0" err="1">
                <a:solidFill>
                  <a:schemeClr val="bg1"/>
                </a:solidFill>
                <a:latin typeface="字魂17号-萌趣果冻体"/>
                <a:ea typeface="字魂17号-萌趣果冻体"/>
                <a:cs typeface="字魂17号-萌趣果冻体"/>
              </a:rPr>
              <a:t>总结</a:t>
            </a:r>
            <a:endParaRPr sz="4400" dirty="0">
              <a:solidFill>
                <a:schemeClr val="bg1"/>
              </a:solidFill>
              <a:latin typeface="字魂17号-萌趣果冻体"/>
              <a:ea typeface="字魂17号-萌趣果冻体"/>
              <a:cs typeface="字魂17号-萌趣果冻体"/>
            </a:endParaRPr>
          </a:p>
        </p:txBody>
      </p:sp>
      <p:sp>
        <p:nvSpPr>
          <p:cNvPr id="7" name="文本框 6"/>
          <p:cNvSpPr>
            <a:spLocks noGrp="1"/>
          </p:cNvSpPr>
          <p:nvPr/>
        </p:nvSpPr>
        <p:spPr>
          <a:xfrm>
            <a:off x="5376550" y="2961197"/>
            <a:ext cx="3238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6000" dirty="0" err="1">
                <a:solidFill>
                  <a:schemeClr val="bg1"/>
                </a:solidFill>
              </a:rPr>
              <a:t>谢谢</a:t>
            </a:r>
            <a:endParaRPr sz="6000" dirty="0">
              <a:solidFill>
                <a:schemeClr val="bg1"/>
              </a:solidFill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49709" y="322340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3" name="等腰三角形 12"/>
          <p:cNvSpPr>
            <a:spLocks noGrp="1"/>
          </p:cNvSpPr>
          <p:nvPr/>
        </p:nvSpPr>
        <p:spPr>
          <a:xfrm rot="16200000">
            <a:off x="345362" y="3365602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椭圆 15"/>
          <p:cNvSpPr>
            <a:spLocks noGrp="1"/>
          </p:cNvSpPr>
          <p:nvPr/>
        </p:nvSpPr>
        <p:spPr>
          <a:xfrm flipH="1">
            <a:off x="10993393" y="3185111"/>
            <a:ext cx="449489" cy="4494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等腰三角形 16"/>
          <p:cNvSpPr>
            <a:spLocks noGrp="1"/>
          </p:cNvSpPr>
          <p:nvPr/>
        </p:nvSpPr>
        <p:spPr>
          <a:xfrm rot="16200000" flipH="1">
            <a:off x="10897740" y="3327312"/>
            <a:ext cx="191501" cy="165087"/>
          </a:xfrm>
          <a:prstGeom prst="triangle">
            <a:avLst/>
          </a:prstGeom>
          <a:solidFill>
            <a:srgbClr val="2B1D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4018164" y="1584250"/>
            <a:ext cx="1066959" cy="1015303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5964" y="1418612"/>
            <a:ext cx="1364080" cy="134677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4,&quot;left&quot;:67.5,&quot;top&quot;:127.5,&quot;width&quot;:717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5.4,&quot;left&quot;:67.5,&quot;top&quot;:127.5,&quot;width&quot;:717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vcliop3">
      <a:majorFont>
        <a:latin typeface="Arial"/>
        <a:ea typeface="STZhongsong"/>
        <a:cs typeface=""/>
      </a:majorFont>
      <a:minorFont>
        <a:latin typeface="Arial"/>
        <a:ea typeface="STZhongsong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fvcliop3">
      <a:majorFont>
        <a:latin typeface="Arial"/>
        <a:ea typeface="STZhongsong"/>
        <a:cs typeface=""/>
      </a:majorFont>
      <a:minorFont>
        <a:latin typeface="Arial"/>
        <a:ea typeface="STZhongsong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481</Words>
  <Application>Microsoft Office PowerPoint</Application>
  <PresentationFormat>宽屏</PresentationFormat>
  <Paragraphs>81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0" baseType="lpstr">
      <vt:lpstr>Color Emoji</vt:lpstr>
      <vt:lpstr>ui-monospace</vt:lpstr>
      <vt:lpstr>字魂17号-萌趣果冻体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Tianming Yun</cp:lastModifiedBy>
  <cp:revision>11</cp:revision>
  <dcterms:created xsi:type="dcterms:W3CDTF">2026-06-08T16:49:00Z</dcterms:created>
  <dcterms:modified xsi:type="dcterms:W3CDTF">2026-06-15T14:35:58Z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C5A3FBEA43E247E994AD78E3FFB53185_12</vt:lpwstr>
  </property>
  <property fmtid="{D5CDD505-2E9C-101B-9397-08002B2CF9AE}" pid="3" name="KSOProductBuildVer">
    <vt:lpwstr>2052-12.1.0.23542</vt:lpwstr>
  </property>
</Properties>
</file>