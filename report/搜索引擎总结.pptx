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73" r:id="rId5"/>
    <p:sldId id="258" r:id="rId6"/>
    <p:sldId id="260" r:id="rId7"/>
    <p:sldId id="262" r:id="rId8"/>
    <p:sldId id="263" r:id="rId9"/>
    <p:sldId id="274" r:id="rId10"/>
    <p:sldId id="276" r:id="rId11"/>
    <p:sldId id="270" r:id="rId12"/>
    <p:sldId id="259" r:id="rId13"/>
    <p:sldId id="271" r:id="rId14"/>
    <p:sldId id="279" r:id="rId15"/>
    <p:sldId id="272" r:id="rId16"/>
    <p:sldId id="261" r:id="rId17"/>
    <p:sldId id="277" r:id="rId18"/>
    <p:sldId id="278" r:id="rId19"/>
    <p:sldId id="268" r:id="rId2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04" d="100"/>
          <a:sy n="104" d="100"/>
        </p:scale>
        <p:origin x="9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/>
        </p:txBody>
      </p:sp>
      <p:sp>
        <p:nvSpPr>
          <p:cNvPr id="4" name="文本占位符 3"/>
          <p:cNvSpPr>
            <a:spLocks noGrp="1"/>
          </p:cNvSpPr>
          <p:nvPr>
            <p:ph type="body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 hasCustomPrompt="1"/>
          </p:nvPr>
        </p:nvSpPr>
        <p:spPr/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53A8F1-9EDF-49EF-A14D-E495AD864F8A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13857-8FE2-426A-A37B-64DF65062EF2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2.xml"/><Relationship Id="rId7" Type="http://schemas.openxmlformats.org/officeDocument/2006/relationships/slideLayout" Target="../slideLayouts/slideLayout2.xml"/><Relationship Id="rId6" Type="http://schemas.openxmlformats.org/officeDocument/2006/relationships/tags" Target="../tags/tag8.xml"/><Relationship Id="rId5" Type="http://schemas.openxmlformats.org/officeDocument/2006/relationships/tags" Target="../tags/tag7.xml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hyperlink" Target="vscode-file://vscode-app/c:/app/vscode/Microsoft%20VS%20Code/8761a5560c/resources/app/out/vs/code/electron-browser/workbench/workbench.html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4400" dirty="0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搜索引擎总结</a:t>
            </a:r>
            <a:endParaRPr lang="zh-CN" altLang="en-US" sz="4400" dirty="0">
              <a:solidFill>
                <a:schemeClr val="bg1"/>
              </a:solidFill>
              <a:latin typeface="字魂17号-萌趣果冻体"/>
              <a:ea typeface="字魂17号-萌趣果冻体"/>
              <a:cs typeface="字魂17号-萌趣果冻体"/>
            </a:endParaRP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2845308" y="2607167"/>
            <a:ext cx="668307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6000" dirty="0">
                <a:solidFill>
                  <a:schemeClr val="bg1"/>
                </a:solidFill>
              </a:rPr>
              <a:t>搜索引擎成员贡献总结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3" name="等腰三角形 12"/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7" name="等腰三角形 16"/>
          <p:cNvSpPr>
            <a:spLocks noGrp="1"/>
          </p:cNvSpPr>
          <p:nvPr/>
        </p:nvSpPr>
        <p:spPr>
          <a:xfrm rot="16200000" flipH="1">
            <a:off x="11039843" y="3342387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2845308" y="4772967"/>
            <a:ext cx="7002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小组成员：李嘉轩 刘义群 王秀崧 汤语涵 谢羿衡 唐熙雷 邢泽雷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01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571876" y="2630302"/>
            <a:ext cx="3576620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组内评分</a:t>
            </a:r>
            <a:endParaRPr kumimoji="0" sz="6600" b="1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2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995868" y="2630302"/>
            <a:ext cx="2728632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6600" b="1" dirty="0">
                <a:solidFill>
                  <a:srgbClr val="F5F4F9"/>
                </a:solidFill>
              </a:rPr>
              <a:t>王秀崧</a:t>
            </a:r>
            <a:endParaRPr sz="6600" b="1" dirty="0">
              <a:solidFill>
                <a:srgbClr val="F5F4F9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王秀崧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750561" y="1429282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3979161" y="160073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1650" b="1" dirty="0">
                <a:solidFill>
                  <a:srgbClr val="2D4A33"/>
                </a:solidFill>
              </a:rPr>
              <a:t>调试</a:t>
            </a:r>
            <a:endParaRPr sz="165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79161" y="2038882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负责进行改动后的功能测试</a:t>
            </a:r>
            <a:br>
              <a:rPr lang="en-US" altLang="zh-CN" sz="1350" dirty="0">
                <a:solidFill>
                  <a:srgbClr val="1F2D22"/>
                </a:solidFill>
              </a:rPr>
            </a:br>
            <a:r>
              <a:rPr lang="zh-CN" altLang="en-US" sz="1350" dirty="0">
                <a:solidFill>
                  <a:srgbClr val="1F2D22"/>
                </a:solidFill>
              </a:rPr>
              <a:t>测试搜索页面和功能能否可以正常运行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测试结果排序是否合理</a:t>
            </a:r>
            <a:endParaRPr sz="1350" b="0" dirty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061894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3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23120" y="2685166"/>
            <a:ext cx="5679440" cy="175323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5400" b="1" dirty="0">
                <a:solidFill>
                  <a:schemeClr val="bg1"/>
                </a:solidFill>
              </a:rPr>
              <a:t>刘义群</a:t>
            </a:r>
            <a:endParaRPr lang="zh-CN" altLang="en-US" sz="5400" b="1" dirty="0">
              <a:solidFill>
                <a:schemeClr val="bg1"/>
              </a:solidFill>
            </a:endParaRPr>
          </a:p>
          <a:p>
            <a:pPr algn="ctr">
              <a:buNone/>
            </a:pPr>
            <a:r>
              <a:rPr lang="zh-CN" sz="5400" b="1" dirty="0">
                <a:solidFill>
                  <a:schemeClr val="bg1"/>
                </a:solidFill>
              </a:rPr>
              <a:t>负责垂直搜索引擎</a:t>
            </a:r>
            <a:endParaRPr lang="zh-CN" sz="5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首页显示部分（新增前端功能）</a:t>
            </a:r>
            <a:endParaRPr lang="zh-CN" altLang="en-US"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jdsearch </a:t>
            </a:r>
            <a:r>
              <a:rPr lang="zh-CN" altLang="en-US" sz="1350" b="0">
                <a:solidFill>
                  <a:srgbClr val="1F2D22"/>
                </a:solidFill>
              </a:rPr>
              <a:t>搜索页面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搜索框下方：空关键词时显示提示文字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首页随机展示部分图书，输入关键词后可进行精确搜索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endParaRPr lang="en-US" altLang="zh-CN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结果区域：页面挂载即自动渲染图书列表，无需点击搜索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2847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58940" y="205232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页面加载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Vue mounted() </a:t>
            </a:r>
            <a:r>
              <a:rPr lang="zh-CN" altLang="en-US" sz="1350" b="0">
                <a:solidFill>
                  <a:srgbClr val="1F2D22"/>
                </a:solidFill>
              </a:rPr>
              <a:t>自动调用</a:t>
            </a:r>
            <a:r>
              <a:rPr lang="en-US" altLang="zh-CN" sz="1350" b="0">
                <a:solidFill>
                  <a:srgbClr val="1F2D22"/>
                </a:solidFill>
              </a:rPr>
              <a:t> searchPage()</a:t>
            </a:r>
            <a:endParaRPr lang="en-US" altLang="zh-CN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searchPage()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发送</a:t>
            </a:r>
            <a:r>
              <a:rPr lang="en-US" altLang="zh-CN" sz="1350" b="0">
                <a:solidFill>
                  <a:srgbClr val="1F2D22"/>
                </a:solidFill>
              </a:rPr>
              <a:t> POST </a:t>
            </a:r>
            <a:r>
              <a:rPr lang="zh-CN" altLang="en-US" sz="1350" b="0">
                <a:solidFill>
                  <a:srgbClr val="1F2D22"/>
                </a:solidFill>
              </a:rPr>
              <a:t>请求至</a:t>
            </a:r>
            <a:r>
              <a:rPr lang="en-US" altLang="zh-CN" sz="1350" b="0">
                <a:solidFill>
                  <a:srgbClr val="1F2D22"/>
                </a:solidFill>
              </a:rPr>
              <a:t> /query</a:t>
            </a:r>
            <a:endParaRPr lang="en-US" altLang="zh-CN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后端判断</a:t>
            </a:r>
            <a:r>
              <a:rPr lang="en-US" altLang="zh-CN" sz="1350" b="0">
                <a:solidFill>
                  <a:srgbClr val="1F2D22"/>
                </a:solidFill>
              </a:rPr>
              <a:t> keyword </a:t>
            </a:r>
            <a:r>
              <a:rPr lang="zh-CN" altLang="en-US" sz="1350" b="0">
                <a:solidFill>
                  <a:srgbClr val="1F2D22"/>
                </a:solidFill>
              </a:rPr>
              <a:t>是否为空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为空则执行</a:t>
            </a:r>
            <a:r>
              <a:rPr lang="en-US" altLang="zh-CN" sz="1350" b="0">
                <a:solidFill>
                  <a:srgbClr val="1F2D22"/>
                </a:solidFill>
              </a:rPr>
              <a:t> matchAllQuery + randomFunction </a:t>
            </a:r>
            <a:r>
              <a:rPr lang="zh-CN" altLang="en-US" sz="1350" b="0">
                <a:solidFill>
                  <a:srgbClr val="1F2D22"/>
                </a:solidFill>
              </a:rPr>
              <a:t>随机排序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返回结果，前端渲染图书列表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首页打开即展示随机图书，无需手动搜索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空关键词时随机展示</a:t>
            </a:r>
            <a:r>
              <a:rPr lang="en-US" altLang="zh-CN" sz="1350" b="0">
                <a:solidFill>
                  <a:srgbClr val="1F2D22"/>
                </a:solidFill>
              </a:rPr>
              <a:t> jddata </a:t>
            </a:r>
            <a:r>
              <a:rPr lang="zh-CN" altLang="en-US" sz="1350" b="0">
                <a:solidFill>
                  <a:srgbClr val="1F2D22"/>
                </a:solidFill>
              </a:rPr>
              <a:t>索引中的书籍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有关键词时仍按标题匹配精确搜索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价格排序部分</a:t>
            </a:r>
            <a:endParaRPr lang="zh-CN" altLang="en-US"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jdsearch </a:t>
            </a:r>
            <a:r>
              <a:rPr lang="zh-CN" altLang="en-US" sz="1350" b="0">
                <a:solidFill>
                  <a:srgbClr val="1F2D22"/>
                </a:solidFill>
              </a:rPr>
              <a:t>搜索页面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价格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文字变为可点击排序控件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点击后显示排序方向箭头（</a:t>
            </a:r>
            <a:r>
              <a:rPr lang="en-US" altLang="en-US" sz="1350" b="0">
                <a:solidFill>
                  <a:srgbClr val="1F2D22"/>
                </a:solidFill>
              </a:rPr>
              <a:t>↑</a:t>
            </a:r>
            <a:r>
              <a:rPr lang="zh-CN" altLang="en-US" sz="1350" b="0">
                <a:solidFill>
                  <a:srgbClr val="1F2D22"/>
                </a:solidFill>
              </a:rPr>
              <a:t>升序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en-US" altLang="en-US" sz="1350" b="0">
                <a:solidFill>
                  <a:srgbClr val="1F2D22"/>
                </a:solidFill>
              </a:rPr>
              <a:t>↓</a:t>
            </a:r>
            <a:r>
              <a:rPr lang="zh-CN" altLang="en-US" sz="1350" b="0">
                <a:solidFill>
                  <a:srgbClr val="1F2D22"/>
                </a:solidFill>
              </a:rPr>
              <a:t>降序）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285865" y="1379855"/>
            <a:ext cx="5144135" cy="209105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534785" y="147574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595110" y="1990725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价格</a:t>
            </a:r>
            <a:r>
              <a:rPr lang="en-US" altLang="zh-CN" sz="1350" b="0">
                <a:solidFill>
                  <a:srgbClr val="1F2D22"/>
                </a:solidFill>
              </a:rPr>
              <a:t>"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togglePriceSort() </a:t>
            </a:r>
            <a:r>
              <a:rPr lang="zh-CN" altLang="en-US" sz="1350" b="0">
                <a:solidFill>
                  <a:srgbClr val="1F2D22"/>
                </a:solidFill>
              </a:rPr>
              <a:t>设置</a:t>
            </a:r>
            <a:r>
              <a:rPr lang="en-US" altLang="zh-CN" sz="1350" b="0">
                <a:solidFill>
                  <a:srgbClr val="1F2D22"/>
                </a:solidFill>
              </a:rPr>
              <a:t> sortField='price' </a:t>
            </a:r>
            <a:r>
              <a:rPr lang="zh-CN" altLang="en-US" sz="1350" b="0">
                <a:solidFill>
                  <a:srgbClr val="1F2D22"/>
                </a:solidFill>
              </a:rPr>
              <a:t>和</a:t>
            </a:r>
            <a:r>
              <a:rPr lang="en-US" altLang="zh-CN" sz="1350" b="0">
                <a:solidFill>
                  <a:srgbClr val="1F2D22"/>
                </a:solidFill>
              </a:rPr>
              <a:t> sortOrder</a:t>
            </a:r>
            <a:endParaRPr lang="en-US" altLang="zh-CN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自动重新调用</a:t>
            </a:r>
            <a:r>
              <a:rPr lang="en-US" altLang="zh-CN" sz="1350" b="0">
                <a:solidFill>
                  <a:srgbClr val="1F2D22"/>
                </a:solidFill>
              </a:rPr>
              <a:t> searchPage()</a:t>
            </a:r>
            <a:r>
              <a:rPr lang="zh-CN" altLang="en-US" sz="1350" b="0">
                <a:solidFill>
                  <a:srgbClr val="1F2D22"/>
                </a:solidFill>
              </a:rPr>
              <a:t>，将排序参数传至后端</a:t>
            </a:r>
            <a:r>
              <a:rPr lang="en-US" altLang="zh-CN" sz="1350" b="0">
                <a:solidFill>
                  <a:srgbClr val="1F2D22"/>
                </a:solidFill>
              </a:rPr>
              <a:t> /query</a:t>
            </a:r>
            <a:endParaRPr lang="en-US" altLang="zh-CN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ContentController </a:t>
            </a:r>
            <a:r>
              <a:rPr lang="zh-CN" altLang="en-US" sz="1350" b="0">
                <a:solidFill>
                  <a:srgbClr val="1F2D22"/>
                </a:solidFill>
              </a:rPr>
              <a:t>接收参数传给</a:t>
            </a:r>
            <a:r>
              <a:rPr lang="en-US" altLang="zh-CN" sz="1350" b="0">
                <a:solidFill>
                  <a:srgbClr val="1F2D22"/>
                </a:solidFill>
              </a:rPr>
              <a:t> ContentService</a:t>
            </a:r>
            <a:endParaRPr lang="en-US" altLang="zh-CN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ES </a:t>
            </a:r>
            <a:r>
              <a:rPr lang="zh-CN" altLang="en-US" sz="1350" b="0">
                <a:solidFill>
                  <a:srgbClr val="1F2D22"/>
                </a:solidFill>
              </a:rPr>
              <a:t>查询返回结果后，</a:t>
            </a:r>
            <a:r>
              <a:rPr lang="en-US" altLang="zh-CN" sz="1350" b="0">
                <a:solidFill>
                  <a:srgbClr val="1F2D22"/>
                </a:solidFill>
              </a:rPr>
              <a:t>Java </a:t>
            </a:r>
            <a:r>
              <a:rPr lang="zh-CN" altLang="en-US" sz="1350" b="0">
                <a:solidFill>
                  <a:srgbClr val="1F2D22"/>
                </a:solidFill>
              </a:rPr>
              <a:t>端按价格字段排序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排序结果返回前端，页面重新渲染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146935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支持价格升序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降序切换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价格字段含非数字符号时自动解析为数值再排序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排序在后端内存中完成，无需改动</a:t>
            </a:r>
            <a:r>
              <a:rPr lang="en-US" altLang="zh-CN" sz="1350" b="0">
                <a:solidFill>
                  <a:srgbClr val="1F2D22"/>
                </a:solidFill>
              </a:rPr>
              <a:t> ES </a:t>
            </a:r>
            <a:r>
              <a:rPr lang="zh-CN" altLang="en-US" sz="1350" b="0">
                <a:solidFill>
                  <a:srgbClr val="1F2D22"/>
                </a:solidFill>
              </a:rPr>
              <a:t>索引结构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增加商品部分</a:t>
            </a:r>
            <a:endParaRPr lang="zh-CN" altLang="en-US" sz="2550" b="1" dirty="0">
              <a:solidFill>
                <a:srgbClr val="2D4A33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295015" y="1143000"/>
            <a:ext cx="5144135" cy="209105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3543935" y="123888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604260" y="175387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增加</a:t>
            </a:r>
            <a:r>
              <a:rPr lang="en-US" altLang="zh-CN" sz="1350" b="0">
                <a:solidFill>
                  <a:srgbClr val="1F2D22"/>
                </a:solidFill>
              </a:rPr>
              <a:t>“</a:t>
            </a:r>
            <a:r>
              <a:rPr lang="zh-CN" altLang="en-US" sz="1350" b="0">
                <a:solidFill>
                  <a:srgbClr val="1F2D22"/>
                </a:solidFill>
              </a:rPr>
              <a:t>高数</a:t>
            </a:r>
            <a:r>
              <a:rPr lang="en-US" altLang="zh-CN" sz="1350" b="0">
                <a:solidFill>
                  <a:srgbClr val="1F2D22"/>
                </a:solidFill>
              </a:rPr>
              <a:t>”“</a:t>
            </a:r>
            <a:r>
              <a:rPr lang="zh-CN" altLang="en-US" sz="1350" b="0">
                <a:solidFill>
                  <a:srgbClr val="1F2D22"/>
                </a:solidFill>
              </a:rPr>
              <a:t>大学英语</a:t>
            </a:r>
            <a:r>
              <a:rPr lang="en-US" altLang="zh-CN" sz="1350" b="0">
                <a:solidFill>
                  <a:srgbClr val="1F2D22"/>
                </a:solidFill>
              </a:rPr>
              <a:t>”</a:t>
            </a:r>
            <a:r>
              <a:rPr lang="zh-CN" altLang="en-US" sz="1350" b="0">
                <a:solidFill>
                  <a:srgbClr val="1F2D22"/>
                </a:solidFill>
              </a:rPr>
              <a:t>相关的书籍数据到老师提供的</a:t>
            </a:r>
            <a:r>
              <a:rPr lang="en-US" altLang="zh-CN" sz="1350" b="0">
                <a:solidFill>
                  <a:srgbClr val="1F2D22"/>
                </a:solidFill>
              </a:rPr>
              <a:t>“jddata.json”</a:t>
            </a:r>
            <a:r>
              <a:rPr lang="zh-CN" altLang="en-US" sz="1350" b="0">
                <a:solidFill>
                  <a:srgbClr val="1F2D22"/>
                </a:solidFill>
              </a:rPr>
              <a:t>中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通过</a:t>
            </a:r>
            <a:r>
              <a:rPr lang="en-US" altLang="zh-CN" sz="1350" b="0">
                <a:solidFill>
                  <a:srgbClr val="1F2D22"/>
                </a:solidFill>
              </a:rPr>
              <a:t>src\main\java\com\example\demo\EsJDDoc.java</a:t>
            </a:r>
            <a:r>
              <a:rPr lang="zh-CN" altLang="en-US" sz="1350" b="0">
                <a:solidFill>
                  <a:srgbClr val="1F2D22"/>
                </a:solidFill>
              </a:rPr>
              <a:t>代码将数据写入</a:t>
            </a:r>
            <a:r>
              <a:rPr lang="en-US" altLang="zh-CN" sz="1350" b="0">
                <a:solidFill>
                  <a:srgbClr val="1F2D22"/>
                </a:solidFill>
              </a:rPr>
              <a:t>ES</a:t>
            </a:r>
            <a:r>
              <a:rPr lang="zh-CN" altLang="en-US" sz="1350" b="0">
                <a:solidFill>
                  <a:srgbClr val="1F2D22"/>
                </a:solidFill>
              </a:rPr>
              <a:t>数据库中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295650" y="3836670"/>
            <a:ext cx="5143500" cy="1873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3604260" y="3968115"/>
            <a:ext cx="6358890" cy="2419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3604895" y="4514850"/>
            <a:ext cx="4669790" cy="7289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sz="1350" b="0">
                <a:solidFill>
                  <a:srgbClr val="1F2D22"/>
                </a:solidFill>
              </a:rPr>
              <a:t>实现了增加两个关键词的商品到</a:t>
            </a:r>
            <a:r>
              <a:rPr lang="en-US" altLang="zh-CN" sz="1350" b="0">
                <a:solidFill>
                  <a:srgbClr val="1F2D22"/>
                </a:solidFill>
              </a:rPr>
              <a:t>ES</a:t>
            </a:r>
            <a:r>
              <a:rPr lang="zh-CN" altLang="en-US" sz="1350" b="0">
                <a:solidFill>
                  <a:srgbClr val="1F2D22"/>
                </a:solidFill>
              </a:rPr>
              <a:t>的功能，并且可以通过搜索引擎查询到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 panose="020B0604020202020204"/>
                <a:ea typeface="华文中宋" panose="02010600040101010101" charset="-122"/>
              </a:rPr>
              <a:t>4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1" y="2685166"/>
            <a:ext cx="22621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李嘉轩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李嘉轩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498600" y="1481665"/>
            <a:ext cx="9465733" cy="2057401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634067" y="167878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en-US" sz="3200" b="1" dirty="0">
                <a:solidFill>
                  <a:srgbClr val="2D4A33"/>
                </a:solidFill>
              </a:rPr>
              <a:t>数据集初始化与扩充</a:t>
            </a:r>
            <a:endParaRPr lang="zh-CN" altLang="en-US" sz="320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634067" y="2070365"/>
            <a:ext cx="9059333" cy="13586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提交并扩充了 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course_qa.json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整理统一 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course_qa.json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数据格式、增加质量标注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498600" y="4171950"/>
            <a:ext cx="9465733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634067" y="4362450"/>
            <a:ext cx="5872052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en-US" altLang="zh-CN" sz="3200" dirty="0"/>
              <a:t>Elasticsearch </a:t>
            </a:r>
            <a:r>
              <a:rPr lang="zh-CN" altLang="en-US" sz="3200" dirty="0"/>
              <a:t>数据导入能力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634067" y="4677833"/>
            <a:ext cx="9330266" cy="977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添加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ES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数据导入脚本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course_qa.json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并将数据导入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ES</a:t>
            </a:r>
            <a:endParaRPr lang="zh-CN" altLang="en-US" sz="2000" dirty="0">
              <a:solidFill>
                <a:srgbClr val="1F2D22"/>
              </a:solidFill>
              <a:latin typeface="ui-monospace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5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293290" y="2685166"/>
            <a:ext cx="233910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5400" b="1" dirty="0">
                <a:solidFill>
                  <a:prstClr val="white"/>
                </a:solidFill>
                <a:latin typeface="Arial" panose="020B0604020202020204"/>
                <a:ea typeface="华文中宋" panose="02010600040101010101" charset="-122"/>
              </a:rPr>
              <a:t>唐熙雷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唐熙雷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57250" y="1619250"/>
            <a:ext cx="4762500" cy="411543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085850" y="1790700"/>
            <a:ext cx="4305300" cy="565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2000" b="1">
                <a:solidFill>
                  <a:srgbClr val="2D4A33"/>
                </a:solidFill>
              </a:rPr>
              <a:t>无监督文本特征工程，公式</a:t>
            </a:r>
            <a:r>
              <a:rPr lang="zh-CN" altLang="en-US" sz="2000" b="1">
                <a:solidFill>
                  <a:srgbClr val="2D4A33"/>
                </a:solidFill>
              </a:rPr>
              <a:t>设计</a:t>
            </a:r>
            <a:endParaRPr lang="zh-CN" altLang="en-US" sz="2000" b="1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1085850" y="2501265"/>
            <a:ext cx="4305300" cy="29768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600" b="0">
                <a:solidFill>
                  <a:srgbClr val="1F2D22"/>
                </a:solidFill>
              </a:rPr>
              <a:t>四维公式设计：基于文本内在形态，构建涵盖 </a:t>
            </a:r>
            <a:r>
              <a:rPr lang="en-US" altLang="zh-CN" sz="1600" b="0">
                <a:solidFill>
                  <a:srgbClr val="1F2D22"/>
                </a:solidFill>
              </a:rPr>
              <a:t>BM25 </a:t>
            </a:r>
            <a:r>
              <a:rPr lang="zh-CN" altLang="en-US" sz="1600" b="0">
                <a:solidFill>
                  <a:srgbClr val="1F2D22"/>
                </a:solidFill>
              </a:rPr>
              <a:t>相关性（55%）、回答绝对长度（15%）、词汇信息密度（15%）、逻辑论证深度（15%）的综合加权评分模型。</a:t>
            </a:r>
            <a:endParaRPr lang="zh-CN" altLang="en-US" sz="160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lang="zh-CN" altLang="en-US" sz="160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600" b="0">
                <a:solidFill>
                  <a:srgbClr val="1F2D22"/>
                </a:solidFill>
              </a:rPr>
              <a:t>轻量级逻辑深度指标：创新性提出“逻辑词命中率”特征。硬编码极轻量通用逻辑词典（因果、转折、举例等），精准捕获技术解答中的推导分析深度，摆脱对庞大专业词库的依赖。</a:t>
            </a:r>
            <a:endParaRPr lang="zh-CN" altLang="en-US" sz="1600" b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6572250" y="1619250"/>
            <a:ext cx="4762500" cy="411543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6800850" y="1790700"/>
            <a:ext cx="4305300" cy="565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en-US" altLang="zh-CN" sz="2000" b="1">
                <a:solidFill>
                  <a:srgbClr val="2D4A33"/>
                </a:solidFill>
              </a:rPr>
              <a:t>NDCG </a:t>
            </a:r>
            <a:r>
              <a:rPr lang="zh-CN" altLang="en-US" sz="2000" b="1">
                <a:solidFill>
                  <a:srgbClr val="2D4A33"/>
                </a:solidFill>
              </a:rPr>
              <a:t>自动化评测</a:t>
            </a:r>
            <a:endParaRPr lang="zh-CN" altLang="en-US" sz="2000" b="1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6800850" y="2501265"/>
            <a:ext cx="4305300" cy="29768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600" b="0">
                <a:solidFill>
                  <a:srgbClr val="1F2D22"/>
                </a:solidFill>
              </a:rPr>
              <a:t>评测基准与真值构建：独立编写 </a:t>
            </a:r>
            <a:r>
              <a:rPr lang="en-US" altLang="zh-CN" sz="1600" b="0">
                <a:solidFill>
                  <a:srgbClr val="1F2D22"/>
                </a:solidFill>
              </a:rPr>
              <a:t>evaluator </a:t>
            </a:r>
            <a:r>
              <a:rPr lang="zh-CN" altLang="en-US" sz="1600" b="0">
                <a:solidFill>
                  <a:srgbClr val="1F2D22"/>
                </a:solidFill>
              </a:rPr>
              <a:t>自动化测试脚本，解析本地测试集生成 </a:t>
            </a:r>
            <a:r>
              <a:rPr lang="en-US" altLang="zh-CN" sz="1600" b="0">
                <a:solidFill>
                  <a:srgbClr val="1F2D22"/>
                </a:solidFill>
              </a:rPr>
              <a:t>Ground Truth，</a:t>
            </a:r>
            <a:r>
              <a:rPr lang="zh-CN" altLang="en-US" sz="1600" b="0">
                <a:solidFill>
                  <a:srgbClr val="1F2D22"/>
                </a:solidFill>
              </a:rPr>
              <a:t>实现 </a:t>
            </a:r>
            <a:r>
              <a:rPr lang="en-US" altLang="zh-CN" sz="1600" b="0">
                <a:solidFill>
                  <a:srgbClr val="1F2D22"/>
                </a:solidFill>
              </a:rPr>
              <a:t>DCG、IDCG </a:t>
            </a:r>
            <a:r>
              <a:rPr lang="zh-CN" altLang="en-US" sz="1600" b="0">
                <a:solidFill>
                  <a:srgbClr val="1F2D22"/>
                </a:solidFill>
              </a:rPr>
              <a:t>与 </a:t>
            </a:r>
            <a:r>
              <a:rPr lang="en-US" altLang="zh-CN" sz="1600" b="0">
                <a:solidFill>
                  <a:srgbClr val="1F2D22"/>
                </a:solidFill>
              </a:rPr>
              <a:t>NDCG@10 </a:t>
            </a:r>
            <a:r>
              <a:rPr lang="zh-CN" altLang="en-US" sz="1600" b="0">
                <a:solidFill>
                  <a:srgbClr val="1F2D22"/>
                </a:solidFill>
              </a:rPr>
              <a:t>核心信息检索指标的计算。</a:t>
            </a:r>
            <a:endParaRPr lang="zh-CN" altLang="en-US" sz="160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lang="zh-CN" altLang="en-US" sz="160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600" b="0">
                <a:solidFill>
                  <a:srgbClr val="1F2D22"/>
                </a:solidFill>
              </a:rPr>
              <a:t>重排效能</a:t>
            </a:r>
            <a:r>
              <a:rPr lang="zh-CN" altLang="en-US" sz="1600" b="0">
                <a:solidFill>
                  <a:srgbClr val="1F2D22"/>
                </a:solidFill>
              </a:rPr>
              <a:t>评测：执行端到端对比实验验证。采用 4 维文本特征重排后，在 </a:t>
            </a:r>
            <a:r>
              <a:rPr lang="en-US" altLang="zh-CN" sz="1600" b="0">
                <a:solidFill>
                  <a:srgbClr val="1F2D22"/>
                </a:solidFill>
              </a:rPr>
              <a:t>SearchService </a:t>
            </a:r>
            <a:r>
              <a:rPr lang="zh-CN" altLang="en-US" sz="1600" b="0">
                <a:solidFill>
                  <a:srgbClr val="1F2D22"/>
                </a:solidFill>
              </a:rPr>
              <a:t>层</a:t>
            </a:r>
            <a:r>
              <a:rPr lang="zh-CN" altLang="en-US" sz="1600" b="0">
                <a:solidFill>
                  <a:srgbClr val="1F2D22"/>
                </a:solidFill>
              </a:rPr>
              <a:t>机型结果拦截，截获底层 </a:t>
            </a:r>
            <a:r>
              <a:rPr lang="en-US" altLang="zh-CN" sz="1600" b="0">
                <a:solidFill>
                  <a:srgbClr val="1F2D22"/>
                </a:solidFill>
              </a:rPr>
              <a:t>BM25 </a:t>
            </a:r>
            <a:r>
              <a:rPr lang="zh-CN" altLang="en-US" sz="1600" b="0">
                <a:solidFill>
                  <a:srgbClr val="1F2D22"/>
                </a:solidFill>
              </a:rPr>
              <a:t>召回结果后，进行组内分数 </a:t>
            </a:r>
            <a:r>
              <a:rPr lang="en-US" altLang="zh-CN" sz="1600" b="0">
                <a:solidFill>
                  <a:srgbClr val="1F2D22"/>
                </a:solidFill>
              </a:rPr>
              <a:t>Min-Max </a:t>
            </a:r>
            <a:r>
              <a:rPr lang="zh-CN" altLang="en-US" sz="1600" b="0">
                <a:solidFill>
                  <a:srgbClr val="1F2D22"/>
                </a:solidFill>
              </a:rPr>
              <a:t>归一化与动态重打分，系统成功屏蔽“高命中低营养”的废话回答。</a:t>
            </a:r>
            <a:endParaRPr lang="zh-CN" altLang="en-US" sz="1600" b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6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2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5400" b="0" i="0" dirty="0">
                <a:solidFill>
                  <a:schemeClr val="bg1"/>
                </a:solidFill>
                <a:effectLst/>
                <a:latin typeface="Color Emoji"/>
              </a:rPr>
              <a:t>邢泽雷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b="0" i="0" dirty="0">
                <a:effectLst/>
                <a:latin typeface="Color Emoji"/>
              </a:rPr>
              <a:t>邢泽雷</a:t>
            </a:r>
            <a:endParaRPr sz="255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2031318" y="1601734"/>
            <a:ext cx="887397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该前端系统基于 Vue 3 和 Tailwind CSS 开发，实现了一个课程技术问答搜索平台。用户可以输入关键词进行检索，并选择 Match、AND、OR、NOT 等不同搜索模式，同时支持基于答案质量分的自定义排序功能。前端通过 Fetch API 向后端搜索接口发送请求，并将返回的搜索结果动态展示在页面上。结果页面不仅显示问题内容和最佳答案，还提供回答质量评分、搜索耗时统计以及全部回答的展开查看功能。整体界面简洁美观，交互流畅，实现了课程问答数据的高效检索与展示。</a:t>
            </a:r>
            <a:endParaRPr lang="zh-CN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 panose="020B0604020202020204"/>
                <a:ea typeface="华文中宋" panose="02010600040101010101" charset="-122"/>
              </a:rPr>
              <a:t>7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4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5400" dirty="0">
                <a:solidFill>
                  <a:prstClr val="white"/>
                </a:solidFill>
                <a:latin typeface="Color Emoji"/>
                <a:ea typeface="华文中宋" panose="02010600040101010101" charset="-122"/>
              </a:rPr>
              <a:t>汤语涵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dirty="0">
                <a:latin typeface="Color Emoji"/>
              </a:rPr>
              <a:t>汤语涵</a:t>
            </a:r>
            <a:endParaRPr sz="2550" b="1" dirty="0"/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23632" y="991284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多种搜索方法构建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896471" y="17241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支持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and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、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or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连接多个关键词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支持排除词（负搜索）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567332" y="87966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自定义排序指标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96471" y="362834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数据导入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05921" y="4665755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拍平数据，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Bulk API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写入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ES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查询数据：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写入用 </a:t>
            </a:r>
            <a:r>
              <a:rPr lang="en-US" sz="2000" dirty="0">
                <a:solidFill>
                  <a:srgbClr val="1F2D22"/>
                </a:solidFill>
                <a:latin typeface="ui-monospace"/>
              </a:rPr>
              <a:t>POST /{index}/_bulk</a:t>
            </a:r>
            <a:endParaRPr lang="en-US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查询用 </a:t>
            </a:r>
            <a:r>
              <a:rPr lang="en-US" sz="2000" dirty="0">
                <a:solidFill>
                  <a:srgbClr val="1F2D22"/>
                </a:solidFill>
                <a:latin typeface="ui-monospace"/>
              </a:rPr>
              <a:t>POST /{index}/_search</a:t>
            </a:r>
            <a:endParaRPr lang="en-US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代码里通过 </a:t>
            </a:r>
            <a:r>
              <a:rPr lang="en-US" sz="2000" dirty="0">
                <a:solidFill>
                  <a:srgbClr val="1F2D22"/>
                </a:solidFill>
                <a:latin typeface="ui-monospace"/>
              </a:rPr>
              <a:t>fetch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直接调用。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graphicFrame>
        <p:nvGraphicFramePr>
          <p:cNvPr id="3" name="表格 2"/>
          <p:cNvGraphicFramePr>
            <a:graphicFrameLocks noGrp="1"/>
          </p:cNvGraphicFramePr>
          <p:nvPr/>
        </p:nvGraphicFramePr>
        <p:xfrm>
          <a:off x="5289176" y="2190750"/>
          <a:ext cx="6902824" cy="4267200"/>
        </p:xfrm>
        <a:graphic>
          <a:graphicData uri="http://schemas.openxmlformats.org/drawingml/2006/table">
            <a:tbl>
              <a:tblPr/>
              <a:tblGrid>
                <a:gridCol w="1725706"/>
                <a:gridCol w="1725706"/>
                <a:gridCol w="1725706"/>
                <a:gridCol w="1725706"/>
              </a:tblGrid>
              <a:tr h="239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特征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>
                      <a:noFill/>
                    </a:lnL>
                    <a:lnR w="4763" cap="flat" cmpd="sng" algn="ctr">
                      <a:solidFill>
                        <a:srgbClr val="601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4763" cap="flat" cmpd="sng" algn="ctr">
                      <a:solidFill>
                        <a:srgbClr val="601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权重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1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E03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4763" cap="flat" cmpd="sng" algn="ctr">
                      <a:solidFill>
                        <a:srgbClr val="E03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计算方式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E03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203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4763" cap="flat" cmpd="sng" algn="ctr">
                      <a:solidFill>
                        <a:srgbClr val="203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为什么有效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203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4763" cap="flat" cmpd="sng" algn="ctr">
                      <a:solidFill>
                        <a:srgbClr val="A03E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0827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>
                          <a:effectLst/>
                        </a:rPr>
                        <a:t>F1 回答长度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>
                      <a:noFill/>
                    </a:lnL>
                    <a:lnR w="4763" cap="flat" cmpd="sng" algn="ctr">
                      <a:solidFill>
                        <a:srgbClr val="604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601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604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50%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4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6050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E03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6050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0" u="none" strike="noStrike">
                          <a:effectLst/>
                          <a:hlinkClick r:id="rId1"/>
                        </a:rPr>
                        <a:t>min(字符数 / 150, 1)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50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A04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203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A04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高质量回答需要展开论述，必然更长；低质量回答往往一句话敷衍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A04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4763" cap="flat" cmpd="sng" algn="ctr">
                      <a:solidFill>
                        <a:srgbClr val="A03E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604E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0827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>
                          <a:effectLst/>
                        </a:rPr>
                        <a:t>F2 ES 文本相关性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>
                      <a:noFill/>
                    </a:lnL>
                    <a:lnR w="4763" cap="flat" cmpd="sng" algn="ctr">
                      <a:solidFill>
                        <a:srgbClr val="605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604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605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25%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5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A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6050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A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组内 min-max 归一化 BM25 分数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A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E063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A04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E063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BM25 越高说明答案与问题的词汇重合度越好，即"答非所问"的答案得分低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E063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4763" cap="flat" cmpd="sng" algn="ctr">
                      <a:solidFill>
                        <a:srgbClr val="604E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2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872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dirty="0">
                          <a:effectLst/>
                        </a:rPr>
                        <a:t>F3 词汇丰富度</a:t>
                      </a:r>
                      <a:endParaRPr lang="zh-CN" dirty="0">
                        <a:effectLst/>
                      </a:endParaRPr>
                    </a:p>
                  </a:txBody>
                  <a:tcPr marL="28575" marR="28575" marT="19050" marB="19050" anchor="ctr">
                    <a:lnL>
                      <a:noFill/>
                    </a:lnL>
                    <a:lnR w="4763" cap="flat" cmpd="sng" algn="ctr">
                      <a:solidFill>
                        <a:srgbClr val="6064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605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>
                          <a:effectLst/>
                        </a:rPr>
                        <a:t>25%</a:t>
                      </a:r>
                      <a:endParaRPr lang="zh-CN" dirty="0">
                        <a:effectLst/>
                      </a:endParaRP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64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606A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A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去标点后不重复字符数 / 80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6A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A07C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E063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>
                          <a:effectLst/>
                        </a:rPr>
                        <a:t>高质量回答使用更多专业术语和不同概念，去重字符种类更多</a:t>
                      </a:r>
                      <a:endParaRPr lang="zh-CN" dirty="0">
                        <a:effectLst/>
                      </a:endParaRP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A07C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4763" cap="flat" cmpd="sng" algn="ctr">
                      <a:solidFill>
                        <a:srgbClr val="2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文本框 14"/>
          <p:cNvSpPr txBox="1"/>
          <p:nvPr/>
        </p:nvSpPr>
        <p:spPr>
          <a:xfrm>
            <a:off x="4740088" y="1400984"/>
            <a:ext cx="72625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zh-CN" altLang="zh-CN" b="0" i="0" dirty="0">
                <a:effectLst/>
                <a:latin typeface="Segoe WPC"/>
              </a:rPr>
              <a:t>对同一问题下的每个回答，从文本本身提取 3 个特征，加权打分映射到 0–9：</a:t>
            </a:r>
            <a:r>
              <a:rPr lang="en-US" altLang="zh-CN" dirty="0" err="1">
                <a:latin typeface="Segoe WPC"/>
              </a:rPr>
              <a:t>custom_score</a:t>
            </a:r>
            <a:r>
              <a:rPr lang="en-US" altLang="zh-CN" dirty="0">
                <a:latin typeface="Segoe WPC"/>
              </a:rPr>
              <a:t> = (0.50 × F1 + 0.25 × F2 + 0.25 × F3) × 9</a:t>
            </a:r>
            <a:endParaRPr lang="zh-CN" altLang="zh-CN" b="0" i="0" dirty="0">
              <a:effectLst/>
              <a:latin typeface="Segoe WPC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Myrag</a:t>
            </a:r>
            <a:r>
              <a:rPr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总结</a:t>
            </a:r>
            <a:endParaRPr sz="4400" dirty="0">
              <a:solidFill>
                <a:schemeClr val="bg1"/>
              </a:solidFill>
              <a:latin typeface="字魂17号-萌趣果冻体"/>
              <a:ea typeface="字魂17号-萌趣果冻体"/>
              <a:cs typeface="字魂17号-萌趣果冻体"/>
            </a:endParaRP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5376550" y="2961197"/>
            <a:ext cx="32381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6000" dirty="0" err="1">
                <a:solidFill>
                  <a:schemeClr val="bg1"/>
                </a:solidFill>
              </a:rPr>
              <a:t>谢谢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3" name="等腰三角形 12"/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7" name="等腰三角形 16"/>
          <p:cNvSpPr>
            <a:spLocks noGrp="1"/>
          </p:cNvSpPr>
          <p:nvPr/>
        </p:nvSpPr>
        <p:spPr>
          <a:xfrm rot="16200000" flipH="1">
            <a:off x="10897740" y="332731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85.4,&quot;left&quot;:67.5,&quot;top&quot;:127.5,&quot;width&quot;:717}"/>
</p:tagLst>
</file>

<file path=ppt/tags/tag2.xml><?xml version="1.0" encoding="utf-8"?>
<p:tagLst xmlns:p="http://schemas.openxmlformats.org/presentationml/2006/main">
  <p:tag name="KSO_WM_DIAGRAM_VIRTUALLY_FRAME" val="{&quot;height&quot;:285.4,&quot;left&quot;:67.5,&quot;top&quot;:127.5,&quot;width&quot;:717}"/>
</p:tagLst>
</file>

<file path=ppt/tags/tag3.xml><?xml version="1.0" encoding="utf-8"?>
<p:tagLst xmlns:p="http://schemas.openxmlformats.org/presentationml/2006/main">
  <p:tag name="KSO_WM_DIAGRAM_VIRTUALLY_FRAME" val="{&quot;height&quot;:373.2,&quot;left&quot;:67.5,&quot;top&quot;:78.35,&quot;width&quot;:825}"/>
</p:tagLst>
</file>

<file path=ppt/tags/tag4.xml><?xml version="1.0" encoding="utf-8"?>
<p:tagLst xmlns:p="http://schemas.openxmlformats.org/presentationml/2006/main">
  <p:tag name="KSO_WM_DIAGRAM_VIRTUALLY_FRAME" val="{&quot;height&quot;:373.2,&quot;left&quot;:67.5,&quot;top&quot;:78.35,&quot;width&quot;:825}"/>
</p:tagLst>
</file>

<file path=ppt/tags/tag5.xml><?xml version="1.0" encoding="utf-8"?>
<p:tagLst xmlns:p="http://schemas.openxmlformats.org/presentationml/2006/main">
  <p:tag name="KSO_WM_DIAGRAM_VIRTUALLY_FRAME" val="{&quot;height&quot;:373.2,&quot;left&quot;:67.5,&quot;top&quot;:78.35,&quot;width&quot;:825}"/>
</p:tagLst>
</file>

<file path=ppt/tags/tag6.xml><?xml version="1.0" encoding="utf-8"?>
<p:tagLst xmlns:p="http://schemas.openxmlformats.org/presentationml/2006/main">
  <p:tag name="KSO_WM_DIAGRAM_VIRTUALLY_FRAME" val="{&quot;height&quot;:373.2,&quot;left&quot;:67.5,&quot;top&quot;:78.35,&quot;width&quot;:825}"/>
</p:tagLst>
</file>

<file path=ppt/tags/tag7.xml><?xml version="1.0" encoding="utf-8"?>
<p:tagLst xmlns:p="http://schemas.openxmlformats.org/presentationml/2006/main">
  <p:tag name="KSO_WM_DIAGRAM_VIRTUALLY_FRAME" val="{&quot;height&quot;:373.2,&quot;left&quot;:67.5,&quot;top&quot;:78.35,&quot;width&quot;:825}"/>
</p:tagLst>
</file>

<file path=ppt/tags/tag8.xml><?xml version="1.0" encoding="utf-8"?>
<p:tagLst xmlns:p="http://schemas.openxmlformats.org/presentationml/2006/main">
  <p:tag name="KSO_WM_DIAGRAM_VIRTUALLY_FRAME" val="{&quot;height&quot;:373.2,&quot;left&quot;:67.5,&quot;top&quot;:78.35,&quot;width&quot;:825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2075</Words>
  <Application>WPS 演示</Application>
  <PresentationFormat>Widescreen</PresentationFormat>
  <Paragraphs>182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1" baseType="lpstr">
      <vt:lpstr>Arial</vt:lpstr>
      <vt:lpstr>宋体</vt:lpstr>
      <vt:lpstr>Wingdings</vt:lpstr>
      <vt:lpstr>字魂17号-萌趣果冻体</vt:lpstr>
      <vt:lpstr>Segoe Print</vt:lpstr>
      <vt:lpstr>Arial</vt:lpstr>
      <vt:lpstr>华文中宋</vt:lpstr>
      <vt:lpstr>ui-monospace</vt:lpstr>
      <vt:lpstr>Color Emoji</vt:lpstr>
      <vt:lpstr>Segoe WPC</vt:lpstr>
      <vt:lpstr>微软雅黑</vt:lpstr>
      <vt:lpstr>Arial Unicode MS</vt:lpstr>
      <vt:lpstr>MS PGothic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繁雨流星</cp:lastModifiedBy>
  <cp:revision>16</cp:revision>
  <dcterms:created xsi:type="dcterms:W3CDTF">2026-06-08T16:49:00Z</dcterms:created>
  <dcterms:modified xsi:type="dcterms:W3CDTF">2026-06-17T10:43:19Z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C5A3FBEA43E247E994AD78E3FFB53185_12</vt:lpwstr>
  </property>
  <property fmtid="{D5CDD505-2E9C-101B-9397-08002B2CF9AE}" pid="3" name="KSOProductBuildVer">
    <vt:lpwstr>2052-12.1.0.26895</vt:lpwstr>
  </property>
</Properties>
</file>