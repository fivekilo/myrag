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sldIdLst>
    <p:sldId id="256" r:id="rId2"/>
    <p:sldId id="273" r:id="rId3"/>
    <p:sldId id="258" r:id="rId4"/>
    <p:sldId id="260" r:id="rId5"/>
    <p:sldId id="262" r:id="rId6"/>
    <p:sldId id="263" r:id="rId7"/>
    <p:sldId id="274" r:id="rId8"/>
    <p:sldId id="276" r:id="rId9"/>
    <p:sldId id="270" r:id="rId10"/>
    <p:sldId id="259" r:id="rId11"/>
    <p:sldId id="271" r:id="rId12"/>
    <p:sldId id="264" r:id="rId13"/>
    <p:sldId id="272" r:id="rId14"/>
    <p:sldId id="261" r:id="rId15"/>
    <p:sldId id="277" r:id="rId16"/>
    <p:sldId id="278" r:id="rId17"/>
    <p:sldId id="268" r:id="rId18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04" d="100"/>
          <a:sy n="104" d="100"/>
        </p:scale>
        <p:origin x="96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7FE98F-99FE-6221-8B45-DB141A8C7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FE8849-4DAA-F9AF-FEAD-933DEC3A3A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D6E39A-5DA3-1957-2F38-C939CC70DD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DEB725-EA38-3C98-6C9C-744406FFBDDF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3481858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84345-985B-12BC-D6D8-D3D43234F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61CF1B-1357-7310-F075-11C3BB73E8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56C420-5562-C84E-2588-F4B99A3977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05C454-A65E-F302-19ED-1F704262633F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932030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buNone/>
              <a:defRPr sz="60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单击以编辑母版副标题样式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 lang="zh-CN" altLang="en-US"/>
              <a:t>2026/6/16</a:t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 lang="zh-CN" altLang="en-US"/>
              <a:t>2026/6/16</a:t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buNone/>
              <a:defRPr sz="60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buNone/>
            </a:pPr>
            <a:r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 lang="zh-CN" altLang="en-US"/>
              <a:t>2026/6/16</a:t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idx="2" hasCustomPrompt="1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 lang="zh-CN" altLang="en-US"/>
              <a:t>2026/6/16</a:t>
            </a:fld>
            <a:endParaRPr/>
          </a:p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idx="2" hasCustomPrompt="1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idx="3" hasCustomPrompt="1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4" hasCustomPrompt="1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 lang="zh-CN" altLang="en-US"/>
              <a:t>2026/6/16</a:t>
            </a:fld>
            <a:endParaRPr/>
          </a:p>
        </p:txBody>
      </p:sp>
      <p:sp>
        <p:nvSpPr>
          <p:cNvPr id="8" name="页脚占位符 7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灯片编号占位符 8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 lang="zh-CN" altLang="en-US"/>
              <a:t>2026/6/16</a:t>
            </a:fld>
            <a:endParaRPr/>
          </a:p>
        </p:txBody>
      </p:sp>
      <p:sp>
        <p:nvSpPr>
          <p:cNvPr id="4" name="页脚占位符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 lang="zh-CN" altLang="en-US"/>
              <a:t>2026/6/16</a:t>
            </a:fld>
            <a:endParaRPr/>
          </a:p>
        </p:txBody>
      </p:sp>
      <p:sp>
        <p:nvSpPr>
          <p:cNvPr id="3" name="页脚占位符 2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灯片编号占位符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>
              <a:buNone/>
            </a:pPr>
            <a:r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 lang="zh-CN" altLang="en-US"/>
              <a:t>2026/6/16</a:t>
            </a:fld>
            <a:endParaRPr/>
          </a:p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文本占位符 3"/>
          <p:cNvSpPr>
            <a:spLocks noGrp="1"/>
          </p:cNvSpPr>
          <p:nvPr>
            <p:ph type="body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>
              <a:buNone/>
            </a:pPr>
            <a:r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 lang="zh-CN" altLang="en-US"/>
              <a:t>2026/6/16</a:t>
            </a:fld>
            <a:endParaRPr/>
          </a:p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idx="1" hasCustomPrompt="1"/>
          </p:nvPr>
        </p:nvSpPr>
        <p:spPr/>
        <p:txBody>
          <a:bodyPr vert="eaVert"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 lang="zh-CN" altLang="en-US"/>
              <a:t>2026/6/16</a:t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idx="1" hasCustomPrompt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 lang="zh-CN" altLang="en-US"/>
              <a:t>2026/6/16</a:t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53A8F1-9EDF-49EF-A14D-E495AD864F8A}" type="datetimeFigureOut">
              <a:rPr lang="zh-CN" altLang="en-US"/>
              <a:t>2026/6/16</a:t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灯片编号占位符 5"/>
          <p:cNvSpPr>
            <a:spLocks noGrp="1"/>
          </p:cNvSpPr>
          <p:nvPr>
            <p:ph type="sldNum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A13857-8FE2-426A-A37B-64DF65062EF2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vscode-file://vscode-app/c:/app/vscode/Microsoft%20VS%20Code/8761a5560c/resources/app/out/vs/code/electron-browser/workbench/workbench.html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>
            <a:spLocks noGrp="1"/>
          </p:cNvSpPr>
          <p:nvPr/>
        </p:nvSpPr>
        <p:spPr>
          <a:xfrm>
            <a:off x="0" y="1322656"/>
            <a:ext cx="12192000" cy="4212688"/>
          </a:xfrm>
          <a:prstGeom prst="rect">
            <a:avLst/>
          </a:prstGeom>
          <a:solidFill>
            <a:srgbClr val="253A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文本框 5"/>
          <p:cNvSpPr>
            <a:spLocks noGrp="1"/>
          </p:cNvSpPr>
          <p:nvPr/>
        </p:nvSpPr>
        <p:spPr>
          <a:xfrm>
            <a:off x="3744435" y="1739250"/>
            <a:ext cx="59045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zh-CN" altLang="en-US" sz="4400" dirty="0">
                <a:solidFill>
                  <a:schemeClr val="bg1"/>
                </a:solidFill>
                <a:latin typeface="字魂17号-萌趣果冻体"/>
                <a:ea typeface="字魂17号-萌趣果冻体"/>
                <a:cs typeface="字魂17号-萌趣果冻体"/>
              </a:rPr>
              <a:t>搜索引擎总结</a:t>
            </a:r>
          </a:p>
        </p:txBody>
      </p:sp>
      <p:sp>
        <p:nvSpPr>
          <p:cNvPr id="7" name="文本框 6"/>
          <p:cNvSpPr>
            <a:spLocks noGrp="1"/>
          </p:cNvSpPr>
          <p:nvPr/>
        </p:nvSpPr>
        <p:spPr>
          <a:xfrm>
            <a:off x="2845308" y="2607167"/>
            <a:ext cx="6683077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zh-CN" altLang="en-US" sz="6000" dirty="0">
                <a:solidFill>
                  <a:schemeClr val="bg1"/>
                </a:solidFill>
              </a:rPr>
              <a:t>搜索引擎成员贡献总结</a:t>
            </a:r>
            <a:endParaRPr sz="6000" dirty="0">
              <a:solidFill>
                <a:schemeClr val="bg1"/>
              </a:solidFill>
            </a:endParaRPr>
          </a:p>
        </p:txBody>
      </p:sp>
      <p:sp>
        <p:nvSpPr>
          <p:cNvPr id="10" name="椭圆 9"/>
          <p:cNvSpPr>
            <a:spLocks noGrp="1"/>
          </p:cNvSpPr>
          <p:nvPr/>
        </p:nvSpPr>
        <p:spPr>
          <a:xfrm>
            <a:off x="249709" y="3223401"/>
            <a:ext cx="449489" cy="44948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等腰三角形 12"/>
          <p:cNvSpPr>
            <a:spLocks noGrp="1"/>
          </p:cNvSpPr>
          <p:nvPr/>
        </p:nvSpPr>
        <p:spPr>
          <a:xfrm rot="16200000">
            <a:off x="345362" y="3365602"/>
            <a:ext cx="191501" cy="165087"/>
          </a:xfrm>
          <a:prstGeom prst="triangle">
            <a:avLst/>
          </a:prstGeom>
          <a:solidFill>
            <a:srgbClr val="2B1D5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椭圆 15"/>
          <p:cNvSpPr>
            <a:spLocks noGrp="1"/>
          </p:cNvSpPr>
          <p:nvPr/>
        </p:nvSpPr>
        <p:spPr>
          <a:xfrm flipH="1">
            <a:off x="10993393" y="3185111"/>
            <a:ext cx="449489" cy="44948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7" name="等腰三角形 16"/>
          <p:cNvSpPr>
            <a:spLocks noGrp="1"/>
          </p:cNvSpPr>
          <p:nvPr/>
        </p:nvSpPr>
        <p:spPr>
          <a:xfrm rot="16200000" flipH="1">
            <a:off x="11039843" y="3342387"/>
            <a:ext cx="191501" cy="165087"/>
          </a:xfrm>
          <a:prstGeom prst="triangle">
            <a:avLst/>
          </a:prstGeom>
          <a:solidFill>
            <a:srgbClr val="2B1D5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9" name="椭圆 18"/>
          <p:cNvSpPr>
            <a:spLocks noGrp="1"/>
          </p:cNvSpPr>
          <p:nvPr/>
        </p:nvSpPr>
        <p:spPr>
          <a:xfrm>
            <a:off x="4018164" y="1584250"/>
            <a:ext cx="1066959" cy="1015303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20" name="图片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5964" y="1418612"/>
            <a:ext cx="1364080" cy="1346778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2845308" y="4772967"/>
            <a:ext cx="70020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chemeClr val="bg1"/>
                </a:solidFill>
              </a:rPr>
              <a:t>小组成员：李嘉轩 刘义群 王秀崧 汤语涵 谢羿衡 唐熙雷 邢泽雷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>
            <a:spLocks noGrp="1"/>
          </p:cNvSpPr>
          <p:nvPr/>
        </p:nvSpPr>
        <p:spPr>
          <a:xfrm>
            <a:off x="2614979" y="2321005"/>
            <a:ext cx="26040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3800" b="0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 panose="020B0604020202020204"/>
                <a:ea typeface="华文中宋" panose="02010600040101010101" charset="-122"/>
                <a:cs typeface="+mn-cs"/>
              </a:rPr>
              <a:t>01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5571876" y="2630302"/>
            <a:ext cx="3576620" cy="110799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6600" b="1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 panose="020B0604020202020204"/>
                <a:ea typeface="华文中宋" panose="02010600040101010101" charset="-122"/>
                <a:cs typeface="+mn-cs"/>
              </a:rPr>
              <a:t>组内评分</a:t>
            </a:r>
            <a:endParaRPr kumimoji="0" sz="6600" b="1" i="0" u="none" strike="noStrike" kern="1200" cap="none" spc="0" normalizeH="0" baseline="0" noProof="0" dirty="0">
              <a:ln>
                <a:noFill/>
              </a:ln>
              <a:solidFill>
                <a:srgbClr val="F5F4F9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>
            <a:spLocks noGrp="1"/>
          </p:cNvSpPr>
          <p:nvPr/>
        </p:nvSpPr>
        <p:spPr>
          <a:xfrm>
            <a:off x="2614979" y="2321005"/>
            <a:ext cx="26040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3800" dirty="0">
                <a:solidFill>
                  <a:srgbClr val="F5F4F9"/>
                </a:solidFill>
              </a:rPr>
              <a:t>0</a:t>
            </a:r>
            <a:r>
              <a:rPr lang="en-US" sz="13800" dirty="0">
                <a:solidFill>
                  <a:srgbClr val="F5F4F9"/>
                </a:solidFill>
              </a:rPr>
              <a:t>2</a:t>
            </a:r>
            <a:endParaRPr sz="13800" dirty="0">
              <a:solidFill>
                <a:srgbClr val="F5F4F9"/>
              </a:solidFill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5995868" y="2630302"/>
            <a:ext cx="2728632" cy="110799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buNone/>
            </a:pPr>
            <a:r>
              <a:rPr lang="zh-CN" altLang="en-US" sz="6600" b="1" dirty="0">
                <a:solidFill>
                  <a:srgbClr val="F5F4F9"/>
                </a:solidFill>
              </a:rPr>
              <a:t>王秀崧</a:t>
            </a:r>
            <a:endParaRPr sz="6600" b="1" dirty="0">
              <a:solidFill>
                <a:srgbClr val="F5F4F9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550" b="1" dirty="0">
                <a:solidFill>
                  <a:srgbClr val="2D4A33"/>
                </a:solidFill>
              </a:rPr>
              <a:t>王秀崧</a:t>
            </a:r>
            <a:endParaRPr sz="2550" b="1" dirty="0">
              <a:solidFill>
                <a:srgbClr val="2D4A3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3750561" y="1429282"/>
            <a:ext cx="4762500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3979161" y="1600732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lang="zh-CN" altLang="en-US" sz="1650" b="1" dirty="0">
                <a:solidFill>
                  <a:srgbClr val="2D4A33"/>
                </a:solidFill>
              </a:rPr>
              <a:t>调试</a:t>
            </a:r>
            <a:endParaRPr sz="1650" b="1" dirty="0">
              <a:solidFill>
                <a:srgbClr val="2D4A33"/>
              </a:solidFill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3979161" y="2038882"/>
            <a:ext cx="4305300" cy="857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 dirty="0">
                <a:solidFill>
                  <a:srgbClr val="1F2D22"/>
                </a:solidFill>
              </a:rPr>
              <a:t>负责进行改动后的功能测试</a:t>
            </a:r>
            <a:br>
              <a:rPr lang="en-US" altLang="zh-CN" sz="1350" dirty="0">
                <a:solidFill>
                  <a:srgbClr val="1F2D22"/>
                </a:solidFill>
              </a:rPr>
            </a:br>
            <a:r>
              <a:rPr lang="zh-CN" altLang="en-US" sz="1350" dirty="0">
                <a:solidFill>
                  <a:srgbClr val="1F2D22"/>
                </a:solidFill>
              </a:rPr>
              <a:t>测试搜索页面和功能能否可以正常运行</a:t>
            </a:r>
            <a:endParaRPr lang="en-US" altLang="zh-CN" sz="1350" dirty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 dirty="0">
                <a:solidFill>
                  <a:srgbClr val="1F2D22"/>
                </a:solidFill>
              </a:rPr>
              <a:t>测试结果排序是否合理</a:t>
            </a:r>
            <a:endParaRPr sz="1350" b="0" dirty="0">
              <a:solidFill>
                <a:srgbClr val="1F2D22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/>
          <p:cNvSpPr>
            <a:spLocks noGrp="1"/>
          </p:cNvSpPr>
          <p:nvPr/>
        </p:nvSpPr>
        <p:spPr>
          <a:xfrm>
            <a:off x="2061894" y="2321005"/>
            <a:ext cx="26040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3800" dirty="0">
                <a:solidFill>
                  <a:srgbClr val="F5F4F9"/>
                </a:solidFill>
              </a:rPr>
              <a:t>0</a:t>
            </a:r>
            <a:r>
              <a:rPr lang="en-US" sz="13800" dirty="0">
                <a:solidFill>
                  <a:srgbClr val="F5F4F9"/>
                </a:solidFill>
              </a:rPr>
              <a:t>3</a:t>
            </a:r>
            <a:endParaRPr sz="13800" dirty="0">
              <a:solidFill>
                <a:srgbClr val="F5F4F9"/>
              </a:solidFill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4623120" y="2685166"/>
            <a:ext cx="5679440" cy="175323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buNone/>
            </a:pPr>
            <a:r>
              <a:rPr lang="zh-CN" altLang="en-US" sz="5400" b="1" dirty="0">
                <a:solidFill>
                  <a:schemeClr val="bg1"/>
                </a:solidFill>
              </a:rPr>
              <a:t>刘义群</a:t>
            </a:r>
          </a:p>
          <a:p>
            <a:pPr algn="ctr">
              <a:buNone/>
            </a:pPr>
            <a:r>
              <a:rPr lang="zh-CN" sz="5400" b="1" dirty="0">
                <a:solidFill>
                  <a:schemeClr val="bg1"/>
                </a:solidFill>
              </a:rPr>
              <a:t>负责垂直搜索引擎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550" b="1" dirty="0">
                <a:solidFill>
                  <a:srgbClr val="2D4A33"/>
                </a:solidFill>
              </a:rPr>
              <a:t>刘义群</a:t>
            </a:r>
            <a:r>
              <a:rPr lang="en-US" altLang="zh-CN" sz="2550" b="1" dirty="0">
                <a:solidFill>
                  <a:srgbClr val="2D4A33"/>
                </a:solidFill>
              </a:rPr>
              <a:t> </a:t>
            </a:r>
            <a:r>
              <a:rPr lang="zh-CN" altLang="en-US" sz="2550" b="1" dirty="0">
                <a:solidFill>
                  <a:srgbClr val="2D4A33"/>
                </a:solidFill>
              </a:rPr>
              <a:t>首页显示部分（新增前端功能）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857250" y="1619250"/>
            <a:ext cx="4762500" cy="18097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157605" y="1666875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页面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157605" y="2228850"/>
            <a:ext cx="4305300" cy="857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en-US" altLang="zh-CN" sz="1350" b="0">
                <a:solidFill>
                  <a:srgbClr val="1F2D22"/>
                </a:solidFill>
              </a:rPr>
              <a:t>jdsearch </a:t>
            </a:r>
            <a:r>
              <a:rPr lang="zh-CN" altLang="en-US" sz="1350" b="0">
                <a:solidFill>
                  <a:srgbClr val="1F2D22"/>
                </a:solidFill>
              </a:rPr>
              <a:t>搜索页面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搜索框下方：空关键词时显示提示文字</a:t>
            </a:r>
            <a:r>
              <a:rPr lang="en-US" altLang="zh-CN" sz="1350" b="0">
                <a:solidFill>
                  <a:srgbClr val="1F2D22"/>
                </a:solidFill>
              </a:rPr>
              <a:t>"</a:t>
            </a:r>
            <a:r>
              <a:rPr lang="zh-CN" altLang="en-US" sz="1350" b="0">
                <a:solidFill>
                  <a:srgbClr val="1F2D22"/>
                </a:solidFill>
              </a:rPr>
              <a:t>首页随机展示部分图书，输入关键词后可进行精确搜索</a:t>
            </a:r>
            <a:r>
              <a:rPr lang="en-US" altLang="zh-CN" sz="1350" b="0">
                <a:solidFill>
                  <a:srgbClr val="1F2D22"/>
                </a:solidFill>
              </a:rPr>
              <a:t>"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结果区域：页面挂载即自动渲染图书列表，无需点击搜索</a:t>
            </a: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572250" y="1619250"/>
            <a:ext cx="4762500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6800850" y="1728470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流程</a:t>
            </a: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758940" y="2052320"/>
            <a:ext cx="4671060" cy="107696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页面加载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Vue mounted() </a:t>
            </a:r>
            <a:r>
              <a:rPr lang="zh-CN" altLang="en-US" sz="1350" b="0">
                <a:solidFill>
                  <a:srgbClr val="1F2D22"/>
                </a:solidFill>
              </a:rPr>
              <a:t>自动调用</a:t>
            </a:r>
            <a:r>
              <a:rPr lang="en-US" altLang="zh-CN" sz="1350" b="0">
                <a:solidFill>
                  <a:srgbClr val="1F2D22"/>
                </a:solidFill>
              </a:rPr>
              <a:t> searchPage()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en-US" altLang="zh-CN" sz="1350" b="0">
                <a:solidFill>
                  <a:srgbClr val="1F2D22"/>
                </a:solidFill>
              </a:rPr>
              <a:t>searchPage() </a:t>
            </a: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zh-CN" altLang="en-US" sz="1350" b="0">
                <a:solidFill>
                  <a:srgbClr val="1F2D22"/>
                </a:solidFill>
              </a:rPr>
              <a:t>发送</a:t>
            </a:r>
            <a:r>
              <a:rPr lang="en-US" altLang="zh-CN" sz="1350" b="0">
                <a:solidFill>
                  <a:srgbClr val="1F2D22"/>
                </a:solidFill>
              </a:rPr>
              <a:t> POST </a:t>
            </a:r>
            <a:r>
              <a:rPr lang="zh-CN" altLang="en-US" sz="1350" b="0">
                <a:solidFill>
                  <a:srgbClr val="1F2D22"/>
                </a:solidFill>
              </a:rPr>
              <a:t>请求至</a:t>
            </a:r>
            <a:r>
              <a:rPr lang="en-US" altLang="zh-CN" sz="1350" b="0">
                <a:solidFill>
                  <a:srgbClr val="1F2D22"/>
                </a:solidFill>
              </a:rPr>
              <a:t> /query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后端判断</a:t>
            </a:r>
            <a:r>
              <a:rPr lang="en-US" altLang="zh-CN" sz="1350" b="0">
                <a:solidFill>
                  <a:srgbClr val="1F2D22"/>
                </a:solidFill>
              </a:rPr>
              <a:t> keyword </a:t>
            </a:r>
            <a:r>
              <a:rPr lang="zh-CN" altLang="en-US" sz="1350" b="0">
                <a:solidFill>
                  <a:srgbClr val="1F2D22"/>
                </a:solidFill>
              </a:rPr>
              <a:t>是否为空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zh-CN" altLang="en-US" sz="1350" b="0">
                <a:solidFill>
                  <a:srgbClr val="1F2D22"/>
                </a:solidFill>
              </a:rPr>
              <a:t>为空则执行</a:t>
            </a:r>
            <a:r>
              <a:rPr lang="en-US" altLang="zh-CN" sz="1350" b="0">
                <a:solidFill>
                  <a:srgbClr val="1F2D22"/>
                </a:solidFill>
              </a:rPr>
              <a:t> matchAllQuery + randomFunction </a:t>
            </a:r>
            <a:r>
              <a:rPr lang="zh-CN" altLang="en-US" sz="1350" b="0">
                <a:solidFill>
                  <a:srgbClr val="1F2D22"/>
                </a:solidFill>
              </a:rPr>
              <a:t>随机排序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zh-CN" altLang="en-US" sz="1350" b="0">
                <a:solidFill>
                  <a:srgbClr val="1F2D22"/>
                </a:solidFill>
              </a:rPr>
              <a:t>返回结果，前端渲染图书列表</a:t>
            </a: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2000250" y="3714750"/>
            <a:ext cx="8191500" cy="199517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2228850" y="3886200"/>
            <a:ext cx="7734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结果</a:t>
            </a: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2228850" y="4324350"/>
            <a:ext cx="7734300" cy="91948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首页打开即展示随机图书，无需手动搜索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空关键词时随机展示</a:t>
            </a:r>
            <a:r>
              <a:rPr lang="en-US" altLang="zh-CN" sz="1350" b="0">
                <a:solidFill>
                  <a:srgbClr val="1F2D22"/>
                </a:solidFill>
              </a:rPr>
              <a:t> jddata </a:t>
            </a:r>
            <a:r>
              <a:rPr lang="zh-CN" altLang="en-US" sz="1350" b="0">
                <a:solidFill>
                  <a:srgbClr val="1F2D22"/>
                </a:solidFill>
              </a:rPr>
              <a:t>索引中的书籍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有关键词时仍按标题匹配精确搜索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550" b="1" dirty="0">
                <a:solidFill>
                  <a:srgbClr val="2D4A33"/>
                </a:solidFill>
              </a:rPr>
              <a:t>刘义群</a:t>
            </a:r>
            <a:r>
              <a:rPr lang="en-US" altLang="zh-CN" sz="2550" b="1" dirty="0">
                <a:solidFill>
                  <a:srgbClr val="2D4A33"/>
                </a:solidFill>
              </a:rPr>
              <a:t> </a:t>
            </a:r>
            <a:r>
              <a:rPr lang="zh-CN" altLang="en-US" sz="2550" b="1" dirty="0">
                <a:solidFill>
                  <a:srgbClr val="2D4A33"/>
                </a:solidFill>
              </a:rPr>
              <a:t>价格排序部分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857250" y="1619250"/>
            <a:ext cx="4762500" cy="18097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157605" y="1666875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页面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157605" y="2228850"/>
            <a:ext cx="4305300" cy="857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en-US" altLang="zh-CN" sz="1350" b="0">
                <a:solidFill>
                  <a:srgbClr val="1F2D22"/>
                </a:solidFill>
              </a:rPr>
              <a:t>jdsearch </a:t>
            </a:r>
            <a:r>
              <a:rPr lang="zh-CN" altLang="en-US" sz="1350" b="0">
                <a:solidFill>
                  <a:srgbClr val="1F2D22"/>
                </a:solidFill>
              </a:rPr>
              <a:t>搜索页面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en-US" altLang="zh-CN" sz="1350" b="0">
                <a:solidFill>
                  <a:srgbClr val="1F2D22"/>
                </a:solidFill>
              </a:rPr>
              <a:t>"</a:t>
            </a:r>
            <a:r>
              <a:rPr lang="zh-CN" altLang="en-US" sz="1350" b="0">
                <a:solidFill>
                  <a:srgbClr val="1F2D22"/>
                </a:solidFill>
              </a:rPr>
              <a:t>价格</a:t>
            </a:r>
            <a:r>
              <a:rPr lang="en-US" altLang="zh-CN" sz="1350" b="0">
                <a:solidFill>
                  <a:srgbClr val="1F2D22"/>
                </a:solidFill>
              </a:rPr>
              <a:t>"</a:t>
            </a:r>
            <a:r>
              <a:rPr lang="zh-CN" altLang="en-US" sz="1350" b="0">
                <a:solidFill>
                  <a:srgbClr val="1F2D22"/>
                </a:solidFill>
              </a:rPr>
              <a:t>文字变为可点击排序控件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点击后显示排序方向箭头（</a:t>
            </a:r>
            <a:r>
              <a:rPr lang="en-US" altLang="en-US" sz="1350" b="0">
                <a:solidFill>
                  <a:srgbClr val="1F2D22"/>
                </a:solidFill>
              </a:rPr>
              <a:t>↑</a:t>
            </a:r>
            <a:r>
              <a:rPr lang="zh-CN" altLang="en-US" sz="1350" b="0">
                <a:solidFill>
                  <a:srgbClr val="1F2D22"/>
                </a:solidFill>
              </a:rPr>
              <a:t>升序</a:t>
            </a:r>
            <a:r>
              <a:rPr lang="en-US" altLang="zh-CN" sz="1350" b="0">
                <a:solidFill>
                  <a:srgbClr val="1F2D22"/>
                </a:solidFill>
              </a:rPr>
              <a:t> / </a:t>
            </a:r>
            <a:r>
              <a:rPr lang="en-US" altLang="en-US" sz="1350" b="0">
                <a:solidFill>
                  <a:srgbClr val="1F2D22"/>
                </a:solidFill>
              </a:rPr>
              <a:t>↓</a:t>
            </a:r>
            <a:r>
              <a:rPr lang="zh-CN" altLang="en-US" sz="1350" b="0">
                <a:solidFill>
                  <a:srgbClr val="1F2D22"/>
                </a:solidFill>
              </a:rPr>
              <a:t>降序）</a:t>
            </a: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285865" y="1379855"/>
            <a:ext cx="5144135" cy="2091055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6534785" y="1475740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流程</a:t>
            </a: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595110" y="1990725"/>
            <a:ext cx="4671060" cy="107696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点击</a:t>
            </a:r>
            <a:r>
              <a:rPr lang="en-US" altLang="zh-CN" sz="1350" b="0">
                <a:solidFill>
                  <a:srgbClr val="1F2D22"/>
                </a:solidFill>
              </a:rPr>
              <a:t>"</a:t>
            </a:r>
            <a:r>
              <a:rPr lang="zh-CN" altLang="en-US" sz="1350" b="0">
                <a:solidFill>
                  <a:srgbClr val="1F2D22"/>
                </a:solidFill>
              </a:rPr>
              <a:t>价格</a:t>
            </a:r>
            <a:r>
              <a:rPr lang="en-US" altLang="zh-CN" sz="1350" b="0">
                <a:solidFill>
                  <a:srgbClr val="1F2D22"/>
                </a:solidFill>
              </a:rPr>
              <a:t>" </a:t>
            </a: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togglePriceSort() </a:t>
            </a:r>
            <a:r>
              <a:rPr lang="zh-CN" altLang="en-US" sz="1350" b="0">
                <a:solidFill>
                  <a:srgbClr val="1F2D22"/>
                </a:solidFill>
              </a:rPr>
              <a:t>设置</a:t>
            </a:r>
            <a:r>
              <a:rPr lang="en-US" altLang="zh-CN" sz="1350" b="0">
                <a:solidFill>
                  <a:srgbClr val="1F2D22"/>
                </a:solidFill>
              </a:rPr>
              <a:t> sortField='price' </a:t>
            </a:r>
            <a:r>
              <a:rPr lang="zh-CN" altLang="en-US" sz="1350" b="0">
                <a:solidFill>
                  <a:srgbClr val="1F2D22"/>
                </a:solidFill>
              </a:rPr>
              <a:t>和</a:t>
            </a:r>
            <a:r>
              <a:rPr lang="en-US" altLang="zh-CN" sz="1350" b="0">
                <a:solidFill>
                  <a:srgbClr val="1F2D22"/>
                </a:solidFill>
              </a:rPr>
              <a:t> sortOrder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zh-CN" altLang="en-US" sz="1350" b="0">
                <a:solidFill>
                  <a:srgbClr val="1F2D22"/>
                </a:solidFill>
              </a:rPr>
              <a:t>自动重新调用</a:t>
            </a:r>
            <a:r>
              <a:rPr lang="en-US" altLang="zh-CN" sz="1350" b="0">
                <a:solidFill>
                  <a:srgbClr val="1F2D22"/>
                </a:solidFill>
              </a:rPr>
              <a:t> searchPage()</a:t>
            </a:r>
            <a:r>
              <a:rPr lang="zh-CN" altLang="en-US" sz="1350" b="0">
                <a:solidFill>
                  <a:srgbClr val="1F2D22"/>
                </a:solidFill>
              </a:rPr>
              <a:t>，将排序参数传至后端</a:t>
            </a:r>
            <a:r>
              <a:rPr lang="en-US" altLang="zh-CN" sz="1350" b="0">
                <a:solidFill>
                  <a:srgbClr val="1F2D22"/>
                </a:solidFill>
              </a:rPr>
              <a:t> /query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ContentController </a:t>
            </a:r>
            <a:r>
              <a:rPr lang="zh-CN" altLang="en-US" sz="1350" b="0">
                <a:solidFill>
                  <a:srgbClr val="1F2D22"/>
                </a:solidFill>
              </a:rPr>
              <a:t>接收参数传给</a:t>
            </a:r>
            <a:r>
              <a:rPr lang="en-US" altLang="zh-CN" sz="1350" b="0">
                <a:solidFill>
                  <a:srgbClr val="1F2D22"/>
                </a:solidFill>
              </a:rPr>
              <a:t> ContentService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ES </a:t>
            </a:r>
            <a:r>
              <a:rPr lang="zh-CN" altLang="en-US" sz="1350" b="0">
                <a:solidFill>
                  <a:srgbClr val="1F2D22"/>
                </a:solidFill>
              </a:rPr>
              <a:t>查询返回结果后，</a:t>
            </a:r>
            <a:r>
              <a:rPr lang="en-US" altLang="zh-CN" sz="1350" b="0">
                <a:solidFill>
                  <a:srgbClr val="1F2D22"/>
                </a:solidFill>
              </a:rPr>
              <a:t>Java </a:t>
            </a:r>
            <a:r>
              <a:rPr lang="zh-CN" altLang="en-US" sz="1350" b="0">
                <a:solidFill>
                  <a:srgbClr val="1F2D22"/>
                </a:solidFill>
              </a:rPr>
              <a:t>端按价格字段排序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zh-CN" altLang="en-US" sz="1350" b="0">
                <a:solidFill>
                  <a:srgbClr val="1F2D22"/>
                </a:solidFill>
              </a:rPr>
              <a:t>排序结果返回前端，页面重新渲染</a:t>
            </a: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2000250" y="3714750"/>
            <a:ext cx="8191500" cy="199517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2228850" y="3886200"/>
            <a:ext cx="7734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结果</a:t>
            </a: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2146935" y="4324350"/>
            <a:ext cx="7734300" cy="91948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支持价格升序</a:t>
            </a:r>
            <a:r>
              <a:rPr lang="en-US" altLang="zh-CN" sz="1350" b="0">
                <a:solidFill>
                  <a:srgbClr val="1F2D22"/>
                </a:solidFill>
              </a:rPr>
              <a:t> / </a:t>
            </a:r>
            <a:r>
              <a:rPr lang="zh-CN" altLang="en-US" sz="1350" b="0">
                <a:solidFill>
                  <a:srgbClr val="1F2D22"/>
                </a:solidFill>
              </a:rPr>
              <a:t>降序切换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价格字段含非数字符号时自动解析为数值再排序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排序在后端内存中完成，无需改动</a:t>
            </a:r>
            <a:r>
              <a:rPr lang="en-US" altLang="zh-CN" sz="1350" b="0">
                <a:solidFill>
                  <a:srgbClr val="1F2D22"/>
                </a:solidFill>
              </a:rPr>
              <a:t> ES </a:t>
            </a:r>
            <a:r>
              <a:rPr lang="zh-CN" altLang="en-US" sz="1350" b="0">
                <a:solidFill>
                  <a:srgbClr val="1F2D22"/>
                </a:solidFill>
              </a:rPr>
              <a:t>索引结构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550" b="1" dirty="0">
                <a:solidFill>
                  <a:srgbClr val="2D4A33"/>
                </a:solidFill>
              </a:rPr>
              <a:t>刘义群</a:t>
            </a:r>
            <a:r>
              <a:rPr lang="en-US" altLang="zh-CN" sz="2550" b="1" dirty="0">
                <a:solidFill>
                  <a:srgbClr val="2D4A33"/>
                </a:solidFill>
              </a:rPr>
              <a:t> </a:t>
            </a:r>
            <a:r>
              <a:rPr lang="zh-CN" altLang="en-US" sz="2550" b="1" dirty="0">
                <a:solidFill>
                  <a:srgbClr val="2D4A33"/>
                </a:solidFill>
              </a:rPr>
              <a:t>增加商品部分</a:t>
            </a: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3295015" y="1143000"/>
            <a:ext cx="5144135" cy="2091055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3543935" y="1238885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流程</a:t>
            </a: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3604260" y="1753870"/>
            <a:ext cx="4671060" cy="107696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增加</a:t>
            </a:r>
            <a:r>
              <a:rPr lang="en-US" altLang="zh-CN" sz="1350" b="0">
                <a:solidFill>
                  <a:srgbClr val="1F2D22"/>
                </a:solidFill>
              </a:rPr>
              <a:t>“</a:t>
            </a:r>
            <a:r>
              <a:rPr lang="zh-CN" altLang="en-US" sz="1350" b="0">
                <a:solidFill>
                  <a:srgbClr val="1F2D22"/>
                </a:solidFill>
              </a:rPr>
              <a:t>高数</a:t>
            </a:r>
            <a:r>
              <a:rPr lang="en-US" altLang="zh-CN" sz="1350" b="0">
                <a:solidFill>
                  <a:srgbClr val="1F2D22"/>
                </a:solidFill>
              </a:rPr>
              <a:t>”“</a:t>
            </a:r>
            <a:r>
              <a:rPr lang="zh-CN" altLang="en-US" sz="1350" b="0">
                <a:solidFill>
                  <a:srgbClr val="1F2D22"/>
                </a:solidFill>
              </a:rPr>
              <a:t>大学英语</a:t>
            </a:r>
            <a:r>
              <a:rPr lang="en-US" altLang="zh-CN" sz="1350" b="0">
                <a:solidFill>
                  <a:srgbClr val="1F2D22"/>
                </a:solidFill>
              </a:rPr>
              <a:t>”</a:t>
            </a:r>
            <a:r>
              <a:rPr lang="zh-CN" altLang="en-US" sz="1350" b="0">
                <a:solidFill>
                  <a:srgbClr val="1F2D22"/>
                </a:solidFill>
              </a:rPr>
              <a:t>相关的书籍数据到老师提供的</a:t>
            </a:r>
            <a:r>
              <a:rPr lang="en-US" altLang="zh-CN" sz="1350" b="0">
                <a:solidFill>
                  <a:srgbClr val="1F2D22"/>
                </a:solidFill>
              </a:rPr>
              <a:t>“jddata.json”</a:t>
            </a:r>
            <a:r>
              <a:rPr lang="zh-CN" altLang="en-US" sz="1350" b="0">
                <a:solidFill>
                  <a:srgbClr val="1F2D22"/>
                </a:solidFill>
              </a:rPr>
              <a:t>中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通过</a:t>
            </a:r>
            <a:r>
              <a:rPr lang="en-US" altLang="zh-CN" sz="1350" b="0">
                <a:solidFill>
                  <a:srgbClr val="1F2D22"/>
                </a:solidFill>
              </a:rPr>
              <a:t>src\main\java\com\example\demo\EsJDDoc.java</a:t>
            </a:r>
            <a:r>
              <a:rPr lang="zh-CN" altLang="en-US" sz="1350" b="0">
                <a:solidFill>
                  <a:srgbClr val="1F2D22"/>
                </a:solidFill>
              </a:rPr>
              <a:t>代码将数据写入</a:t>
            </a:r>
            <a:r>
              <a:rPr lang="en-US" altLang="zh-CN" sz="1350" b="0">
                <a:solidFill>
                  <a:srgbClr val="1F2D22"/>
                </a:solidFill>
              </a:rPr>
              <a:t>ES</a:t>
            </a:r>
            <a:r>
              <a:rPr lang="zh-CN" altLang="en-US" sz="1350" b="0">
                <a:solidFill>
                  <a:srgbClr val="1F2D22"/>
                </a:solidFill>
              </a:rPr>
              <a:t>数据库中</a:t>
            </a: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3295650" y="3836670"/>
            <a:ext cx="5143500" cy="18732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3604260" y="3968115"/>
            <a:ext cx="6358890" cy="24193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结果</a:t>
            </a:r>
          </a:p>
        </p:txBody>
      </p:sp>
      <p:sp>
        <p:nvSpPr>
          <p:cNvPr id="12" name="矩形 11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3604895" y="4514850"/>
            <a:ext cx="4669790" cy="72898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sz="1350" b="0">
                <a:solidFill>
                  <a:srgbClr val="1F2D22"/>
                </a:solidFill>
              </a:rPr>
              <a:t>实现了增加两个关键词的商品到</a:t>
            </a:r>
            <a:r>
              <a:rPr lang="en-US" altLang="zh-CN" sz="1350" b="0">
                <a:solidFill>
                  <a:srgbClr val="1F2D22"/>
                </a:solidFill>
              </a:rPr>
              <a:t>ES</a:t>
            </a:r>
            <a:r>
              <a:rPr lang="zh-CN" altLang="en-US" sz="1350" b="0">
                <a:solidFill>
                  <a:srgbClr val="1F2D22"/>
                </a:solidFill>
              </a:rPr>
              <a:t>的功能，并且可以通过搜索引擎查询到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/>
          <p:cNvSpPr>
            <a:spLocks noGrp="1"/>
          </p:cNvSpPr>
          <p:nvPr/>
        </p:nvSpPr>
        <p:spPr>
          <a:xfrm>
            <a:off x="2614979" y="2321005"/>
            <a:ext cx="26040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3800" b="0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 panose="020B0604020202020204"/>
                <a:ea typeface="华文中宋" panose="02010600040101010101" charset="-122"/>
                <a:cs typeface="+mn-cs"/>
              </a:rPr>
              <a:t>0</a:t>
            </a:r>
            <a:r>
              <a:rPr lang="en-US" sz="13800" dirty="0">
                <a:solidFill>
                  <a:srgbClr val="F5F4F9"/>
                </a:solidFill>
                <a:latin typeface="Arial" panose="020B0604020202020204"/>
                <a:ea typeface="华文中宋" panose="02010600040101010101" charset="-122"/>
              </a:rPr>
              <a:t>4</a:t>
            </a:r>
            <a:endParaRPr kumimoji="0" sz="13800" b="0" i="0" u="none" strike="noStrike" kern="1200" cap="none" spc="0" normalizeH="0" baseline="0" noProof="0" dirty="0">
              <a:ln>
                <a:noFill/>
              </a:ln>
              <a:solidFill>
                <a:srgbClr val="F5F4F9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6331761" y="2685166"/>
            <a:ext cx="2262159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5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/>
                <a:ea typeface="华文中宋" panose="02010600040101010101" charset="-122"/>
                <a:cs typeface="+mn-cs"/>
              </a:rPr>
              <a:t>李嘉轩</a:t>
            </a:r>
            <a:endParaRPr kumimoji="0" sz="5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550" b="1" dirty="0">
                <a:solidFill>
                  <a:srgbClr val="2D4A33"/>
                </a:solidFill>
              </a:rPr>
              <a:t>李嘉轩</a:t>
            </a:r>
            <a:endParaRPr sz="2550" b="1" dirty="0">
              <a:solidFill>
                <a:srgbClr val="2D4A3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498600" y="1481665"/>
            <a:ext cx="9465733" cy="2057401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634067" y="1678782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r>
              <a:rPr lang="zh-CN" altLang="en-US" sz="3200" b="1" dirty="0">
                <a:solidFill>
                  <a:srgbClr val="2D4A33"/>
                </a:solidFill>
              </a:rPr>
              <a:t>数据集初始化与扩充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634067" y="2070365"/>
            <a:ext cx="9059333" cy="135863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提交并扩充了 </a:t>
            </a:r>
            <a:r>
              <a:rPr lang="en-US" altLang="zh-CN" sz="2000" dirty="0" err="1">
                <a:solidFill>
                  <a:srgbClr val="1F2D22"/>
                </a:solidFill>
                <a:latin typeface="ui-monospace"/>
              </a:rPr>
              <a:t>course_qa.json</a:t>
            </a:r>
            <a:endParaRPr lang="en-US" altLang="zh-CN" sz="2000" dirty="0">
              <a:solidFill>
                <a:srgbClr val="1F2D22"/>
              </a:solidFill>
              <a:latin typeface="ui-monospace"/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整理统一 </a:t>
            </a:r>
            <a:r>
              <a:rPr lang="en-US" altLang="zh-CN" sz="2000" dirty="0" err="1">
                <a:solidFill>
                  <a:srgbClr val="1F2D22"/>
                </a:solidFill>
                <a:latin typeface="ui-monospace"/>
              </a:rPr>
              <a:t>course_qa.json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数据格式、增加质量标注</a:t>
            </a:r>
            <a:endParaRPr lang="en-US" altLang="zh-CN" sz="2000" dirty="0">
              <a:solidFill>
                <a:srgbClr val="1F2D22"/>
              </a:solidFill>
              <a:latin typeface="ui-monospace"/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endParaRPr sz="1350" b="0" dirty="0">
              <a:solidFill>
                <a:srgbClr val="1F2D22"/>
              </a:solidFill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1498600" y="4171950"/>
            <a:ext cx="9465733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1634067" y="4362450"/>
            <a:ext cx="5872052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lang="en-US" altLang="zh-CN" sz="3200" dirty="0"/>
              <a:t>Elasticsearch </a:t>
            </a:r>
            <a:r>
              <a:rPr lang="zh-CN" altLang="en-US" sz="3200" dirty="0"/>
              <a:t>数据导入能力</a:t>
            </a:r>
            <a:endParaRPr sz="3200" b="1" dirty="0">
              <a:solidFill>
                <a:srgbClr val="2D4A33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1634067" y="4677833"/>
            <a:ext cx="9330266" cy="977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添加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ES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数据导入脚本</a:t>
            </a:r>
            <a:endParaRPr lang="en-US" altLang="zh-CN" sz="2000" dirty="0">
              <a:solidFill>
                <a:srgbClr val="1F2D22"/>
              </a:solidFill>
              <a:latin typeface="ui-monospace"/>
            </a:endParaRPr>
          </a:p>
          <a:p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解析</a:t>
            </a:r>
            <a:r>
              <a:rPr lang="en-US" altLang="zh-CN" sz="2000" dirty="0" err="1">
                <a:solidFill>
                  <a:srgbClr val="1F2D22"/>
                </a:solidFill>
                <a:latin typeface="ui-monospace"/>
              </a:rPr>
              <a:t>course_qa.json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并将数据导入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ES</a:t>
            </a:r>
            <a:endParaRPr lang="zh-CN" altLang="en-US" sz="2000" dirty="0">
              <a:solidFill>
                <a:srgbClr val="1F2D22"/>
              </a:solidFill>
              <a:latin typeface="ui-monospace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/>
          <p:cNvSpPr>
            <a:spLocks noGrp="1"/>
          </p:cNvSpPr>
          <p:nvPr/>
        </p:nvSpPr>
        <p:spPr>
          <a:xfrm>
            <a:off x="2614979" y="2321005"/>
            <a:ext cx="26040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3800" b="0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 panose="020B0604020202020204"/>
                <a:ea typeface="华文中宋" panose="02010600040101010101" charset="-122"/>
                <a:cs typeface="+mn-cs"/>
              </a:rPr>
              <a:t>0</a:t>
            </a:r>
            <a:r>
              <a:rPr kumimoji="0" lang="en-US" sz="13800" b="0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 panose="020B0604020202020204"/>
                <a:ea typeface="华文中宋" panose="02010600040101010101" charset="-122"/>
                <a:cs typeface="+mn-cs"/>
              </a:rPr>
              <a:t>5</a:t>
            </a:r>
            <a:endParaRPr kumimoji="0" sz="13800" b="0" i="0" u="none" strike="noStrike" kern="1200" cap="none" spc="0" normalizeH="0" baseline="0" noProof="0" dirty="0">
              <a:ln>
                <a:noFill/>
              </a:ln>
              <a:solidFill>
                <a:srgbClr val="F5F4F9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6293290" y="2685166"/>
            <a:ext cx="2339103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5400" b="1" dirty="0">
                <a:solidFill>
                  <a:prstClr val="white"/>
                </a:solidFill>
                <a:latin typeface="Arial" panose="020B0604020202020204"/>
                <a:ea typeface="华文中宋" panose="02010600040101010101" charset="-122"/>
              </a:rPr>
              <a:t>唐熙雷</a:t>
            </a:r>
            <a:endParaRPr kumimoji="0" sz="5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550" b="1" dirty="0">
                <a:solidFill>
                  <a:srgbClr val="2D4A33"/>
                </a:solidFill>
              </a:rPr>
              <a:t>唐熙雷</a:t>
            </a:r>
            <a:endParaRPr sz="2550" b="1" dirty="0">
              <a:solidFill>
                <a:srgbClr val="2D4A3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857250" y="1619250"/>
            <a:ext cx="4762500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085850" y="1790700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Faiss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085850" y="2228850"/>
            <a:ext cx="4305300" cy="857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sz="1350" b="0">
                <a:solidFill>
                  <a:srgbClr val="1F2D22"/>
                </a:solidFill>
              </a:rPr>
              <a:t>替换 / 增强向量检索底座</a:t>
            </a: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572250" y="1619250"/>
            <a:ext cx="4762500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6800850" y="1790700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多检索</a:t>
            </a: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800850" y="2228850"/>
            <a:ext cx="4305300" cy="857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sz="1350" b="0">
                <a:solidFill>
                  <a:srgbClr val="1F2D22"/>
                </a:solidFill>
              </a:rPr>
              <a:t>支持多种召回方式并行比较</a:t>
            </a: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2000250" y="3714750"/>
            <a:ext cx="8191500" cy="14287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2228850" y="3886200"/>
            <a:ext cx="7734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结果</a:t>
            </a: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2228850" y="4324350"/>
            <a:ext cx="77343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sz="1350" b="0">
                <a:solidFill>
                  <a:srgbClr val="1F2D22"/>
                </a:solidFill>
              </a:rPr>
              <a:t>索引与召回更灵活，检索能力明显增强。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/>
          <p:cNvSpPr>
            <a:spLocks noGrp="1"/>
          </p:cNvSpPr>
          <p:nvPr/>
        </p:nvSpPr>
        <p:spPr>
          <a:xfrm>
            <a:off x="2614979" y="2321005"/>
            <a:ext cx="26040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3800" b="0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 panose="020B0604020202020204"/>
                <a:ea typeface="华文中宋" panose="02010600040101010101" charset="-122"/>
                <a:cs typeface="+mn-cs"/>
              </a:rPr>
              <a:t>0</a:t>
            </a:r>
            <a:r>
              <a:rPr kumimoji="0" lang="en-US" sz="13800" b="0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 panose="020B0604020202020204"/>
                <a:ea typeface="华文中宋" panose="02010600040101010101" charset="-122"/>
                <a:cs typeface="+mn-cs"/>
              </a:rPr>
              <a:t>6</a:t>
            </a:r>
            <a:endParaRPr kumimoji="0" sz="13800" b="0" i="0" u="none" strike="noStrike" kern="1200" cap="none" spc="0" normalizeH="0" baseline="0" noProof="0" dirty="0">
              <a:ln>
                <a:noFill/>
              </a:ln>
              <a:solidFill>
                <a:srgbClr val="F5F4F9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6331762" y="2685166"/>
            <a:ext cx="2262158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zh-CN" altLang="en-US" sz="5400" b="0" i="0" dirty="0">
                <a:solidFill>
                  <a:schemeClr val="bg1"/>
                </a:solidFill>
                <a:effectLst/>
                <a:latin typeface="Color Emoji"/>
              </a:rPr>
              <a:t>邢泽雷</a:t>
            </a:r>
            <a:endParaRPr kumimoji="0" lang="zh-CN" altLang="en-US" sz="54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800" b="0" i="0" dirty="0">
                <a:effectLst/>
                <a:latin typeface="Color Emoji"/>
              </a:rPr>
              <a:t>邢泽雷</a:t>
            </a:r>
            <a:endParaRPr sz="255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79D8F8-2327-A489-4B37-5DEE5EC64953}"/>
              </a:ext>
            </a:extLst>
          </p:cNvPr>
          <p:cNvSpPr txBox="1"/>
          <p:nvPr/>
        </p:nvSpPr>
        <p:spPr>
          <a:xfrm>
            <a:off x="2031318" y="1601734"/>
            <a:ext cx="887397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dirty="0"/>
              <a:t>该前端系统基于 Vue 3 和 Tailwind CSS 开发，实现了一个课程技术问答搜索平台。用户可以输入关键词进行检索，并选择 Match、AND、OR、NOT 等不同搜索模式，同时支持基于答案质量分的自定义排序功能。前端通过 Fetch API 向后端搜索接口发送请求，并将返回的搜索结果动态展示在页面上。结果页面不仅显示问题内容和最佳答案，还提供回答质量评分、搜索耗时统计以及全部回答的展开查看功能。整体界面简洁美观，交互流畅，实现了课程问答数据的高效检索与展示。</a:t>
            </a:r>
            <a:endParaRPr lang="zh-CN" alt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A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95AC3D-97B5-62C1-C623-39FEE40281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>
            <a:extLst>
              <a:ext uri="{FF2B5EF4-FFF2-40B4-BE49-F238E27FC236}">
                <a16:creationId xmlns:a16="http://schemas.microsoft.com/office/drawing/2014/main" id="{B17E99E7-F638-E6ED-0024-BFF9A3D1D19B}"/>
              </a:ext>
            </a:extLst>
          </p:cNvPr>
          <p:cNvSpPr>
            <a:spLocks noGrp="1"/>
          </p:cNvSpPr>
          <p:nvPr/>
        </p:nvSpPr>
        <p:spPr>
          <a:xfrm>
            <a:off x="2614979" y="2321005"/>
            <a:ext cx="26040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3800" b="0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 panose="020B0604020202020204"/>
                <a:ea typeface="华文中宋" panose="02010600040101010101" charset="-122"/>
                <a:cs typeface="+mn-cs"/>
              </a:rPr>
              <a:t>0</a:t>
            </a:r>
            <a:r>
              <a:rPr lang="en-US" sz="13800" dirty="0">
                <a:solidFill>
                  <a:srgbClr val="F5F4F9"/>
                </a:solidFill>
                <a:latin typeface="Arial" panose="020B0604020202020204"/>
                <a:ea typeface="华文中宋" panose="02010600040101010101" charset="-122"/>
              </a:rPr>
              <a:t>7</a:t>
            </a:r>
            <a:endParaRPr kumimoji="0" sz="13800" b="0" i="0" u="none" strike="noStrike" kern="1200" cap="none" spc="0" normalizeH="0" baseline="0" noProof="0" dirty="0">
              <a:ln>
                <a:noFill/>
              </a:ln>
              <a:solidFill>
                <a:srgbClr val="F5F4F9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86FDCB7-259E-7173-B956-0C2E1C45251E}"/>
              </a:ext>
            </a:extLst>
          </p:cNvPr>
          <p:cNvSpPr>
            <a:spLocks noGrp="1"/>
          </p:cNvSpPr>
          <p:nvPr/>
        </p:nvSpPr>
        <p:spPr>
          <a:xfrm>
            <a:off x="6331764" y="2685166"/>
            <a:ext cx="2262158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5400" dirty="0">
                <a:solidFill>
                  <a:prstClr val="white"/>
                </a:solidFill>
                <a:latin typeface="Color Emoji"/>
                <a:ea typeface="STZhongsong"/>
              </a:rPr>
              <a:t>汤语涵</a:t>
            </a:r>
            <a:endParaRPr kumimoji="0" lang="zh-CN" altLang="en-US" sz="5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17055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224DE3-BE87-60AE-C61E-71720FBE0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0FC34F73-EB12-93C4-4293-35C0DDE5861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6217816-ECAB-5639-7E3D-F542E9F02F33}"/>
              </a:ext>
            </a:extLst>
          </p:cNvPr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800" dirty="0">
                <a:latin typeface="Color Emoji"/>
              </a:rPr>
              <a:t>汤语涵</a:t>
            </a:r>
            <a:endParaRPr sz="2550" b="1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3555D4E-EB34-77BF-9A14-80AB41FF11C2}"/>
              </a:ext>
            </a:extLst>
          </p:cNvPr>
          <p:cNvSpPr>
            <a:spLocks noGrp="1"/>
          </p:cNvSpPr>
          <p:nvPr/>
        </p:nvSpPr>
        <p:spPr>
          <a:xfrm>
            <a:off x="823632" y="991284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lang="zh-CN" altLang="en-US" sz="3200" b="1" dirty="0">
                <a:solidFill>
                  <a:srgbClr val="2D4A33"/>
                </a:solidFill>
              </a:rPr>
              <a:t>多种搜索方法构建</a:t>
            </a:r>
            <a:endParaRPr sz="3200" b="1" dirty="0">
              <a:solidFill>
                <a:srgbClr val="2D4A33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6A10D85-8177-AAE4-76F0-8D3A45AB6BE8}"/>
              </a:ext>
            </a:extLst>
          </p:cNvPr>
          <p:cNvSpPr>
            <a:spLocks noGrp="1"/>
          </p:cNvSpPr>
          <p:nvPr/>
        </p:nvSpPr>
        <p:spPr>
          <a:xfrm>
            <a:off x="896471" y="1724150"/>
            <a:ext cx="4305300" cy="857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支持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and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、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or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连接多个关键词</a:t>
            </a:r>
            <a:endParaRPr lang="en-US" altLang="zh-CN" sz="2000" dirty="0">
              <a:solidFill>
                <a:srgbClr val="1F2D22"/>
              </a:solidFill>
              <a:latin typeface="ui-monospace"/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支持排除词（负搜索）</a:t>
            </a:r>
            <a:endParaRPr sz="2000" dirty="0">
              <a:solidFill>
                <a:srgbClr val="1F2D22"/>
              </a:solidFill>
              <a:latin typeface="ui-monospace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6D8F764-F4D7-798A-39E7-3F1B0096862E}"/>
              </a:ext>
            </a:extLst>
          </p:cNvPr>
          <p:cNvSpPr>
            <a:spLocks noGrp="1"/>
          </p:cNvSpPr>
          <p:nvPr/>
        </p:nvSpPr>
        <p:spPr>
          <a:xfrm>
            <a:off x="7567332" y="879662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>
              <a:defRPr sz="1650" b="1">
                <a:solidFill>
                  <a:srgbClr val="2D4A33"/>
                </a:solidFill>
              </a:defRPr>
            </a:pPr>
            <a:r>
              <a:rPr lang="zh-CN" altLang="en-US" sz="3200" b="1" dirty="0">
                <a:solidFill>
                  <a:srgbClr val="2D4A33"/>
                </a:solidFill>
              </a:rPr>
              <a:t>自定义排序指标</a:t>
            </a:r>
            <a:endParaRPr sz="3200" b="1" dirty="0">
              <a:solidFill>
                <a:srgbClr val="2D4A33"/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18F90BC-DC90-BEDC-F4AB-1694E864A254}"/>
              </a:ext>
            </a:extLst>
          </p:cNvPr>
          <p:cNvSpPr>
            <a:spLocks noGrp="1"/>
          </p:cNvSpPr>
          <p:nvPr/>
        </p:nvSpPr>
        <p:spPr>
          <a:xfrm>
            <a:off x="6800850" y="2228850"/>
            <a:ext cx="4305300" cy="857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endParaRPr sz="2000" dirty="0">
              <a:solidFill>
                <a:srgbClr val="1F2D22"/>
              </a:solidFill>
              <a:latin typeface="ui-monospace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1669D48-DFC2-F528-67F7-B6E0A04262CD}"/>
              </a:ext>
            </a:extLst>
          </p:cNvPr>
          <p:cNvSpPr>
            <a:spLocks noGrp="1"/>
          </p:cNvSpPr>
          <p:nvPr/>
        </p:nvSpPr>
        <p:spPr>
          <a:xfrm>
            <a:off x="896471" y="3628340"/>
            <a:ext cx="7734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>
              <a:defRPr sz="1650" b="1">
                <a:solidFill>
                  <a:srgbClr val="2D4A33"/>
                </a:solidFill>
              </a:defRPr>
            </a:pPr>
            <a:r>
              <a:rPr lang="zh-CN" altLang="en-US" sz="3200" b="1" dirty="0">
                <a:solidFill>
                  <a:srgbClr val="2D4A33"/>
                </a:solidFill>
              </a:rPr>
              <a:t>数据导入</a:t>
            </a:r>
            <a:endParaRPr sz="3200" b="1" dirty="0">
              <a:solidFill>
                <a:srgbClr val="2D4A33"/>
              </a:soli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44D2BBF-5EE7-B9A4-BE11-B7CCF0213BEB}"/>
              </a:ext>
            </a:extLst>
          </p:cNvPr>
          <p:cNvSpPr>
            <a:spLocks noGrp="1"/>
          </p:cNvSpPr>
          <p:nvPr/>
        </p:nvSpPr>
        <p:spPr>
          <a:xfrm>
            <a:off x="305921" y="4665755"/>
            <a:ext cx="77343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拍平数据，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Bulk API 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写入 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ES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查询数据：</a:t>
            </a:r>
            <a:endParaRPr lang="en-US" altLang="zh-CN" sz="2000" dirty="0">
              <a:solidFill>
                <a:srgbClr val="1F2D22"/>
              </a:solidFill>
              <a:latin typeface="ui-monospace"/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写入用 </a:t>
            </a:r>
            <a:r>
              <a:rPr lang="en-US" sz="2000" dirty="0">
                <a:solidFill>
                  <a:srgbClr val="1F2D22"/>
                </a:solidFill>
                <a:latin typeface="ui-monospace"/>
              </a:rPr>
              <a:t>POST /{index}/_bulk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查询用 </a:t>
            </a:r>
            <a:r>
              <a:rPr lang="en-US" sz="2000" dirty="0">
                <a:solidFill>
                  <a:srgbClr val="1F2D22"/>
                </a:solidFill>
                <a:latin typeface="ui-monospace"/>
              </a:rPr>
              <a:t>POST /{index}/_search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代码里通过 </a:t>
            </a:r>
            <a:r>
              <a:rPr lang="en-US" sz="2000" dirty="0">
                <a:solidFill>
                  <a:srgbClr val="1F2D22"/>
                </a:solidFill>
                <a:latin typeface="ui-monospace"/>
              </a:rPr>
              <a:t>fetch 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直接调用。</a:t>
            </a:r>
            <a:endParaRPr sz="2000" dirty="0">
              <a:solidFill>
                <a:srgbClr val="1F2D22"/>
              </a:solidFill>
              <a:latin typeface="ui-monospace"/>
            </a:endParaRP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302C476D-95BD-A162-8160-7F8DD10193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7746730"/>
              </p:ext>
            </p:extLst>
          </p:nvPr>
        </p:nvGraphicFramePr>
        <p:xfrm>
          <a:off x="5289176" y="2190750"/>
          <a:ext cx="6902824" cy="4267200"/>
        </p:xfrm>
        <a:graphic>
          <a:graphicData uri="http://schemas.openxmlformats.org/drawingml/2006/table">
            <a:tbl>
              <a:tblPr/>
              <a:tblGrid>
                <a:gridCol w="1725706">
                  <a:extLst>
                    <a:ext uri="{9D8B030D-6E8A-4147-A177-3AD203B41FA5}">
                      <a16:colId xmlns:a16="http://schemas.microsoft.com/office/drawing/2014/main" val="850741836"/>
                    </a:ext>
                  </a:extLst>
                </a:gridCol>
                <a:gridCol w="1725706">
                  <a:extLst>
                    <a:ext uri="{9D8B030D-6E8A-4147-A177-3AD203B41FA5}">
                      <a16:colId xmlns:a16="http://schemas.microsoft.com/office/drawing/2014/main" val="1110310240"/>
                    </a:ext>
                  </a:extLst>
                </a:gridCol>
                <a:gridCol w="1725706">
                  <a:extLst>
                    <a:ext uri="{9D8B030D-6E8A-4147-A177-3AD203B41FA5}">
                      <a16:colId xmlns:a16="http://schemas.microsoft.com/office/drawing/2014/main" val="839866319"/>
                    </a:ext>
                  </a:extLst>
                </a:gridCol>
                <a:gridCol w="1725706">
                  <a:extLst>
                    <a:ext uri="{9D8B030D-6E8A-4147-A177-3AD203B41FA5}">
                      <a16:colId xmlns:a16="http://schemas.microsoft.com/office/drawing/2014/main" val="159932957"/>
                    </a:ext>
                  </a:extLst>
                </a:gridCol>
              </a:tblGrid>
              <a:tr h="2399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>
                          <a:effectLst/>
                        </a:rPr>
                        <a:t>特征</a:t>
                      </a:r>
                    </a:p>
                  </a:txBody>
                  <a:tcPr marL="28575" marR="28575" marT="19050" marB="19050" anchor="ctr">
                    <a:lnL>
                      <a:noFill/>
                    </a:lnL>
                    <a:lnR w="4763" cap="flat" cmpd="sng" algn="ctr">
                      <a:solidFill>
                        <a:srgbClr val="601D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4763" cap="flat" cmpd="sng" algn="ctr">
                      <a:solidFill>
                        <a:srgbClr val="601D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>
                          <a:effectLst/>
                        </a:rPr>
                        <a:t>权重</a:t>
                      </a:r>
                    </a:p>
                  </a:txBody>
                  <a:tcPr marL="28575" marR="28575" marT="19050" marB="19050" anchor="ctr">
                    <a:lnL w="4763" cap="flat" cmpd="sng" algn="ctr">
                      <a:solidFill>
                        <a:srgbClr val="601D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E03B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4763" cap="flat" cmpd="sng" algn="ctr">
                      <a:solidFill>
                        <a:srgbClr val="E03B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>
                          <a:effectLst/>
                        </a:rPr>
                        <a:t>计算方式</a:t>
                      </a:r>
                    </a:p>
                  </a:txBody>
                  <a:tcPr marL="28575" marR="28575" marT="19050" marB="19050" anchor="ctr">
                    <a:lnL w="4763" cap="flat" cmpd="sng" algn="ctr">
                      <a:solidFill>
                        <a:srgbClr val="E03B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203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4763" cap="flat" cmpd="sng" algn="ctr">
                      <a:solidFill>
                        <a:srgbClr val="203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>
                          <a:effectLst/>
                        </a:rPr>
                        <a:t>为什么有效</a:t>
                      </a:r>
                    </a:p>
                  </a:txBody>
                  <a:tcPr marL="28575" marR="28575" marT="19050" marB="19050" anchor="ctr">
                    <a:lnL w="4763" cap="flat" cmpd="sng" algn="ctr">
                      <a:solidFill>
                        <a:srgbClr val="203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4763" cap="flat" cmpd="sng" algn="ctr">
                      <a:solidFill>
                        <a:srgbClr val="A03E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288682"/>
                  </a:ext>
                </a:extLst>
              </a:tr>
              <a:tr h="10827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b="1">
                          <a:effectLst/>
                        </a:rPr>
                        <a:t>F1 回答长度</a:t>
                      </a:r>
                      <a:endParaRPr lang="zh-CN">
                        <a:effectLst/>
                      </a:endParaRPr>
                    </a:p>
                  </a:txBody>
                  <a:tcPr marL="28575" marR="28575" marT="19050" marB="19050" anchor="ctr">
                    <a:lnL>
                      <a:noFill/>
                    </a:lnL>
                    <a:lnR w="4763" cap="flat" cmpd="sng" algn="ctr">
                      <a:solidFill>
                        <a:srgbClr val="604B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601D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604B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>
                          <a:effectLst/>
                        </a:rPr>
                        <a:t>50%</a:t>
                      </a:r>
                    </a:p>
                  </a:txBody>
                  <a:tcPr marL="28575" marR="28575" marT="19050" marB="19050" anchor="ctr">
                    <a:lnL w="4763" cap="flat" cmpd="sng" algn="ctr">
                      <a:solidFill>
                        <a:srgbClr val="604B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6050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E03B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6050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b="0" u="none" strike="noStrike">
                          <a:effectLst/>
                          <a:hlinkClick r:id="rId3"/>
                        </a:rPr>
                        <a:t>min(字符数 / 150, 1)</a:t>
                      </a:r>
                      <a:endParaRPr lang="zh-CN">
                        <a:effectLst/>
                      </a:endParaRPr>
                    </a:p>
                  </a:txBody>
                  <a:tcPr marL="28575" marR="28575" marT="19050" marB="19050" anchor="ctr">
                    <a:lnL w="4763" cap="flat" cmpd="sng" algn="ctr">
                      <a:solidFill>
                        <a:srgbClr val="6050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A04D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203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A04D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>
                          <a:effectLst/>
                        </a:rPr>
                        <a:t>高质量回答需要展开论述，必然更长；低质量回答往往一句话敷衍</a:t>
                      </a:r>
                    </a:p>
                  </a:txBody>
                  <a:tcPr marL="28575" marR="28575" marT="19050" marB="19050" anchor="ctr">
                    <a:lnL w="4763" cap="flat" cmpd="sng" algn="ctr">
                      <a:solidFill>
                        <a:srgbClr val="A04D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4763" cap="flat" cmpd="sng" algn="ctr">
                      <a:solidFill>
                        <a:srgbClr val="A03E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604E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6430223"/>
                  </a:ext>
                </a:extLst>
              </a:tr>
              <a:tr h="10827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b="1">
                          <a:effectLst/>
                        </a:rPr>
                        <a:t>F2 ES 文本相关性</a:t>
                      </a:r>
                      <a:endParaRPr lang="zh-CN">
                        <a:effectLst/>
                      </a:endParaRPr>
                    </a:p>
                  </a:txBody>
                  <a:tcPr marL="28575" marR="28575" marT="19050" marB="19050" anchor="ctr">
                    <a:lnL>
                      <a:noFill/>
                    </a:lnL>
                    <a:lnR w="4763" cap="flat" cmpd="sng" algn="ctr">
                      <a:solidFill>
                        <a:srgbClr val="605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604B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605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>
                          <a:effectLst/>
                        </a:rPr>
                        <a:t>25%</a:t>
                      </a:r>
                    </a:p>
                  </a:txBody>
                  <a:tcPr marL="28575" marR="28575" marT="19050" marB="19050" anchor="ctr">
                    <a:lnL w="4763" cap="flat" cmpd="sng" algn="ctr">
                      <a:solidFill>
                        <a:srgbClr val="605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A068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6050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A068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>
                          <a:effectLst/>
                        </a:rPr>
                        <a:t>组内 min-max 归一化 BM25 分数</a:t>
                      </a:r>
                    </a:p>
                  </a:txBody>
                  <a:tcPr marL="28575" marR="28575" marT="19050" marB="19050" anchor="ctr">
                    <a:lnL w="4763" cap="flat" cmpd="sng" algn="ctr">
                      <a:solidFill>
                        <a:srgbClr val="A068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E063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A04D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E063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>
                          <a:effectLst/>
                        </a:rPr>
                        <a:t>BM25 越高说明答案与问题的词汇重合度越好，即"答非所问"的答案得分低</a:t>
                      </a:r>
                    </a:p>
                  </a:txBody>
                  <a:tcPr marL="28575" marR="28575" marT="19050" marB="19050" anchor="ctr">
                    <a:lnL w="4763" cap="flat" cmpd="sng" algn="ctr">
                      <a:solidFill>
                        <a:srgbClr val="E063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4763" cap="flat" cmpd="sng" algn="ctr">
                      <a:solidFill>
                        <a:srgbClr val="604E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2068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97616348"/>
                  </a:ext>
                </a:extLst>
              </a:tr>
              <a:tr h="8720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b="1" dirty="0">
                          <a:effectLst/>
                        </a:rPr>
                        <a:t>F3 词汇丰富度</a:t>
                      </a:r>
                      <a:endParaRPr lang="zh-CN" dirty="0">
                        <a:effectLst/>
                      </a:endParaRPr>
                    </a:p>
                  </a:txBody>
                  <a:tcPr marL="28575" marR="28575" marT="19050" marB="19050" anchor="ctr">
                    <a:lnL>
                      <a:noFill/>
                    </a:lnL>
                    <a:lnR w="4763" cap="flat" cmpd="sng" algn="ctr">
                      <a:solidFill>
                        <a:srgbClr val="6064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605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dirty="0">
                          <a:effectLst/>
                        </a:rPr>
                        <a:t>25%</a:t>
                      </a:r>
                    </a:p>
                  </a:txBody>
                  <a:tcPr marL="28575" marR="28575" marT="19050" marB="19050" anchor="ctr">
                    <a:lnL w="4763" cap="flat" cmpd="sng" algn="ctr">
                      <a:solidFill>
                        <a:srgbClr val="6064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606A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A068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>
                          <a:effectLst/>
                        </a:rPr>
                        <a:t>去标点后不重复字符数 / 80</a:t>
                      </a:r>
                    </a:p>
                  </a:txBody>
                  <a:tcPr marL="28575" marR="28575" marT="19050" marB="19050" anchor="ctr">
                    <a:lnL w="4763" cap="flat" cmpd="sng" algn="ctr">
                      <a:solidFill>
                        <a:srgbClr val="606A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A07C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E063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dirty="0">
                          <a:effectLst/>
                        </a:rPr>
                        <a:t>高质量回答使用更多专业术语和不同概念，去重字符种类更多</a:t>
                      </a:r>
                    </a:p>
                  </a:txBody>
                  <a:tcPr marL="28575" marR="28575" marT="19050" marB="19050" anchor="ctr">
                    <a:lnL w="4763" cap="flat" cmpd="sng" algn="ctr">
                      <a:solidFill>
                        <a:srgbClr val="A07C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4763" cap="flat" cmpd="sng" algn="ctr">
                      <a:solidFill>
                        <a:srgbClr val="2068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1907431"/>
                  </a:ext>
                </a:extLst>
              </a:tr>
            </a:tbl>
          </a:graphicData>
        </a:graphic>
      </p:graphicFrame>
      <p:sp>
        <p:nvSpPr>
          <p:cNvPr id="15" name="文本框 14">
            <a:extLst>
              <a:ext uri="{FF2B5EF4-FFF2-40B4-BE49-F238E27FC236}">
                <a16:creationId xmlns:a16="http://schemas.microsoft.com/office/drawing/2014/main" id="{FC64473D-105B-EACE-A9BF-008D8865B2E8}"/>
              </a:ext>
            </a:extLst>
          </p:cNvPr>
          <p:cNvSpPr txBox="1"/>
          <p:nvPr/>
        </p:nvSpPr>
        <p:spPr>
          <a:xfrm>
            <a:off x="4740088" y="1400984"/>
            <a:ext cx="726253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zh-CN" altLang="zh-CN" b="0" i="0" dirty="0">
                <a:effectLst/>
                <a:latin typeface="Segoe WPC"/>
              </a:rPr>
              <a:t>对同一问题下的每个回答，从文本本身提取 3 个特征，加权打分映射到 0–9：</a:t>
            </a:r>
            <a:r>
              <a:rPr lang="en-US" altLang="zh-CN" dirty="0" err="1">
                <a:latin typeface="Segoe WPC"/>
              </a:rPr>
              <a:t>custom_score</a:t>
            </a:r>
            <a:r>
              <a:rPr lang="en-US" altLang="zh-CN" dirty="0">
                <a:latin typeface="Segoe WPC"/>
              </a:rPr>
              <a:t> = (0.50 × F1 + 0.25 × F2 + 0.25 × F3) × 9</a:t>
            </a:r>
            <a:endParaRPr lang="zh-CN" altLang="zh-CN" b="0" i="0" dirty="0">
              <a:effectLst/>
              <a:latin typeface="Segoe WPC"/>
            </a:endParaRPr>
          </a:p>
        </p:txBody>
      </p:sp>
    </p:spTree>
    <p:extLst>
      <p:ext uri="{BB962C8B-B14F-4D97-AF65-F5344CB8AC3E}">
        <p14:creationId xmlns:p14="http://schemas.microsoft.com/office/powerpoint/2010/main" val="37675016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>
            <a:spLocks noGrp="1"/>
          </p:cNvSpPr>
          <p:nvPr/>
        </p:nvSpPr>
        <p:spPr>
          <a:xfrm>
            <a:off x="0" y="1322656"/>
            <a:ext cx="12192000" cy="4212688"/>
          </a:xfrm>
          <a:prstGeom prst="rect">
            <a:avLst/>
          </a:prstGeom>
          <a:solidFill>
            <a:srgbClr val="253A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文本框 5"/>
          <p:cNvSpPr>
            <a:spLocks noGrp="1"/>
          </p:cNvSpPr>
          <p:nvPr/>
        </p:nvSpPr>
        <p:spPr>
          <a:xfrm>
            <a:off x="3744435" y="1739250"/>
            <a:ext cx="59045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4400" dirty="0" err="1">
                <a:solidFill>
                  <a:schemeClr val="bg1"/>
                </a:solidFill>
                <a:latin typeface="字魂17号-萌趣果冻体"/>
                <a:ea typeface="字魂17号-萌趣果冻体"/>
                <a:cs typeface="字魂17号-萌趣果冻体"/>
              </a:rPr>
              <a:t>Myrag</a:t>
            </a:r>
            <a:r>
              <a:rPr sz="4400" dirty="0" err="1">
                <a:solidFill>
                  <a:schemeClr val="bg1"/>
                </a:solidFill>
                <a:latin typeface="字魂17号-萌趣果冻体"/>
                <a:ea typeface="字魂17号-萌趣果冻体"/>
                <a:cs typeface="字魂17号-萌趣果冻体"/>
              </a:rPr>
              <a:t>总结</a:t>
            </a:r>
            <a:endParaRPr sz="4400" dirty="0">
              <a:solidFill>
                <a:schemeClr val="bg1"/>
              </a:solidFill>
              <a:latin typeface="字魂17号-萌趣果冻体"/>
              <a:ea typeface="字魂17号-萌趣果冻体"/>
              <a:cs typeface="字魂17号-萌趣果冻体"/>
            </a:endParaRPr>
          </a:p>
        </p:txBody>
      </p:sp>
      <p:sp>
        <p:nvSpPr>
          <p:cNvPr id="7" name="文本框 6"/>
          <p:cNvSpPr>
            <a:spLocks noGrp="1"/>
          </p:cNvSpPr>
          <p:nvPr/>
        </p:nvSpPr>
        <p:spPr>
          <a:xfrm>
            <a:off x="5376550" y="2961197"/>
            <a:ext cx="323815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sz="6000" dirty="0" err="1">
                <a:solidFill>
                  <a:schemeClr val="bg1"/>
                </a:solidFill>
              </a:rPr>
              <a:t>谢谢</a:t>
            </a:r>
            <a:endParaRPr sz="6000" dirty="0">
              <a:solidFill>
                <a:schemeClr val="bg1"/>
              </a:solidFill>
            </a:endParaRPr>
          </a:p>
        </p:txBody>
      </p:sp>
      <p:sp>
        <p:nvSpPr>
          <p:cNvPr id="10" name="椭圆 9"/>
          <p:cNvSpPr>
            <a:spLocks noGrp="1"/>
          </p:cNvSpPr>
          <p:nvPr/>
        </p:nvSpPr>
        <p:spPr>
          <a:xfrm>
            <a:off x="249709" y="3223401"/>
            <a:ext cx="449489" cy="44948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等腰三角形 12"/>
          <p:cNvSpPr>
            <a:spLocks noGrp="1"/>
          </p:cNvSpPr>
          <p:nvPr/>
        </p:nvSpPr>
        <p:spPr>
          <a:xfrm rot="16200000">
            <a:off x="345362" y="3365602"/>
            <a:ext cx="191501" cy="165087"/>
          </a:xfrm>
          <a:prstGeom prst="triangle">
            <a:avLst/>
          </a:prstGeom>
          <a:solidFill>
            <a:srgbClr val="2B1D5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椭圆 15"/>
          <p:cNvSpPr>
            <a:spLocks noGrp="1"/>
          </p:cNvSpPr>
          <p:nvPr/>
        </p:nvSpPr>
        <p:spPr>
          <a:xfrm flipH="1">
            <a:off x="10993393" y="3185111"/>
            <a:ext cx="449489" cy="44948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7" name="等腰三角形 16"/>
          <p:cNvSpPr>
            <a:spLocks noGrp="1"/>
          </p:cNvSpPr>
          <p:nvPr/>
        </p:nvSpPr>
        <p:spPr>
          <a:xfrm rot="16200000" flipH="1">
            <a:off x="10897740" y="3327312"/>
            <a:ext cx="191501" cy="165087"/>
          </a:xfrm>
          <a:prstGeom prst="triangle">
            <a:avLst/>
          </a:prstGeom>
          <a:solidFill>
            <a:srgbClr val="2B1D5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9" name="椭圆 18"/>
          <p:cNvSpPr>
            <a:spLocks noGrp="1"/>
          </p:cNvSpPr>
          <p:nvPr/>
        </p:nvSpPr>
        <p:spPr>
          <a:xfrm>
            <a:off x="4018164" y="1584250"/>
            <a:ext cx="1066959" cy="1015303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20" name="图片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5964" y="1418612"/>
            <a:ext cx="1364080" cy="1346778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5.4,&quot;left&quot;:67.5,&quot;top&quot;:127.5,&quot;width&quot;:717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5.4,&quot;left&quot;:67.5,&quot;top&quot;:127.5,&quot;width&quot;:717}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fvcliop3">
      <a:majorFont>
        <a:latin typeface="Arial"/>
        <a:ea typeface="STZhongsong"/>
        <a:cs typeface=""/>
      </a:majorFont>
      <a:minorFont>
        <a:latin typeface="Arial"/>
        <a:ea typeface="STZhongsong"/>
        <a:cs typeface=""/>
      </a:minorFont>
    </a:fontScheme>
    <a:fmtScheme name="Offic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fvcliop3">
      <a:majorFont>
        <a:latin typeface="Arial"/>
        <a:ea typeface="STZhongsong"/>
        <a:cs typeface=""/>
      </a:majorFont>
      <a:minorFont>
        <a:latin typeface="Arial"/>
        <a:ea typeface="STZhongsong"/>
        <a:cs typeface=""/>
      </a:minorFont>
    </a:fontScheme>
    <a:fmtScheme name="Offic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</TotalTime>
  <Words>1259</Words>
  <Application>Microsoft Office PowerPoint</Application>
  <PresentationFormat>Widescreen</PresentationFormat>
  <Paragraphs>103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Color Emoji</vt:lpstr>
      <vt:lpstr>Segoe WPC</vt:lpstr>
      <vt:lpstr>ui-monospace</vt:lpstr>
      <vt:lpstr>字魂17号-萌趣果冻体</vt:lpstr>
      <vt:lpstr>Arial</vt:lpstr>
      <vt:lpstr>Office 主题​​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zelei xing</cp:lastModifiedBy>
  <cp:revision>13</cp:revision>
  <dcterms:created xsi:type="dcterms:W3CDTF">2026-06-08T16:49:00Z</dcterms:created>
  <dcterms:modified xsi:type="dcterms:W3CDTF">2026-06-16T05:31:31Z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C5A3FBEA43E247E994AD78E3FFB53185_12</vt:lpwstr>
  </property>
  <property fmtid="{D5CDD505-2E9C-101B-9397-08002B2CF9AE}" pid="3" name="KSOProductBuildVer">
    <vt:lpwstr>2052-12.1.0.23542</vt:lpwstr>
  </property>
</Properties>
</file>